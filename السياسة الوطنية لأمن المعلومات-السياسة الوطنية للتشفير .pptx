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6" r:id="rId20"/>
    <p:sldId id="277" r:id="rId21"/>
    <p:sldId id="282" r:id="rId22"/>
    <p:sldId id="281" r:id="rId23"/>
    <p:sldId id="280" r:id="rId24"/>
    <p:sldId id="279" r:id="rId25"/>
    <p:sldId id="283" r:id="rId26"/>
    <p:sldId id="284" r:id="rId27"/>
    <p:sldId id="285" r:id="rId28"/>
    <p:sldId id="286" r:id="rId29"/>
    <p:sldId id="288" r:id="rId30"/>
    <p:sldId id="287" r:id="rId31"/>
    <p:sldId id="289" r:id="rId32"/>
    <p:sldId id="290" r:id="rId33"/>
    <p:sldId id="291" r:id="rId34"/>
    <p:sldId id="293" r:id="rId35"/>
    <p:sldId id="292" r:id="rId36"/>
    <p:sldId id="294" r:id="rId37"/>
    <p:sldId id="27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94" autoAdjust="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82300-09EA-4C64-A6DE-8E9D37D567CE}" type="datetimeFigureOut">
              <a:rPr lang="en-US" smtClean="0"/>
              <a:t>2020-11-25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37B74-BFD3-456F-BCF0-67324BCECAA2}" type="slidenum">
              <a:rPr lang="en-US" smtClean="0"/>
              <a:t>‹#›</a:t>
            </a:fld>
            <a:endParaRPr lang="en-US"/>
          </a:p>
        </p:txBody>
      </p:sp>
    </p:spTree>
    <p:extLst>
      <p:ext uri="{BB962C8B-B14F-4D97-AF65-F5344CB8AC3E}">
        <p14:creationId xmlns:p14="http://schemas.microsoft.com/office/powerpoint/2010/main" val="2255892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9037B74-BFD3-456F-BCF0-67324BCECAA2}" type="slidenum">
              <a:rPr lang="en-US" smtClean="0"/>
              <a:t>1</a:t>
            </a:fld>
            <a:endParaRPr lang="en-US"/>
          </a:p>
        </p:txBody>
      </p:sp>
    </p:spTree>
    <p:extLst>
      <p:ext uri="{BB962C8B-B14F-4D97-AF65-F5344CB8AC3E}">
        <p14:creationId xmlns:p14="http://schemas.microsoft.com/office/powerpoint/2010/main" val="4130370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9E4E-C09A-48B3-BCF7-46D5F7D59BE8}"/>
              </a:ext>
            </a:extLst>
          </p:cNvPr>
          <p:cNvSpPr>
            <a:spLocks noGrp="1"/>
          </p:cNvSpPr>
          <p:nvPr>
            <p:ph type="ctrTitle"/>
          </p:nvPr>
        </p:nvSpPr>
        <p:spPr>
          <a:xfrm>
            <a:off x="1524000" y="1041399"/>
            <a:ext cx="9144000" cy="2938929"/>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AE9DADA-CA9A-4063-88F3-817B24A223A6}"/>
              </a:ext>
            </a:extLst>
          </p:cNvPr>
          <p:cNvSpPr>
            <a:spLocks noGrp="1"/>
          </p:cNvSpPr>
          <p:nvPr>
            <p:ph type="subTitle" idx="1"/>
          </p:nvPr>
        </p:nvSpPr>
        <p:spPr>
          <a:xfrm>
            <a:off x="1524000" y="4178000"/>
            <a:ext cx="9144000" cy="107979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28A0565-28FA-4821-A475-24AF28F8687E}"/>
              </a:ext>
            </a:extLst>
          </p:cNvPr>
          <p:cNvSpPr>
            <a:spLocks noGrp="1"/>
          </p:cNvSpPr>
          <p:nvPr>
            <p:ph type="dt" sz="half" idx="10"/>
          </p:nvPr>
        </p:nvSpPr>
        <p:spPr/>
        <p:txBody>
          <a:bodyPr/>
          <a:lstStyle/>
          <a:p>
            <a:fld id="{CB667F14-2CAF-476C-A681-10FD544BF807}" type="datetime1">
              <a:rPr lang="en-US" smtClean="0"/>
              <a:t>2020-11-25</a:t>
            </a:fld>
            <a:endParaRPr lang="en-US"/>
          </a:p>
        </p:txBody>
      </p:sp>
      <p:sp>
        <p:nvSpPr>
          <p:cNvPr id="5" name="Footer Placeholder 4">
            <a:extLst>
              <a:ext uri="{FF2B5EF4-FFF2-40B4-BE49-F238E27FC236}">
                <a16:creationId xmlns:a16="http://schemas.microsoft.com/office/drawing/2014/main" id="{CD8EA135-610F-4F1F-A47A-9ED636320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6E3964-D420-4531-BA1A-E1D12971E00A}"/>
              </a:ext>
            </a:extLst>
          </p:cNvPr>
          <p:cNvSpPr>
            <a:spLocks noGrp="1"/>
          </p:cNvSpPr>
          <p:nvPr>
            <p:ph type="sldNum" sz="quarter" idx="12"/>
          </p:nvPr>
        </p:nvSpPr>
        <p:spPr/>
        <p:txBody>
          <a:bodyPr/>
          <a:lstStyle/>
          <a:p>
            <a:fld id="{1C2A39C6-515D-4F52-9A2D-612D5FCA91E3}" type="slidenum">
              <a:rPr lang="en-US" smtClean="0"/>
              <a:t>‹#›</a:t>
            </a:fld>
            <a:endParaRPr lang="en-US"/>
          </a:p>
        </p:txBody>
      </p:sp>
      <p:pic>
        <p:nvPicPr>
          <p:cNvPr id="7" name="Picture 15">
            <a:extLst>
              <a:ext uri="{FF2B5EF4-FFF2-40B4-BE49-F238E27FC236}">
                <a16:creationId xmlns:a16="http://schemas.microsoft.com/office/drawing/2014/main" id="{C1D8C06B-D030-46B2-B627-BF5ACFA4E6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01346" y="209737"/>
            <a:ext cx="2004981" cy="1040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
            <a:extLst>
              <a:ext uri="{FF2B5EF4-FFF2-40B4-BE49-F238E27FC236}">
                <a16:creationId xmlns:a16="http://schemas.microsoft.com/office/drawing/2014/main" id="{5CD4A2F4-9539-4B70-8D80-CEAC8DCF37AF}"/>
              </a:ext>
            </a:extLst>
          </p:cNvPr>
          <p:cNvSpPr txBox="1">
            <a:spLocks/>
          </p:cNvSpPr>
          <p:nvPr userDrawn="1"/>
        </p:nvSpPr>
        <p:spPr>
          <a:xfrm>
            <a:off x="4038600" y="1316531"/>
            <a:ext cx="3730473" cy="747088"/>
          </a:xfrm>
          <a:prstGeom prst="rect">
            <a:avLst/>
          </a:prstGeom>
        </p:spPr>
        <p:txBody>
          <a:bodyPr anchor="ctr">
            <a:normAutofit/>
          </a:bodyPr>
          <a:lstStyle>
            <a:lvl1pPr algn="l" rtl="0" eaLnBrk="1" latinLnBrk="0" hangingPunct="1">
              <a:spcBef>
                <a:spcPct val="0"/>
              </a:spcBef>
              <a:buNone/>
              <a:defRPr sz="4400" kern="1200" cap="all" baseline="0">
                <a:solidFill>
                  <a:schemeClr val="tx2"/>
                </a:solidFill>
                <a:latin typeface="+mj-lt"/>
                <a:ea typeface="+mj-ea"/>
                <a:cs typeface="+mj-cs"/>
              </a:defRPr>
            </a:lvl1pPr>
          </a:lstStyle>
          <a:p>
            <a:pPr algn="ctr" rtl="1" fontAlgn="auto">
              <a:spcAft>
                <a:spcPts val="0"/>
              </a:spcAft>
              <a:defRPr/>
            </a:pPr>
            <a:r>
              <a:rPr lang="ar-SY" sz="2000" b="1" dirty="0">
                <a:solidFill>
                  <a:srgbClr val="2F3194"/>
                </a:solidFill>
                <a:latin typeface="Bahij TheSansArabic Bold" panose="02040503050201020203" pitchFamily="18" charset="-78"/>
                <a:cs typeface="Bahij TheSansArabic Bold" panose="02040503050201020203" pitchFamily="18" charset="-78"/>
              </a:rPr>
              <a:t>الهيئة الوطنية لخدمات الشبكة</a:t>
            </a:r>
          </a:p>
          <a:p>
            <a:pPr algn="ctr" rtl="1" fontAlgn="auto">
              <a:spcAft>
                <a:spcPts val="0"/>
              </a:spcAft>
              <a:defRPr/>
            </a:pPr>
            <a:r>
              <a:rPr lang="en-US" sz="1500" b="1" cap="none" dirty="0">
                <a:solidFill>
                  <a:srgbClr val="2F3194"/>
                </a:solidFill>
                <a:latin typeface="Bahij TheSansArabic Bold" panose="02040503050201020203" pitchFamily="18" charset="-78"/>
                <a:cs typeface="Bahij TheSansArabic Bold" panose="02040503050201020203" pitchFamily="18" charset="-78"/>
              </a:rPr>
              <a:t>National Agency for Network Services</a:t>
            </a:r>
          </a:p>
        </p:txBody>
      </p:sp>
      <p:pic>
        <p:nvPicPr>
          <p:cNvPr id="10" name="Picture 9">
            <a:extLst>
              <a:ext uri="{FF2B5EF4-FFF2-40B4-BE49-F238E27FC236}">
                <a16:creationId xmlns:a16="http://schemas.microsoft.com/office/drawing/2014/main" id="{87B26EF2-F587-46F3-BF51-96896E88982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2319" r="30381" b="47838"/>
          <a:stretch/>
        </p:blipFill>
        <p:spPr>
          <a:xfrm>
            <a:off x="0" y="3980329"/>
            <a:ext cx="3581400" cy="2877671"/>
          </a:xfrm>
          <a:prstGeom prst="rect">
            <a:avLst/>
          </a:prstGeom>
        </p:spPr>
      </p:pic>
    </p:spTree>
    <p:extLst>
      <p:ext uri="{BB962C8B-B14F-4D97-AF65-F5344CB8AC3E}">
        <p14:creationId xmlns:p14="http://schemas.microsoft.com/office/powerpoint/2010/main" val="105036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E75D-5A94-4D0B-A7F3-6499E5F45F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8BC729-8D8F-47A5-8AF1-64BBC0DB1A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10EDD4-6EE5-4D34-8C2D-95199DEBD2F3}"/>
              </a:ext>
            </a:extLst>
          </p:cNvPr>
          <p:cNvSpPr>
            <a:spLocks noGrp="1"/>
          </p:cNvSpPr>
          <p:nvPr>
            <p:ph type="dt" sz="half" idx="10"/>
          </p:nvPr>
        </p:nvSpPr>
        <p:spPr/>
        <p:txBody>
          <a:bodyPr/>
          <a:lstStyle/>
          <a:p>
            <a:fld id="{4D0A37B4-2021-4677-B30A-6C0EDF3D7ABE}" type="datetime1">
              <a:rPr lang="en-US" smtClean="0"/>
              <a:t>2020-11-25</a:t>
            </a:fld>
            <a:endParaRPr lang="en-US"/>
          </a:p>
        </p:txBody>
      </p:sp>
      <p:sp>
        <p:nvSpPr>
          <p:cNvPr id="5" name="Footer Placeholder 4">
            <a:extLst>
              <a:ext uri="{FF2B5EF4-FFF2-40B4-BE49-F238E27FC236}">
                <a16:creationId xmlns:a16="http://schemas.microsoft.com/office/drawing/2014/main" id="{498E2888-A199-4D78-BACF-23E67649D6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B2A59-310F-4624-8D20-4B64A5B648A1}"/>
              </a:ext>
            </a:extLst>
          </p:cNvPr>
          <p:cNvSpPr>
            <a:spLocks noGrp="1"/>
          </p:cNvSpPr>
          <p:nvPr>
            <p:ph type="sldNum" sz="quarter" idx="12"/>
          </p:nvPr>
        </p:nvSpPr>
        <p:spPr/>
        <p:txBody>
          <a:bodyPr/>
          <a:lstStyle/>
          <a:p>
            <a:fld id="{1C2A39C6-515D-4F52-9A2D-612D5FCA91E3}" type="slidenum">
              <a:rPr lang="en-US" smtClean="0"/>
              <a:t>‹#›</a:t>
            </a:fld>
            <a:endParaRPr lang="en-US"/>
          </a:p>
        </p:txBody>
      </p:sp>
      <p:pic>
        <p:nvPicPr>
          <p:cNvPr id="7" name="Picture 15">
            <a:extLst>
              <a:ext uri="{FF2B5EF4-FFF2-40B4-BE49-F238E27FC236}">
                <a16:creationId xmlns:a16="http://schemas.microsoft.com/office/drawing/2014/main" id="{07E140AD-118A-4DD2-8FAD-E2F19735221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0588" y="160580"/>
            <a:ext cx="1529692" cy="7941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
            <a:extLst>
              <a:ext uri="{FF2B5EF4-FFF2-40B4-BE49-F238E27FC236}">
                <a16:creationId xmlns:a16="http://schemas.microsoft.com/office/drawing/2014/main" id="{5B85717D-2343-4504-9135-2361AD23700E}"/>
              </a:ext>
            </a:extLst>
          </p:cNvPr>
          <p:cNvSpPr txBox="1">
            <a:spLocks/>
          </p:cNvSpPr>
          <p:nvPr userDrawn="1"/>
        </p:nvSpPr>
        <p:spPr>
          <a:xfrm>
            <a:off x="475995" y="959877"/>
            <a:ext cx="2818878" cy="569988"/>
          </a:xfrm>
          <a:prstGeom prst="rect">
            <a:avLst/>
          </a:prstGeom>
        </p:spPr>
        <p:txBody>
          <a:bodyPr anchor="ctr">
            <a:normAutofit fontScale="77500" lnSpcReduction="20000"/>
          </a:bodyPr>
          <a:lstStyle>
            <a:lvl1pPr algn="l" rtl="0" eaLnBrk="1" latinLnBrk="0" hangingPunct="1">
              <a:spcBef>
                <a:spcPct val="0"/>
              </a:spcBef>
              <a:buNone/>
              <a:defRPr sz="4400" kern="1200" cap="all" baseline="0">
                <a:solidFill>
                  <a:schemeClr val="tx2"/>
                </a:solidFill>
                <a:latin typeface="+mj-lt"/>
                <a:ea typeface="+mj-ea"/>
                <a:cs typeface="+mj-cs"/>
              </a:defRPr>
            </a:lvl1pPr>
          </a:lstStyle>
          <a:p>
            <a:pPr algn="ctr" rtl="1" fontAlgn="auto">
              <a:spcAft>
                <a:spcPts val="0"/>
              </a:spcAft>
              <a:defRPr/>
            </a:pPr>
            <a:r>
              <a:rPr lang="ar-SY" sz="2000" b="0" dirty="0">
                <a:solidFill>
                  <a:srgbClr val="2F3194"/>
                </a:solidFill>
                <a:latin typeface="Bahij TheSansArabic Bold" panose="02040503050201020203" pitchFamily="18" charset="-78"/>
                <a:cs typeface="Bahij TheSansArabic Bold" panose="02040503050201020203" pitchFamily="18" charset="-78"/>
              </a:rPr>
              <a:t>الهيئة الوطنية لخدمات الشبكة</a:t>
            </a:r>
          </a:p>
          <a:p>
            <a:pPr algn="ctr" rtl="1" fontAlgn="auto">
              <a:spcAft>
                <a:spcPts val="0"/>
              </a:spcAft>
              <a:defRPr/>
            </a:pPr>
            <a:r>
              <a:rPr lang="en-US" sz="1500" b="0" cap="none" dirty="0">
                <a:solidFill>
                  <a:srgbClr val="2F3194"/>
                </a:solidFill>
                <a:latin typeface="Bahij TheSansArabic Bold" panose="02040503050201020203" pitchFamily="18" charset="-78"/>
                <a:cs typeface="Bahij TheSansArabic Bold" panose="02040503050201020203" pitchFamily="18" charset="-78"/>
              </a:rPr>
              <a:t>National Agency for Network Services</a:t>
            </a:r>
          </a:p>
        </p:txBody>
      </p:sp>
      <p:sp>
        <p:nvSpPr>
          <p:cNvPr id="10" name="Freeform 5">
            <a:extLst>
              <a:ext uri="{FF2B5EF4-FFF2-40B4-BE49-F238E27FC236}">
                <a16:creationId xmlns:a16="http://schemas.microsoft.com/office/drawing/2014/main" id="{41BDEF58-3ED7-4ED2-B2BB-75F16C8E2AFA}"/>
              </a:ext>
            </a:extLst>
          </p:cNvPr>
          <p:cNvSpPr/>
          <p:nvPr userDrawn="1"/>
        </p:nvSpPr>
        <p:spPr bwMode="auto">
          <a:xfrm>
            <a:off x="1" y="0"/>
            <a:ext cx="679090" cy="6858000"/>
          </a:xfrm>
          <a:custGeom>
            <a:avLst/>
            <a:gdLst/>
            <a:ahLst/>
            <a:cxnLst/>
            <a:rect l="0" t="0" r="r" b="b"/>
            <a:pathLst>
              <a:path w="211" h="2160">
                <a:moveTo>
                  <a:pt x="155" y="1728"/>
                </a:moveTo>
                <a:cubicBezTo>
                  <a:pt x="155" y="1620"/>
                  <a:pt x="211" y="1620"/>
                  <a:pt x="211" y="1512"/>
                </a:cubicBezTo>
                <a:cubicBezTo>
                  <a:pt x="211" y="1404"/>
                  <a:pt x="155" y="1404"/>
                  <a:pt x="155" y="1296"/>
                </a:cubicBezTo>
                <a:cubicBezTo>
                  <a:pt x="155" y="1188"/>
                  <a:pt x="211" y="1188"/>
                  <a:pt x="211" y="1080"/>
                </a:cubicBezTo>
                <a:cubicBezTo>
                  <a:pt x="211" y="972"/>
                  <a:pt x="155" y="972"/>
                  <a:pt x="155" y="864"/>
                </a:cubicBezTo>
                <a:cubicBezTo>
                  <a:pt x="155" y="756"/>
                  <a:pt x="211" y="756"/>
                  <a:pt x="211" y="648"/>
                </a:cubicBezTo>
                <a:cubicBezTo>
                  <a:pt x="211" y="540"/>
                  <a:pt x="155" y="540"/>
                  <a:pt x="155" y="432"/>
                </a:cubicBezTo>
                <a:cubicBezTo>
                  <a:pt x="155" y="324"/>
                  <a:pt x="211" y="324"/>
                  <a:pt x="211" y="216"/>
                </a:cubicBezTo>
                <a:cubicBezTo>
                  <a:pt x="211" y="108"/>
                  <a:pt x="155" y="108"/>
                  <a:pt x="155" y="0"/>
                </a:cubicBezTo>
                <a:cubicBezTo>
                  <a:pt x="0" y="0"/>
                  <a:pt x="0" y="0"/>
                  <a:pt x="0" y="0"/>
                </a:cubicBezTo>
                <a:cubicBezTo>
                  <a:pt x="0" y="2160"/>
                  <a:pt x="0" y="2160"/>
                  <a:pt x="0" y="2160"/>
                </a:cubicBezTo>
                <a:cubicBezTo>
                  <a:pt x="155" y="2160"/>
                  <a:pt x="155" y="2160"/>
                  <a:pt x="155" y="2160"/>
                </a:cubicBezTo>
                <a:cubicBezTo>
                  <a:pt x="155" y="2052"/>
                  <a:pt x="211" y="2052"/>
                  <a:pt x="211" y="1944"/>
                </a:cubicBezTo>
                <a:cubicBezTo>
                  <a:pt x="211" y="1836"/>
                  <a:pt x="155" y="1836"/>
                  <a:pt x="155" y="1728"/>
                </a:cubicBezTo>
                <a:close/>
              </a:path>
            </a:pathLst>
          </a:custGeom>
          <a:solidFill>
            <a:srgbClr val="002060"/>
          </a:solidFill>
          <a:ln>
            <a:noFill/>
          </a:ln>
        </p:spPr>
      </p:sp>
    </p:spTree>
    <p:extLst>
      <p:ext uri="{BB962C8B-B14F-4D97-AF65-F5344CB8AC3E}">
        <p14:creationId xmlns:p14="http://schemas.microsoft.com/office/powerpoint/2010/main" val="4051391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1F3A4-10FF-4C12-A68F-7D28E53B63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14347B-B269-4618-B1AD-D4B61EFC4A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B16311-79C7-4126-92AC-D79172349914}"/>
              </a:ext>
            </a:extLst>
          </p:cNvPr>
          <p:cNvSpPr>
            <a:spLocks noGrp="1"/>
          </p:cNvSpPr>
          <p:nvPr>
            <p:ph type="dt" sz="half" idx="10"/>
          </p:nvPr>
        </p:nvSpPr>
        <p:spPr/>
        <p:txBody>
          <a:bodyPr/>
          <a:lstStyle/>
          <a:p>
            <a:fld id="{E59BCD39-38B7-4B36-B082-696BA9E141E3}" type="datetime1">
              <a:rPr lang="en-US" smtClean="0"/>
              <a:t>2020-11-25</a:t>
            </a:fld>
            <a:endParaRPr lang="en-US"/>
          </a:p>
        </p:txBody>
      </p:sp>
      <p:sp>
        <p:nvSpPr>
          <p:cNvPr id="5" name="Footer Placeholder 4">
            <a:extLst>
              <a:ext uri="{FF2B5EF4-FFF2-40B4-BE49-F238E27FC236}">
                <a16:creationId xmlns:a16="http://schemas.microsoft.com/office/drawing/2014/main" id="{DEFA1C3C-B2A9-4249-9EE8-4A4C99D956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AF9226-2F16-4884-8959-BB21331E7422}"/>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2145189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9C7B-02E8-439C-87CA-497BDB387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FD31BB-EE99-494A-A432-B44A4F6713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A58D60-5B64-4281-9C7E-8061404C08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D5373E-E9DE-4BBA-BBC3-B06F13F7A59F}"/>
              </a:ext>
            </a:extLst>
          </p:cNvPr>
          <p:cNvSpPr>
            <a:spLocks noGrp="1"/>
          </p:cNvSpPr>
          <p:nvPr>
            <p:ph type="dt" sz="half" idx="10"/>
          </p:nvPr>
        </p:nvSpPr>
        <p:spPr/>
        <p:txBody>
          <a:bodyPr/>
          <a:lstStyle/>
          <a:p>
            <a:fld id="{3C9B0E97-596A-4F32-B8C9-B0931A492CCC}" type="datetime1">
              <a:rPr lang="en-US" smtClean="0"/>
              <a:t>2020-11-25</a:t>
            </a:fld>
            <a:endParaRPr lang="en-US"/>
          </a:p>
        </p:txBody>
      </p:sp>
      <p:sp>
        <p:nvSpPr>
          <p:cNvPr id="6" name="Footer Placeholder 5">
            <a:extLst>
              <a:ext uri="{FF2B5EF4-FFF2-40B4-BE49-F238E27FC236}">
                <a16:creationId xmlns:a16="http://schemas.microsoft.com/office/drawing/2014/main" id="{6CC0A85F-3CA7-4D0E-B86B-30286C38A7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066A8A-5B43-4397-BD3F-53C47A0023F0}"/>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7944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00F2-20A9-46DC-AF98-BFD96543B7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0665BD-4DFA-4DC8-AF1A-19742E3394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98D231-6EB7-4971-BE9D-F135EF2E92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425064-2A63-43D6-B41E-AB860E1062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A63312-4F2B-4C79-815D-4D2D80F606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CB02AC-6BFD-44D7-862B-87BC55158C48}"/>
              </a:ext>
            </a:extLst>
          </p:cNvPr>
          <p:cNvSpPr>
            <a:spLocks noGrp="1"/>
          </p:cNvSpPr>
          <p:nvPr>
            <p:ph type="dt" sz="half" idx="10"/>
          </p:nvPr>
        </p:nvSpPr>
        <p:spPr/>
        <p:txBody>
          <a:bodyPr/>
          <a:lstStyle/>
          <a:p>
            <a:fld id="{482CEF08-1868-4471-88C4-E44024D39814}" type="datetime1">
              <a:rPr lang="en-US" smtClean="0"/>
              <a:t>2020-11-25</a:t>
            </a:fld>
            <a:endParaRPr lang="en-US"/>
          </a:p>
        </p:txBody>
      </p:sp>
      <p:sp>
        <p:nvSpPr>
          <p:cNvPr id="8" name="Footer Placeholder 7">
            <a:extLst>
              <a:ext uri="{FF2B5EF4-FFF2-40B4-BE49-F238E27FC236}">
                <a16:creationId xmlns:a16="http://schemas.microsoft.com/office/drawing/2014/main" id="{3F1E76F6-A0C7-4DC9-9486-B75871EC4A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E36AF7-F4B9-478B-80EF-DCCF444BD277}"/>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3368674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CB3D8-C09E-498D-BA73-AF832E6543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88BE2E-A836-403C-AC70-F87666887C87}"/>
              </a:ext>
            </a:extLst>
          </p:cNvPr>
          <p:cNvSpPr>
            <a:spLocks noGrp="1"/>
          </p:cNvSpPr>
          <p:nvPr>
            <p:ph type="dt" sz="half" idx="10"/>
          </p:nvPr>
        </p:nvSpPr>
        <p:spPr/>
        <p:txBody>
          <a:bodyPr/>
          <a:lstStyle/>
          <a:p>
            <a:fld id="{40157456-6931-4B5E-A8A1-5D3320DE2886}" type="datetime1">
              <a:rPr lang="en-US" smtClean="0"/>
              <a:t>2020-11-25</a:t>
            </a:fld>
            <a:endParaRPr lang="en-US"/>
          </a:p>
        </p:txBody>
      </p:sp>
      <p:sp>
        <p:nvSpPr>
          <p:cNvPr id="4" name="Footer Placeholder 3">
            <a:extLst>
              <a:ext uri="{FF2B5EF4-FFF2-40B4-BE49-F238E27FC236}">
                <a16:creationId xmlns:a16="http://schemas.microsoft.com/office/drawing/2014/main" id="{C186C965-6020-4713-9058-7CDEB31460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5E1542-514F-4462-BAD8-64225C3D89ED}"/>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281183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350CAE-43C7-4CAF-9456-ADC539AE19C6}"/>
              </a:ext>
            </a:extLst>
          </p:cNvPr>
          <p:cNvSpPr>
            <a:spLocks noGrp="1"/>
          </p:cNvSpPr>
          <p:nvPr>
            <p:ph type="dt" sz="half" idx="10"/>
          </p:nvPr>
        </p:nvSpPr>
        <p:spPr/>
        <p:txBody>
          <a:bodyPr/>
          <a:lstStyle/>
          <a:p>
            <a:fld id="{EE70EB89-5FB6-49EC-A902-8287488E2CA9}" type="datetime1">
              <a:rPr lang="en-US" smtClean="0"/>
              <a:t>2020-11-25</a:t>
            </a:fld>
            <a:endParaRPr lang="en-US"/>
          </a:p>
        </p:txBody>
      </p:sp>
      <p:sp>
        <p:nvSpPr>
          <p:cNvPr id="3" name="Footer Placeholder 2">
            <a:extLst>
              <a:ext uri="{FF2B5EF4-FFF2-40B4-BE49-F238E27FC236}">
                <a16:creationId xmlns:a16="http://schemas.microsoft.com/office/drawing/2014/main" id="{6A559D2A-F959-4A80-99EF-F9912B284E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0BBDEF-4818-4EF1-828D-9BAE54EE5860}"/>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58222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24558-ECA3-4294-AF57-40338064FA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FA5166-C4AA-478E-80BA-8FF55EEDE8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E115FE-3296-4975-B75D-4855780A1D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1D038-0B1B-4BFB-9B80-C6D92900EBA2}"/>
              </a:ext>
            </a:extLst>
          </p:cNvPr>
          <p:cNvSpPr>
            <a:spLocks noGrp="1"/>
          </p:cNvSpPr>
          <p:nvPr>
            <p:ph type="dt" sz="half" idx="10"/>
          </p:nvPr>
        </p:nvSpPr>
        <p:spPr/>
        <p:txBody>
          <a:bodyPr/>
          <a:lstStyle/>
          <a:p>
            <a:fld id="{2D23C955-64DE-42D0-BF09-ADF6281008F2}" type="datetime1">
              <a:rPr lang="en-US" smtClean="0"/>
              <a:t>2020-11-25</a:t>
            </a:fld>
            <a:endParaRPr lang="en-US"/>
          </a:p>
        </p:txBody>
      </p:sp>
      <p:sp>
        <p:nvSpPr>
          <p:cNvPr id="6" name="Footer Placeholder 5">
            <a:extLst>
              <a:ext uri="{FF2B5EF4-FFF2-40B4-BE49-F238E27FC236}">
                <a16:creationId xmlns:a16="http://schemas.microsoft.com/office/drawing/2014/main" id="{1D24CFF7-3EC1-432E-8D10-7AA3D00811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E4CD94-5948-4E98-805F-14CD2C513F87}"/>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662287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F922C-E46A-4AB3-9E05-AEB1E55E3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58C8BC-8A36-4C84-90A5-7B2F772734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4F9512-4840-456D-A9D5-81BF10996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5D6901-68B6-49F7-B093-503B259C325A}"/>
              </a:ext>
            </a:extLst>
          </p:cNvPr>
          <p:cNvSpPr>
            <a:spLocks noGrp="1"/>
          </p:cNvSpPr>
          <p:nvPr>
            <p:ph type="dt" sz="half" idx="10"/>
          </p:nvPr>
        </p:nvSpPr>
        <p:spPr/>
        <p:txBody>
          <a:bodyPr/>
          <a:lstStyle/>
          <a:p>
            <a:fld id="{3B7341E9-53FF-4234-B836-93E6BCD1E770}" type="datetime1">
              <a:rPr lang="en-US" smtClean="0"/>
              <a:t>2020-11-25</a:t>
            </a:fld>
            <a:endParaRPr lang="en-US"/>
          </a:p>
        </p:txBody>
      </p:sp>
      <p:sp>
        <p:nvSpPr>
          <p:cNvPr id="6" name="Footer Placeholder 5">
            <a:extLst>
              <a:ext uri="{FF2B5EF4-FFF2-40B4-BE49-F238E27FC236}">
                <a16:creationId xmlns:a16="http://schemas.microsoft.com/office/drawing/2014/main" id="{B4BD0CE9-3287-42C8-A9A1-6DEA4DC3B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C4391-CFD9-4D97-B1BE-549B5562F4CB}"/>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793396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75894-A88B-4245-9E11-BC17F1C71C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6AD22D-0FC2-42A8-9CBB-D3392CF1D6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1DB04-CB9E-47F2-A411-C87A4ACF4AD3}"/>
              </a:ext>
            </a:extLst>
          </p:cNvPr>
          <p:cNvSpPr>
            <a:spLocks noGrp="1"/>
          </p:cNvSpPr>
          <p:nvPr>
            <p:ph type="dt" sz="half" idx="10"/>
          </p:nvPr>
        </p:nvSpPr>
        <p:spPr/>
        <p:txBody>
          <a:bodyPr/>
          <a:lstStyle/>
          <a:p>
            <a:fld id="{3E5A9684-C368-45E8-A165-910971D87BFB}" type="datetime1">
              <a:rPr lang="en-US" smtClean="0"/>
              <a:t>2020-11-25</a:t>
            </a:fld>
            <a:endParaRPr lang="en-US"/>
          </a:p>
        </p:txBody>
      </p:sp>
      <p:sp>
        <p:nvSpPr>
          <p:cNvPr id="5" name="Footer Placeholder 4">
            <a:extLst>
              <a:ext uri="{FF2B5EF4-FFF2-40B4-BE49-F238E27FC236}">
                <a16:creationId xmlns:a16="http://schemas.microsoft.com/office/drawing/2014/main" id="{F1FDC4AB-524D-44E0-9855-FE266F7B4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6E4712-E498-45D2-81AD-687B17C85E06}"/>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3437242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AB6387-1ECB-433F-9AE6-30D645CC1A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9BFFA8-AE0B-4A44-8CC2-A9D721D62C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FF2F1-43E7-4863-9468-86BF0638D1DC}"/>
              </a:ext>
            </a:extLst>
          </p:cNvPr>
          <p:cNvSpPr>
            <a:spLocks noGrp="1"/>
          </p:cNvSpPr>
          <p:nvPr>
            <p:ph type="dt" sz="half" idx="10"/>
          </p:nvPr>
        </p:nvSpPr>
        <p:spPr/>
        <p:txBody>
          <a:bodyPr/>
          <a:lstStyle/>
          <a:p>
            <a:fld id="{6B0188DE-E746-4BEF-80A7-41B4E4A01425}" type="datetime1">
              <a:rPr lang="en-US" smtClean="0"/>
              <a:t>2020-11-25</a:t>
            </a:fld>
            <a:endParaRPr lang="en-US"/>
          </a:p>
        </p:txBody>
      </p:sp>
      <p:sp>
        <p:nvSpPr>
          <p:cNvPr id="5" name="Footer Placeholder 4">
            <a:extLst>
              <a:ext uri="{FF2B5EF4-FFF2-40B4-BE49-F238E27FC236}">
                <a16:creationId xmlns:a16="http://schemas.microsoft.com/office/drawing/2014/main" id="{8ED3390D-4DE3-4206-BFEB-B3EC76A62B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59033D-D03F-4DE5-83F8-F2853174E751}"/>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1627821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2D70BC-972C-4C2E-854C-AD900A2424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6ABFE3-392E-48A8-8B24-D02C5476B6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E1940-3BEB-497D-B2D4-FE8E1FFED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8B3704-4384-4B1B-89BE-7EDCAE7D9B96}" type="datetime1">
              <a:rPr lang="en-US" smtClean="0"/>
              <a:t>2020-11-25</a:t>
            </a:fld>
            <a:endParaRPr lang="en-US"/>
          </a:p>
        </p:txBody>
      </p:sp>
      <p:sp>
        <p:nvSpPr>
          <p:cNvPr id="5" name="Footer Placeholder 4">
            <a:extLst>
              <a:ext uri="{FF2B5EF4-FFF2-40B4-BE49-F238E27FC236}">
                <a16:creationId xmlns:a16="http://schemas.microsoft.com/office/drawing/2014/main" id="{50EDE3C5-E43D-4044-A73D-E57B4FFE1B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C806D9-C78B-4B16-BC74-5BAE80E8C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2A39C6-515D-4F52-9A2D-612D5FCA91E3}" type="slidenum">
              <a:rPr lang="en-US" smtClean="0"/>
              <a:t>‹#›</a:t>
            </a:fld>
            <a:endParaRPr lang="en-US"/>
          </a:p>
        </p:txBody>
      </p:sp>
    </p:spTree>
    <p:extLst>
      <p:ext uri="{BB962C8B-B14F-4D97-AF65-F5344CB8AC3E}">
        <p14:creationId xmlns:p14="http://schemas.microsoft.com/office/powerpoint/2010/main" val="26521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r" defTabSz="914400" rtl="1" eaLnBrk="1" latinLnBrk="0" hangingPunct="1">
        <a:lnSpc>
          <a:spcPct val="90000"/>
        </a:lnSpc>
        <a:spcBef>
          <a:spcPct val="0"/>
        </a:spcBef>
        <a:buNone/>
        <a:defRPr sz="4400" b="1" kern="1200">
          <a:solidFill>
            <a:srgbClr val="0070C0"/>
          </a:solidFill>
          <a:effectLst>
            <a:outerShdw blurRad="38100" dist="38100" dir="2700000" algn="tl">
              <a:srgbClr val="000000">
                <a:alpha val="43137"/>
              </a:srgbClr>
            </a:outerShdw>
          </a:effectLst>
          <a:latin typeface="+mn-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499D2-2B6A-463B-80ED-8240474C834F}"/>
              </a:ext>
            </a:extLst>
          </p:cNvPr>
          <p:cNvSpPr>
            <a:spLocks noGrp="1"/>
          </p:cNvSpPr>
          <p:nvPr>
            <p:ph type="ctrTitle"/>
          </p:nvPr>
        </p:nvSpPr>
        <p:spPr>
          <a:xfrm>
            <a:off x="662609" y="2614271"/>
            <a:ext cx="10552961" cy="1629457"/>
          </a:xfrm>
        </p:spPr>
        <p:txBody>
          <a:bodyPr>
            <a:normAutofit/>
          </a:bodyPr>
          <a:lstStyle/>
          <a:p>
            <a:pPr algn="ctr"/>
            <a:r>
              <a:rPr lang="ar-SY" sz="6600" dirty="0">
                <a:ea typeface="Monotype Koufi" pitchFamily="2" charset="-78"/>
                <a:cs typeface="Monotype Koufi" pitchFamily="2" charset="-78"/>
              </a:rPr>
              <a:t>السياسة الوطنية لأمن المعلومات</a:t>
            </a:r>
            <a:endParaRPr lang="en-US" sz="6600" dirty="0"/>
          </a:p>
        </p:txBody>
      </p:sp>
      <p:sp>
        <p:nvSpPr>
          <p:cNvPr id="2" name="Date Placeholder 1"/>
          <p:cNvSpPr>
            <a:spLocks noGrp="1"/>
          </p:cNvSpPr>
          <p:nvPr>
            <p:ph type="dt" sz="half" idx="10"/>
          </p:nvPr>
        </p:nvSpPr>
        <p:spPr/>
        <p:txBody>
          <a:bodyPr/>
          <a:lstStyle/>
          <a:p>
            <a:fld id="{D35FE985-FB54-4971-8537-ABB207B2C245}" type="datetime1">
              <a:rPr lang="en-US" smtClean="0"/>
              <a:t>2020-11-25</a:t>
            </a:fld>
            <a:endParaRPr lang="en-US"/>
          </a:p>
        </p:txBody>
      </p:sp>
      <p:sp>
        <p:nvSpPr>
          <p:cNvPr id="3" name="Slide Number Placeholder 2"/>
          <p:cNvSpPr>
            <a:spLocks noGrp="1"/>
          </p:cNvSpPr>
          <p:nvPr>
            <p:ph type="sldNum" sz="quarter" idx="12"/>
          </p:nvPr>
        </p:nvSpPr>
        <p:spPr/>
        <p:txBody>
          <a:bodyPr/>
          <a:lstStyle/>
          <a:p>
            <a:fld id="{1C2A39C6-515D-4F52-9A2D-612D5FCA91E3}" type="slidenum">
              <a:rPr lang="en-US" smtClean="0"/>
              <a:t>1</a:t>
            </a:fld>
            <a:endParaRPr lang="en-US"/>
          </a:p>
        </p:txBody>
      </p:sp>
    </p:spTree>
    <p:extLst>
      <p:ext uri="{BB962C8B-B14F-4D97-AF65-F5344CB8AC3E}">
        <p14:creationId xmlns:p14="http://schemas.microsoft.com/office/powerpoint/2010/main" val="1456981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rPr>
              <a:t>المخطط العام</a:t>
            </a:r>
            <a:endParaRPr lang="en-US" dirty="0">
              <a:solidFill>
                <a:srgbClr val="00B0F0"/>
              </a:solidFill>
            </a:endParaRPr>
          </a:p>
        </p:txBody>
      </p:sp>
      <p:sp>
        <p:nvSpPr>
          <p:cNvPr id="3" name="Content Placeholder 2"/>
          <p:cNvSpPr>
            <a:spLocks noGrp="1"/>
          </p:cNvSpPr>
          <p:nvPr>
            <p:ph idx="1"/>
          </p:nvPr>
        </p:nvSpPr>
        <p:spPr>
          <a:xfrm>
            <a:off x="838200" y="1825624"/>
            <a:ext cx="10515600" cy="4530725"/>
          </a:xfrm>
        </p:spPr>
        <p:txBody>
          <a:bodyPr>
            <a:normAutofit lnSpcReduction="10000"/>
          </a:bodyPr>
          <a:lstStyle/>
          <a:p>
            <a:r>
              <a:rPr lang="ar-SY" b="1" dirty="0"/>
              <a:t>تعريف السياسة</a:t>
            </a:r>
          </a:p>
          <a:p>
            <a:r>
              <a:rPr lang="ar-SY" b="1" dirty="0"/>
              <a:t>نظرة عامة</a:t>
            </a:r>
          </a:p>
          <a:p>
            <a:r>
              <a:rPr lang="ar-SY" b="1" dirty="0"/>
              <a:t>أهداف ومجالات السياسة </a:t>
            </a:r>
          </a:p>
          <a:p>
            <a:r>
              <a:rPr lang="ar-SY" b="1" dirty="0"/>
              <a:t>متطلبات أمن المعلومات</a:t>
            </a:r>
          </a:p>
          <a:p>
            <a:r>
              <a:rPr lang="ar-SY" b="1" dirty="0"/>
              <a:t>خطة إدارة أمن المعلومات</a:t>
            </a:r>
          </a:p>
          <a:p>
            <a:r>
              <a:rPr lang="ar-SY" b="1" dirty="0"/>
              <a:t>تقييم وإدارة المخاطر وأنواع التهديدات </a:t>
            </a:r>
          </a:p>
          <a:p>
            <a:r>
              <a:rPr lang="ar-SY" b="1" dirty="0"/>
              <a:t>تنظيم أمن المعلومات</a:t>
            </a:r>
          </a:p>
          <a:p>
            <a:r>
              <a:rPr lang="ar-SY" b="1" dirty="0"/>
              <a:t>سياسات أمن المعلومات</a:t>
            </a:r>
          </a:p>
          <a:p>
            <a:r>
              <a:rPr lang="ar-SY" b="1" dirty="0"/>
              <a:t>السياسة الوطنية للتشفير</a:t>
            </a:r>
          </a:p>
          <a:p>
            <a:endParaRPr lang="ar-SY" dirty="0"/>
          </a:p>
          <a:p>
            <a:endParaRPr lang="en-US" dirty="0"/>
          </a:p>
        </p:txBody>
      </p:sp>
      <p:sp>
        <p:nvSpPr>
          <p:cNvPr id="5" name="Date Placeholder 4"/>
          <p:cNvSpPr>
            <a:spLocks noGrp="1"/>
          </p:cNvSpPr>
          <p:nvPr>
            <p:ph type="dt" sz="half" idx="10"/>
          </p:nvPr>
        </p:nvSpPr>
        <p:spPr/>
        <p:txBody>
          <a:bodyPr/>
          <a:lstStyle/>
          <a:p>
            <a:fld id="{262D0F31-1A74-4306-BB34-A6992E038822}" type="datetime1">
              <a:rPr lang="en-US" smtClean="0"/>
              <a:t>2020-11-25</a:t>
            </a:fld>
            <a:endParaRPr lang="en-US"/>
          </a:p>
        </p:txBody>
      </p:sp>
      <p:sp>
        <p:nvSpPr>
          <p:cNvPr id="6" name="Slide Number Placeholder 5"/>
          <p:cNvSpPr>
            <a:spLocks noGrp="1"/>
          </p:cNvSpPr>
          <p:nvPr>
            <p:ph type="sldNum" sz="quarter" idx="12"/>
          </p:nvPr>
        </p:nvSpPr>
        <p:spPr/>
        <p:txBody>
          <a:bodyPr/>
          <a:lstStyle/>
          <a:p>
            <a:fld id="{1C2A39C6-515D-4F52-9A2D-612D5FCA91E3}" type="slidenum">
              <a:rPr lang="en-US" smtClean="0"/>
              <a:t>2</a:t>
            </a:fld>
            <a:endParaRPr lang="en-US"/>
          </a:p>
        </p:txBody>
      </p:sp>
      <p:sp>
        <p:nvSpPr>
          <p:cNvPr id="7" name="AutoShape 2" descr="Encryption Green png download - 1024*512 - Free Transparent ..."/>
          <p:cNvSpPr>
            <a:spLocks noChangeAspect="1" noChangeArrowheads="1"/>
          </p:cNvSpPr>
          <p:nvPr/>
        </p:nvSpPr>
        <p:spPr bwMode="auto">
          <a:xfrm>
            <a:off x="155575" y="-731838"/>
            <a:ext cx="2990850" cy="15335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Encryption Green png download - 1024*512 - Free Transparent ..."/>
          <p:cNvSpPr>
            <a:spLocks noChangeAspect="1" noChangeArrowheads="1"/>
          </p:cNvSpPr>
          <p:nvPr/>
        </p:nvSpPr>
        <p:spPr bwMode="auto">
          <a:xfrm>
            <a:off x="307975" y="-579438"/>
            <a:ext cx="2990850" cy="15335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732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sz="4000" dirty="0">
                <a:solidFill>
                  <a:srgbClr val="00B0F0"/>
                </a:solidFill>
                <a:latin typeface="Monotype Koufi" pitchFamily="2" charset="-78"/>
                <a:ea typeface="Monotype Koufi" pitchFamily="2" charset="-78"/>
                <a:cs typeface="Monotype Koufi" pitchFamily="2" charset="-78"/>
              </a:rPr>
              <a:t>تعريف السياسة</a:t>
            </a:r>
            <a:endParaRPr lang="en-US" sz="4000" dirty="0"/>
          </a:p>
        </p:txBody>
      </p:sp>
      <p:sp>
        <p:nvSpPr>
          <p:cNvPr id="3" name="Content Placeholder 2"/>
          <p:cNvSpPr>
            <a:spLocks noGrp="1"/>
          </p:cNvSpPr>
          <p:nvPr>
            <p:ph idx="1"/>
          </p:nvPr>
        </p:nvSpPr>
        <p:spPr>
          <a:xfrm>
            <a:off x="838200" y="1500188"/>
            <a:ext cx="10515600" cy="4676775"/>
          </a:xfrm>
        </p:spPr>
        <p:txBody>
          <a:bodyPr>
            <a:normAutofit/>
          </a:bodyPr>
          <a:lstStyle/>
          <a:p>
            <a:pPr marL="0" indent="0" algn="ctr">
              <a:buNone/>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lgn="ctr">
              <a:lnSpc>
                <a:spcPct val="150000"/>
              </a:lnSpc>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مجموعة من القواعد والضوابط والإجراءات التي تحكم وتنظم جميع ممارسات أمن المعلومات في الجهات وعلى كافة المستويات الإدارية والفنية بالإضافة إلى تأمين الحماية من كافة التهديدات والمخاطر.</a:t>
            </a: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lgn="ctr">
              <a:buNone/>
            </a:pPr>
            <a:endParaRPr lang="en-US" sz="3600" dirty="0"/>
          </a:p>
        </p:txBody>
      </p:sp>
      <p:sp>
        <p:nvSpPr>
          <p:cNvPr id="4" name="Date Placeholder 3"/>
          <p:cNvSpPr>
            <a:spLocks noGrp="1"/>
          </p:cNvSpPr>
          <p:nvPr>
            <p:ph type="dt" sz="half" idx="10"/>
          </p:nvPr>
        </p:nvSpPr>
        <p:spPr/>
        <p:txBody>
          <a:bodyPr/>
          <a:lstStyle/>
          <a:p>
            <a:fld id="{8C9306FA-6835-43D7-B230-49221F851AB5}"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3</a:t>
            </a:fld>
            <a:endParaRPr lang="en-US"/>
          </a:p>
        </p:txBody>
      </p:sp>
    </p:spTree>
    <p:extLst>
      <p:ext uri="{BB962C8B-B14F-4D97-AF65-F5344CB8AC3E}">
        <p14:creationId xmlns:p14="http://schemas.microsoft.com/office/powerpoint/2010/main" val="7313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b="1" dirty="0">
                <a:solidFill>
                  <a:srgbClr val="00B0F0"/>
                </a:solidFill>
                <a:latin typeface="Monotype Koufi" pitchFamily="2" charset="-78"/>
                <a:ea typeface="Monotype Koufi" pitchFamily="2" charset="-78"/>
                <a:cs typeface="Monotype Koufi" pitchFamily="2" charset="-78"/>
              </a:rPr>
              <a:t>نظرة عامّة</a:t>
            </a:r>
            <a:endParaRPr lang="en-US" dirty="0"/>
          </a:p>
        </p:txBody>
      </p:sp>
      <p:sp>
        <p:nvSpPr>
          <p:cNvPr id="3" name="Content Placeholder 2"/>
          <p:cNvSpPr>
            <a:spLocks noGrp="1"/>
          </p:cNvSpPr>
          <p:nvPr>
            <p:ph idx="1"/>
          </p:nvPr>
        </p:nvSpPr>
        <p:spPr>
          <a:xfrm>
            <a:off x="838200" y="1690688"/>
            <a:ext cx="10515600" cy="4486275"/>
          </a:xfrm>
        </p:spPr>
        <p:txBody>
          <a:bodyPr>
            <a:normAutofit/>
          </a:bodyPr>
          <a:lstStyle/>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تم إعداد ونشر الإصدار الأول من وثيقة السياسة الوطنية لأمن المعلومات ولوائحها التنفيذية في عام 2014 </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تم اعتماد السياسة الوطنية لأمن المعلومات ولوائحها التنظيمية بموجب تعميم رئاسة الوزراء رقم 15/552 لعام 2014</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تعميم رئاسة الوزراء رقم 15/297 لعام 2020 وقد </a:t>
            </a:r>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نص على إلزام كافة الجهات العامّة بتطبيق السياسة الوطنية لأمن المعلومات ولوائحها التنظيمية عند وضع سياسات أمن المعلومات الخاصة بهم.</a:t>
            </a:r>
          </a:p>
          <a:p>
            <a:pPr>
              <a:lnSpc>
                <a:spcPct val="100000"/>
              </a:lnSpc>
            </a:pPr>
            <a:endParaRPr lang="en-US" sz="3600" dirty="0"/>
          </a:p>
        </p:txBody>
      </p:sp>
      <p:sp>
        <p:nvSpPr>
          <p:cNvPr id="5" name="Date Placeholder 4"/>
          <p:cNvSpPr>
            <a:spLocks noGrp="1"/>
          </p:cNvSpPr>
          <p:nvPr>
            <p:ph type="dt" sz="half" idx="10"/>
          </p:nvPr>
        </p:nvSpPr>
        <p:spPr/>
        <p:txBody>
          <a:bodyPr/>
          <a:lstStyle/>
          <a:p>
            <a:fld id="{1B61FFB2-BD32-4F4D-889E-527AA162B4ED}" type="datetime1">
              <a:rPr lang="en-US" smtClean="0"/>
              <a:t>2020-11-25</a:t>
            </a:fld>
            <a:endParaRPr lang="en-US"/>
          </a:p>
        </p:txBody>
      </p:sp>
      <p:sp>
        <p:nvSpPr>
          <p:cNvPr id="6" name="Slide Number Placeholder 5"/>
          <p:cNvSpPr>
            <a:spLocks noGrp="1"/>
          </p:cNvSpPr>
          <p:nvPr>
            <p:ph type="sldNum" sz="quarter" idx="12"/>
          </p:nvPr>
        </p:nvSpPr>
        <p:spPr/>
        <p:txBody>
          <a:bodyPr/>
          <a:lstStyle/>
          <a:p>
            <a:fld id="{1C2A39C6-515D-4F52-9A2D-612D5FCA91E3}" type="slidenum">
              <a:rPr lang="en-US" smtClean="0"/>
              <a:t>4</a:t>
            </a:fld>
            <a:endParaRPr lang="en-US"/>
          </a:p>
        </p:txBody>
      </p:sp>
    </p:spTree>
    <p:extLst>
      <p:ext uri="{BB962C8B-B14F-4D97-AF65-F5344CB8AC3E}">
        <p14:creationId xmlns:p14="http://schemas.microsoft.com/office/powerpoint/2010/main" val="88994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b="1" dirty="0">
                <a:solidFill>
                  <a:srgbClr val="00B0F0"/>
                </a:solidFill>
                <a:latin typeface="Monotype Koufi" pitchFamily="2" charset="-78"/>
                <a:ea typeface="Monotype Koufi" pitchFamily="2" charset="-78"/>
                <a:cs typeface="Monotype Koufi" pitchFamily="2" charset="-78"/>
              </a:rPr>
              <a:t>نظرة عامّة </a:t>
            </a:r>
            <a:endParaRPr lang="en-US" dirty="0"/>
          </a:p>
        </p:txBody>
      </p:sp>
      <p:sp>
        <p:nvSpPr>
          <p:cNvPr id="3" name="Content Placeholder 2"/>
          <p:cNvSpPr>
            <a:spLocks noGrp="1"/>
          </p:cNvSpPr>
          <p:nvPr>
            <p:ph idx="1"/>
          </p:nvPr>
        </p:nvSpPr>
        <p:spPr>
          <a:xfrm>
            <a:off x="838200" y="1825624"/>
            <a:ext cx="10515600" cy="4530725"/>
          </a:xfrm>
        </p:spPr>
        <p:txBody>
          <a:bodyPr anchor="ctr">
            <a:normAutofit/>
          </a:bodyPr>
          <a:lstStyle/>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إن الإدارة العليا في الجهات العامّة هي المسؤول الأول عن إعداد وتطوير وتنفيذ السياسات الأمنية.</a:t>
            </a: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تعتبر السياسات الأمنية من أهم الوثائق والإجراءات الوقائية لأمن المعلومات.</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ستقوم الهيئة الوطنية لخدمات الشبكة بمتابعة تنفيذ السياسات الأمنية في الجهات العامة، وذلك وفق جداول زمنية محدَّدة.</a:t>
            </a:r>
          </a:p>
          <a:p>
            <a:pPr marL="0" indent="0" algn="justLow">
              <a:lnSpc>
                <a:spcPct val="100000"/>
              </a:lnSpc>
              <a:buNone/>
            </a:pPr>
            <a:endParaRPr lang="ar-SY" sz="3600" dirty="0"/>
          </a:p>
        </p:txBody>
      </p:sp>
      <p:sp>
        <p:nvSpPr>
          <p:cNvPr id="4" name="Date Placeholder 3"/>
          <p:cNvSpPr>
            <a:spLocks noGrp="1"/>
          </p:cNvSpPr>
          <p:nvPr>
            <p:ph type="dt" sz="half" idx="10"/>
          </p:nvPr>
        </p:nvSpPr>
        <p:spPr/>
        <p:txBody>
          <a:bodyPr/>
          <a:lstStyle/>
          <a:p>
            <a:fld id="{5C61019F-1FBC-46EC-989A-700C9055E8CB}"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5</a:t>
            </a:fld>
            <a:endParaRPr lang="en-US"/>
          </a:p>
        </p:txBody>
      </p:sp>
    </p:spTree>
    <p:extLst>
      <p:ext uri="{BB962C8B-B14F-4D97-AF65-F5344CB8AC3E}">
        <p14:creationId xmlns:p14="http://schemas.microsoft.com/office/powerpoint/2010/main" val="219147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b="1" dirty="0">
                <a:solidFill>
                  <a:srgbClr val="00B0F0"/>
                </a:solidFill>
                <a:latin typeface="Monotype Koufi" pitchFamily="2" charset="-78"/>
                <a:ea typeface="Monotype Koufi" pitchFamily="2" charset="-78"/>
                <a:cs typeface="Monotype Koufi" pitchFamily="2" charset="-78"/>
              </a:rPr>
              <a:t>نظرة عامة</a:t>
            </a:r>
            <a:endParaRPr lang="en-US" dirty="0"/>
          </a:p>
        </p:txBody>
      </p:sp>
      <p:sp>
        <p:nvSpPr>
          <p:cNvPr id="3" name="Content Placeholder 2"/>
          <p:cNvSpPr>
            <a:spLocks noGrp="1"/>
          </p:cNvSpPr>
          <p:nvPr>
            <p:ph idx="1"/>
          </p:nvPr>
        </p:nvSpPr>
        <p:spPr>
          <a:xfrm>
            <a:off x="986436" y="1606118"/>
            <a:ext cx="10515600" cy="5115357"/>
          </a:xfrm>
          <a:ln>
            <a:noFill/>
          </a:ln>
        </p:spPr>
        <p:style>
          <a:lnRef idx="2">
            <a:schemeClr val="dk1"/>
          </a:lnRef>
          <a:fillRef idx="1">
            <a:schemeClr val="lt1"/>
          </a:fillRef>
          <a:effectRef idx="0">
            <a:schemeClr val="dk1"/>
          </a:effectRef>
          <a:fontRef idx="minor">
            <a:schemeClr val="dk1"/>
          </a:fontRef>
        </p:style>
        <p:txBody>
          <a:bodyPr anchor="ctr">
            <a:normAutofit/>
          </a:bodyPr>
          <a:lstStyle/>
          <a:p>
            <a:pPr marL="0" indent="0">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تم وضع السياسة الوطنية لأمن المعلومات من قبل فريق متخصص في مركز أمن المعلومات وذلك بالاعتماد على المعايير القياسية ذات الصلة ومنها:</a:t>
            </a:r>
          </a:p>
          <a:p>
            <a:pPr marL="0" indent="0" algn="ctr">
              <a:buNone/>
            </a:pPr>
            <a:r>
              <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ISO, </a:t>
            </a:r>
            <a:r>
              <a:rPr lang="en-US" sz="3600" dirty="0" err="1">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COBiT</a:t>
            </a:r>
            <a:r>
              <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NIST, ISA</a:t>
            </a:r>
          </a:p>
          <a:p>
            <a:pPr marL="0" indent="0" algn="justLow">
              <a:lnSpc>
                <a:spcPct val="100000"/>
              </a:lnSpc>
              <a:buNone/>
            </a:pPr>
            <a:r>
              <a:rPr lang="en-US" sz="3600" dirty="0"/>
              <a:t> </a:t>
            </a:r>
            <a:endParaRPr lang="ar-SY" sz="3600" dirty="0"/>
          </a:p>
          <a:p>
            <a:endParaRPr lang="en-US" sz="3600" dirty="0"/>
          </a:p>
        </p:txBody>
      </p:sp>
      <p:sp>
        <p:nvSpPr>
          <p:cNvPr id="5" name="Date Placeholder 4"/>
          <p:cNvSpPr>
            <a:spLocks noGrp="1"/>
          </p:cNvSpPr>
          <p:nvPr>
            <p:ph type="dt" sz="half" idx="10"/>
          </p:nvPr>
        </p:nvSpPr>
        <p:spPr/>
        <p:txBody>
          <a:bodyPr/>
          <a:lstStyle/>
          <a:p>
            <a:fld id="{094A1B36-D572-4FCA-9799-BAE3ADB89182}" type="datetime1">
              <a:rPr lang="en-US" smtClean="0"/>
              <a:t>2020-11-25</a:t>
            </a:fld>
            <a:endParaRPr lang="en-US"/>
          </a:p>
        </p:txBody>
      </p:sp>
      <p:sp>
        <p:nvSpPr>
          <p:cNvPr id="6" name="Slide Number Placeholder 5"/>
          <p:cNvSpPr>
            <a:spLocks noGrp="1"/>
          </p:cNvSpPr>
          <p:nvPr>
            <p:ph type="sldNum" sz="quarter" idx="12"/>
          </p:nvPr>
        </p:nvSpPr>
        <p:spPr/>
        <p:txBody>
          <a:bodyPr/>
          <a:lstStyle/>
          <a:p>
            <a:fld id="{1C2A39C6-515D-4F52-9A2D-612D5FCA91E3}" type="slidenum">
              <a:rPr lang="en-US" smtClean="0"/>
              <a:t>6</a:t>
            </a:fld>
            <a:endParaRPr lang="en-US"/>
          </a:p>
        </p:txBody>
      </p:sp>
      <p:sp>
        <p:nvSpPr>
          <p:cNvPr id="8" name="AutoShape 4" descr="data:image/jpeg;base64,/9j/4AAQSkZJRgABAQAAAQABAAD/2wCEAAkGBxQSERUTEhMWFhUVGB0YGRgYFxgYHhkaGhoWGhsYFyAYHyggHR4mGx0XITEiJSkrLi4uFyAzODMtNygtLisBCgoKDg0OGxAQGy0lICUtLTUtLy0tLS0rLTUtLS0tLy0tLS0tLS0tLS0tLS0tLS0tLS01LS0tLS0tLS0tLS0tLf/AABEIAKkBKwMBIgACEQEDEQH/xAAcAAEAAgMBAQEAAAAAAAAAAAAABQYCAwQHAQj/xABCEAACAQIEAwUEBwYEBwEBAAABAgMAEQQSITEFQVEGEyJhcTKBkaEHFCNCUrHBYnKCktHwQ1Oy4RUkM2OiwvHSFv/EABkBAQEBAQEBAAAAAAAAAAAAAAACAQMEBf/EACQRAAICAgICAgIDAAAAAAAAAAABAhEDIRIxMkETIlFhBHHR/9oADAMBAAIRAxEAPwD29ayrFNqyoBSlKAUpSgFKUoBSlKAUpSgFKUoBSlKAUpSgFKUoBSlKAUpSgFK+M1t6KwOxvQH2lVzi/bjB4dijS53G6xguR5EjQHyvXBhPpMwDtlzup/aS35EmpckjeLLlSubA4+OZc0Tq48jt6jce+umqMFKUoBSlKAUpSgFYXrOtdAZJtWVYptWVAKUpQClKUApSlAKUpQCla551RSzsqqNyxAA95rjj45hmNlxER9HX+tY2kbTJClYNMo3I+Nck3GIV3kX41ph3UqOTjUTKWUki17hSb+nWuL/+oiJsniP978hWWjaZPUqs4jtK6AFoTqQPDd7XIGuUaDW5PStPEuPTKAVMY6i9ifTNWOSRqi2WyhqixdojJfPJ3RGupttud7WqKxXaRmbKjxzR33V2fMtjySMkNf1GtFJNWg4NdnpDYxB94e7X8q5v+MxZsubxWva1tPfXnOJRmv8AVBiI+ZzLlH8OYhr+74VkOKxBQuIjbOdBZXct5ra5/pU/JuiuGrLjxDtYkRtka3XQj5HSuPFdq8wyxG7kXsoJIHX2SN+tVnBY54UZTDK6Emxl7uMAM2iku5YjUAaVnDwyUEyIixm+iq5f55RYfGslJrZsYpkfxbhXf+3iJ1lNtJHRhrtYMVNr6bVD4jh2OwJvfvI+eW+3pVsSJsUSJhErJdbGLMwHMEkgdNLEVhg8ZebuJZJAbsqr9nqF2LKEuFI1BuR530qJw5LRUZU9kLwqCLFx/YjKwFmjFhfW/Mb+VRp4TGzFHK89HIA3tYA6g77W2qc7ScFaF/reE0dNXUbMPTr/APOlZSypjIBi4QFkBBe4DKdgWcH8OhLCxy662IrzK7pnfRCcNxkmBlZ43doYyA+t3hB+8D/iRfMfOvauC8UXERhlINwDpsb8x5V4JLxUBxJZu88f2YS2YkWvmcBioIB0FgLg3qW7Cdo3wsvdsrCBtYzY5UY+1CTta/s12i3Dfo5ySlo91pWrC4gSIrrswvW2vWnZ5XoUpSgFKUoBWutla6AyTasqxTasqAUpSgFKUoBUD2p7SLhFAADyv7K30A/E3l5c/iRJcX4iuHheZ9kF7dTsAPU2FeCdue0sshzkkPIbkqSAqDQAf3fTnXPJOtLs6Qje30XB+3mKzaSRb+yE+VySR76neH9u3MZLwh2H4Wy/HNe3614vwfCFwXWVZGJuVzEk6dTsbeVW7gnEdHmyPki0mFr5RvrboNb9OgNedzmvZ2UYv0bu1Mz42TvJphGD/wBNGdVVV09nXXzbn6WAq8HeQyExOGCgEk6xte2lzqNdL+Xvq88U4MI808clomGZk8ORnOqsSysqhvxFd+YvUbiXN1URCKQ3cZ5XkiJYWLMVZRmPQqV6kVim33s3il0SXC3+sQd7hyVdCFeNvuOuuRvLW4PmDXXhOIfWAYpzl0sVKob265wQfhVf7PYyXCSguo1T7S/iaSNTewym2ZQWdWscwGUEVd+KcESYZ0IuQGVhqCD7LDqNr9Qay3jf6FKf9lfxk6YaUKroIzqVEojYvzuFeNbWtqAx30rbxFIZGBgMgk6qkpVvVspAPmTXTw+aNYyrKsRW6sBZbEaHa3uPmKh+DcUEMjK+JWRQLWEjTOxvo+WxKHLuoJF9gOfoaUkclcWSOAnUXXE6nU3djlI56MbC1fcPIEmzxENERYhUZrG5N17tLbWG9bsTImKjbIGVh4lLxuniHMZwLjWxtyY9K5G43E2HPfSrEWUoczAEGxUj3Gpxyfi+0VOK7RJ4jDriDlaJwD945R79Tmv7q+Pi1hBimve1hkViXU3sVCAnre2xBqG4TxTu0CBpJ7WsUhksPLM1wR0JN7bk71NYzENLCJe7ZHjJYBspJAtnHhJ3FjbqBWS+j5evf+hfZURHDpXw7Fl+syq2lpAqc/CbysrXA0J1vapqTCfWEJaMRuDmQ5gxDdTbkdiPWq/xriEEwC50LocwGTvrEqRZkGpBVj05Vu4JxgpGiLFPKALE5O608hMwIA5b7DernHkiYypm+fHNNE0LQOx1V/EigEfvG/ncA1r4fxCRG7hTChGytI8rAHW1iF0tyvtX3iWL7qcM1x3gsw38Sjyve6/HKKiMfIskqTJDOWW2oVY7gG4uZbMALtta4Yg3FZCXKJslxZY+PoyhZo3CtYBja/hvbMBfcajfY+VceNjYQtJ3s0pVc2XPkuBqbd0obQXNtSbWrGTFSyQvnjVVCkjx5ja1iLAWtbXflULwjG4mVSqNGoXTMbuSRvoCAPjWQ03E2W1ZPYHKIu8CFWZdQWdrjmPGb67jY7VVODcUGCxxX/Bnvcbi5306a/8AlXXd2kMTYqRSDk8EaIubLmygkNrl13/Kqn2rgMd1uSYyGVjuRvy8rj3VGWFuzYSPYWwGGiClI4wpF1OUGw10BN7WN9qjuLcYhEbKxuCLEf8AyqPh+0pOFW5vlsQfI6MPcQPgajsTxHLlkmVTmIyo98tjsXA11Gw6anlXl+OUns9HJJaPVPow7TCRmwrG9gWjPUA6++1j8a9Hr83r2h7rE4bEIiJ3LWIRQoyk6ghd9Cwr9GwSh1DDZgCPQ617v48rjR5My+1mdKUrucRSlKAVrrZWugMk2rKsU2rKgFKUoBSlQXbHihw+GJU2dzkU9L3Jb3AH3kVknStmpW6Kt9KHFVcx4dHVspLyKGF7jRVOum7E15tLxMo3jhfIPwgEfC9TsQRj5jY+dS2N4IskImS1/ZcdG6+h/WvDLLb+yPXGFLTMOz3Z/DS2xCKrCQWDckY7FQNjyJ9POu3gWL+r4p4ZAAsm/QnQX189x+151DdjsV9UnbDv/wBKe+X9mTXT+Lb1ro7YTjKJPvRnxHmRsT7xr6inH0LJ/gJEMkuDcXWLVAdbwSE2U/unMvoF61D4x1w8kisI+8zsxOVDmGYBLAiwGQi4FvFm1sCDHYzjd2wuKv8A9mT0YgX9c2U1ZsVxlIU7wqhzD2ioOq2Gp9CnzqE67KqyqSl5gvdQFbEMDHGQAT4iRkFrg723trr7M72Z4lLAnczRlMhLRK1gWhNsyW38BOUeVq0YjttmXwPv7qqXaDjJE8WIzEgGxv8AhbRh/fSr5OS40ZVbLrx6KLv45SissvNgG8QF1YX2JS4/hFcXaOOXulOHLAq4uqW8SnQjcbXDaEbGozH8ZVsKyn2omDKR65gP9QrugwCSqGaSVgdQO9ZR6fZ5dPWumCWqfojLHdkzhsb9l4/ASuzECzDa9iQOm50NV/A4tBjJAAPtAGU218/T/wC1p7PpFI75sNGrRsVBKsx0ZgfHIgubjkTvVf7TsYMd4SVBIZSLaK/S+mhzWHlVSVSUiYu4tFs4ykvexvEWI2IzWUEEHUFgLMCQTZrZRYXNSTcajjUhpFBGoBYa23HvUnTraq5j8DFHA8zCSYohazyuQbC/sg5flXfwEoo0jhRgdRFa1iL66A3IOx61ckpRomLpm7s/jQyumngdh00vcfIitODw7RYmSVpSIzspYkG+U38TEDKQwAAGjc+VS4Zhj9amwxkkTU2KNlJyEga9CpvXZxnDR4cpliWRsrvnnYsAEAJAL38Rv8ATypj2hPs7+2nF1vE8cisARmCkGzJa17dVIH8NSeOZZ8OVLhQ6+0dh66i46iobtFEsnDQ6LlAyShQLWB0Pyb5Vr7N4SHEYdGkjV2UZfEM3sk230FSlUma9okODcegjUxSPCNSBHCxeynS1gPM6AC16hezPEu4mmjfMcrHZSxNjl2GvSuzg3EW+tNDaOwL+FVsUClcpbU3DBug251w4491xe/KQBvioB+amqkt2ZHom8TaSVZVw8twcwJIjUsBlDMCbk5Tbbb0FQfbKOQ5ZJERQfD4WLE8xe6jlmqe7TYIzogVgLMbnTYowvrpcEg+6ortFikfDBDIhlGW6q2bXY+dtTvSfibHsp3BpyqFbA5GIsQDcHyOh2O/Wu+TBnGo0kcmeS2obz/EBqh/a1U6ai1RPD1IllH7p/L+tdGFhaNsyMVZWIBGh0Ncmt2i/VHXPhn7tg4sVUEkagGwvqNN6/Rf0d4wy8Mwrk3PdgH3Ej9K/Ps3GMVMBHI90JAICKL687C9e6/RNf/hUAO65x8Haqwpp7Jy7RcKUpXpPOKUpQCtdbK10Bkm1ZVim1ZUApSlAKoP0o4jWCO/ibNlHU+EW+F6v1VH6SsND9VEzpeWI2hNyLM2nLfS516VGRXEvG/seQxtJ3xEfiCmwH4rb26G97e6rXwfj8QcRFx9vHcqR0vY+oNxbfXyri4Jg1RQzGxGo6+tU/wCkDKs5lhGRwQ4tzBFiCNt83urxxayOj0tcFZJdpuILdgrHMhuptazKbgitfEuO94ocf4qAn3j9DmFU6PHSSI2aRgRYm3huDcbLYb2+NSGIk/5SB/wlkP8ACQw+IY/Cuqg4pJkcrskeDzGTCTRE+xz6birBBxRJ8KEnLhfAxyWDclsCdBYnW/4arXYV74iSI/4iNb1FmHyBr5ISoaMaasnuYZr/ABY/CueRfYuD0T2N/wCGRodJwNPHnBIubai1jr+dRHFOEu8ZOHYYmO2YZNJAOZKXOYD8UZYb3tULj5CwdbXzLmHyYAe8Vq4PhZI1MzOYktmAvYt0cjkByO5NgvlcU6tsmT3R0QcSzAAn20P8y6/PKfjV07N8XfuEVInkIFiQVAFiRqWI+V6os3EDiJhK173yXNszae09t2IOu+253q3dgZ/DIp5G/wAR/tVLTMe0TQnmVrWw8Jc3ALFmY9bAKL+hNVzt9hpB3Usjhzqt1XJa1iBuerc6mOOYcmUyLKihlRSXI8ORma63BBvfXbYG9cHbDHxT4X7OQOUcG6+IDQg3I0G4q5LREezswHFZ2hTu4Q3hHiZwoOnkGPltyrHh6TapE2GiA9pI0zEH4qB715V97FyXwoF/ZJH6/rWnCCOHEZnmjFjLlUNdm71w5zDfQjQC+9aug1s4MUGh4khZixbKSbAXuuXlpuKlMbiZpFPe4aJYwb3nkBt52UEfOtHHMOZpo5o1ayJqSrL7LOfvAGpbtAUaFlaREvYgswFiCCDr6VMHto2S0cgilmw0n2sRjMbBViTTRTYZix0uOQFRfY2SXunWPJfNfxE6AjkANdfSpfgeMijjMaM012cgpGzCzsx1YDLfXcnXemDw8WDlOZgqsg1PW+3rWN1JI1L6nO3e98InxGV21tDDaw1sWZswF7Ea22ri7Q8NKYiBgXfw+JmNzox6baHlXbiXjkxKzxpO7IAAFhABtm2aUC18x9kipfHM7wszxd2QpABYMdeuXQa+ZpkdIyCtkfxLhEUUBkEYkYAEd6xfcj/Ma3zFdGAiE+FXwgZyo0XKD4wLgXOnvr7jpMQIS0hhjjUa+F5iR6C35GuzhuCY93I0spGZWCELGNDfVVF/cTWyf1Yj2UvBcHvj5YRtkHy1/SrBfh8RYSv9pmYEKpOoJv79DWjswc/FMQ3TTT91B+ZNcWNSNpJGP3nZh4QbgsSLXPUeuleVLk6f4R36R1ScXwxdI4IW8TKuZrC12GuhPIHSvX/o4H/Ir++1vQm/5k14Xw5g+JhtYAOzaG/hiW2p/fc/Cv0P2XwvdYSFbWOQMfVvF+tdsMUp6/ByyyuJK0pSvWeYUpSgFa62VroDJNqyrFNqyoBSlKAV5n9LvFgsmHgJ0AMrDr91f/evTK8/+lTs8ZVTFILmIZZB+xe4YehJv5N5Vzyq4svG6kUBceWsdarvbW5Mbkciu39+dWjCAZdq5O03DhLBY8mvp6H+tfOg6mj2yVxPO8CbyMPxRsPeozj/AE1KYM5sFMp+5IjD0OZD/qHwpLg1hdGUa5rddCD+lTWM4EIEyo5czoCLgBVW/eC+5LXUC+nvr2ykjzpMgOzvEvq+JSbLmsL2vbyN/LWpnGZZQ80VwpcDKbaEGQEi3LauLBcHuwvr4WX4Hl8KleyGG7wPF+2/yYmpyJdlQvoj5mw8TKZJHDqLhURr6Xt4joPUXqKxsr4ltFIUG4UksSfxOT7TW+HK1ej43siszhgLlPCfSwIHzqQwvZtYhdyq262HX/auSyRS/ZTi2ea8P4NJcjLrdWA6e0NffarDwrgZErxyBlV7+yxU+FhzU3q3cHihOLZY5EciLxZTfL4ha9tudauNXR0KLmbM9luBfTa50GtFNuaNcUosgeJ8LgwxQph1dmDWJGdrqpI1c+t9alJMOs2DFwAHVG00GpB0rnxM2KYBpI8PCAbBnZpCCxyjQBRc3tvzrsXh8q2eWctb7iqqJ8NW/wDLlXpn4s4x7I3hPBImaRHXMqlSAdR4kS9xsffWeFlCY04dBGiACyqqgm6363+AtpvW3CCYyy9zk3UEvmNvAuwG/wARSFXecxNiGzr7XdRpGuwNrvmbYjY86yHihPyJ3EIO5m8oz+TVEYzARxQvKkUYkCFgSl/Fbc2BJ1rqxSLDBKiliXFrszMbt4d2JtvsK4+LRTRwtI075UFysSRqSB5vm+WtRDykVLxR09nJmbD5pLg+LVgBcXNjoALdDYXreiA4k+UY/wBTVxLwmNIu9lDM4sfHI0mU30tm0B9AKywGFXEF3cta4Ayuy3sOeUi4vfektzQWoMxx0YGLEssqpFGgsGe2ZiXvpmA08O4Plat/FsajxeA5gxUCwOviF7ddKjuDKiYh2aGOGMZhdkVSSGsvibViQM1xpqByrNuIpJiMxuUU6ZVZtRoNFB5XrciukZD2zrxuK7yJk7mTIykFmKxi1tfaOYaeVbp8XJHGXkEaKqmwUljt1IA28q4uKP37oAr2UMCpyqGBy3vmOYbW22Y9aqfbbjzTOMMlrk5Wym48xew9PjSatUIunZKdiJCkGIxR9psxF+rEkD4la4MRhh3IYvcgsCLNoCAbWYix8R1tzqUB7qCOEG1hmcj32H5/Kq7jcQZJESAszsfCN9dBnNuQ5dTauOP2zrLqiydgOEfWMZlVQEFo7KLABTnlI9/h9RX6CAqn/Rv2T+owAuPtWAFvwrvY/tE6n3dKuNerFClb9nmySt0hSlK6nMUpSgFa62VroDJNqyrFNqyoBSlKAV8dQQQRcHQg8xX2lAeOdquE/VcQyp7BN18gdbe7a/lVe4/jQsQHU/lf/avUvpI4aWiE6C5TwuOqE6H3N/qNeQY/hrTMPF4dtOXUeZrxywr5LPUsj4FUxGM7yVV10e+vpbSvQ8bhyywDmIwPeEY1WcZ3PfokaKuVlUyczqLnp5X6Crxi5AXQfhDH5Bf/AGrM0umbjXZDYXBjMnmX/wDb+/dXN2QS2McdJJPyNdkuPRChJ9lC3qWt/wDr5VwfR8+edn5ZpG+LG3yqduLZWrO/tXxOaPEPHDLIAyK5VCqBdMvidhpe19+vSq3jMG7PeRwbasJGaRrNYjKCSrA7BjoPPepztLMj4iVGjZ2GXJlOgIW3jHQE3F+fTeoXHzNHEcy2ZDpf8L6EC3RwP566Q6REiw/RzZDLIqjaKMDYAMDIf9X5VJ43HoskbSOFRQzFmIAF8oGp9aheycwjw8p/FMbekUar+YtUhwvExu7PIVCILeIi3U7+6o7yldQNvE+LwTqqIZJPGj3ijZgcjq4Ga2XUi29bMfxKQoM0JjUm3jZc2x5JcW99c/EOLxyMixMHjDBmMSu5JU3y+AZQL21J5GobtNxp5HSMRsm9g1rm9rGwJsNDvrodK7z8TlHsmOCYwqrsIpHLsT4QtrDQasQOVZ8PdmklMSxKzNdyXMjA2CgEKAALLtm5GuZOIiKAJlcC2XMxWMXP75Bv6Cow45sNh+8RkAYKFuTIz2FlA0ULp0FalSMbtkhisS8k3dpldla5+6py26Xtr6108Sx8lxHIYwTl8CoZTq1l1YqN7nUfdJ5VCcELQoZGZQ7anML6bi2orPC4p5yZFillkIAywoWYeTNEpKj+KpgqNkzf2lxDIUiErySOb6kAAfuqAN+vSujEgQQBRIS5sAveFFBO5OUgkDffWsOG9h+IuzSNg2LPzeRECjp4mz/K9Wjh30UTk5pcTFCbWywxlwPPMxW58yv+9qLuyXJVRSZ+JBIsiRr9ZlvqFPgU88zC5sOfM1uwPERhIwmW7Hc3vfz8N7e+1ei4D6I8MrZ5cRiJWO+qoD65VzfBql4Po04YrBvqucj/ADJZpR71kcqfhW8N7M5ngvFO0wjDrAbyyk3K62JO17m56AVN/Rv9GuJxDd/KrQruHlRrsfJSQT66Dzr3/AcIw8Fu5giittkjRP8ASBXbWuCaozmzyiT6H5JGPf8AEMyHdUw4T0sTIw+INW/sn2DwnD/FEheU7yyEM59NAF9wFWilbxRjk2KUpVEilKUApSlAK11srXQGSbVlWKbVlQClKUApSlAYTRBlKsLqwIIPMHcV4r2u+jrHCd3wgLRm7eGQKSANFZSRc8tiD8q9tpUuKeylJo/LmD4a1vt7FgbEAW25MLDWpHinEcngzeMrY/sjp621Pur0P6VOAFCcXELBtJLAaNsr+/QHzt1rxrEL9sI2JBfnuTpeuco8nTOkXStE3wbDDFzMHuEtYEciNfhyqX7OYP6rLOuYEC2vTMWNvW2v8VceFIw0Jb2dNPTmfU1Hyzyd2Y0DtNMSzKqs7XYbALqcqWHrXCVt8V0dVpWzln40C7Mp0di5J531F/IDT3VG4jiWY3BuNSTytobDqdvlUXiHMLKskbgpsrjIdyRcEHS96nuBdi+I462IiwrvGTcMzIga21jIwzLfmL7V3UKOTnZvOPMcCQj2yNQObuczfPSrPwzDwpEplVWZdbst7Md7EjTpU5wD6HJwRJicRGj9Iw0m++rZQD7jVwg+jHB6d8ZZrG9nfKL+QjC/nSONrYc0ec8M74u2UNO5BZY0X2RqSFC7jYC4B89aj+DdnMfiJmxBwshdtg6FFUcgDIVGnPWvfuFcHgwylYIUjBtfKoBa22Y7t767qviRzPIIvo1xuIIOIkhjA2GrkX3JW1vLRvzqag+iHC5w8s+IkI2GZAo9BlJHxr0WlVSJ5Mq+A+j7h8RzDDK5/wC6WlGnRXJUe4CrLFEqgKoCqNgAAB6AVnStMFKUoBSlKAUpSgFKUoBSlKAUpSgFKUoBWutla6AyTasqxTasqAUpSgFKUoBSlKAwmiV1KsAysCCCLgg6EEdK8m7UfRa/fJLhftFU3CFgrrvpdtGUXO5B9a9cqB4p2rhhOUeNr200F+l/6XqZJPsqLa6PNo/o2xkzguBGAb3kdXsfxBY75iOQLAc+Qr0vsj2YiwEJjQl3Y5pJGtdzy22AGgH5kknkTtlGCA8bC/Qg/napzh3EY51zRNmA0O4IPQg6iphGK6NlKT7NuJwkclu8RXtqMyhrel62gW2r7SuhApSlAKUpQClKUApSlAKUpQClKUApSlAKUpQClKUApSlAKUpQCtdbK10Bkm1ZVim1ZUApSlAKUpQClc3EcasMZduWw6nkK834xKZ5C0ktug6fE6Csbo1Kyx9p+O5rwwtp95gd/wBkHp1+HWqLi0IcZh7O3TrvW14miOUE67Em4P8ASpmXA3yg6g3+Nr6fA1zlKtlqN6OLBsJhlI18/wAq2RQyLmCsySLzDFSw+6TbfmD6ViuFdGDJbMQfiN7fOtnApWeZs51N1+Go/rUP8ov9MhcTPLJbvJZm12Z2a3u/vau7A8exUHgSdinQhWtvtmBI9K7sdhLSsMpI9q6i9gevvvXHNALEjW2vT0H99DXRSIcSwYTtlMLCRUb9oXW/mdx8qmo+1Itdom/gIb87VUcBhQ8ZH4TYejDMv52rv4ergZAFNts1xpRS3QcdWXDB8Zik0BKnowt89vnXVFi429l1b0YH8qpXdFW8QJzbDMD8L2NcksOR9FYKfukEW9KuyaPRqVSFLqAY2kX0Jt/43roHFZ1F+8B/ZIW/uJFzSzKLfSq3h+OyEX8BHoQfz/SuyHjoI8UbD0sfztSxRMUqPj4zEeZH8J/S9dMeMjbZ1+I/KtMN9K+Bgdq+0ApSlAKUpQClKUApSlAKUpQCtdbK10Bh9aQaF1BHIsKfXI/8xP5h/Wt9KA0fXI/8xP5h/WsxOv4l+IrZWNAY98v4h8RTvl/EPiKypQFS7SY0yPlQEhdL2Nr8yPyvVe4jgCyXym48jXqFK5uFu7LU9VR4xNDPcAhyo0tlNqsjO2SMlTe1zofMV6HStlCwp0edRk3XwtoxOx53/rWjhsRGJY5SBn6G3sj9a9MpWfGhzPPONxMXBUMRlF7BtxcixX1PK1cWug7t7eQvrzJvYk8tLeVen19rVCg5Hn3A4iC6kWuqkX0HhJB19CK7pYvELEjUi45eevpVzNfKcN2OeqKfPEwXVww03W53FvZI51liEZlswXTmD+hH61bqVVE2VHBhgCBbTressPHlJFtNrBr/AJgVbKUoWVJY8jXUaHlW2VLm4Fv5T+t6tFKULKrNGL5l35jXWtmVSL8+h/K5qzUpQsrKw/eFgRy6+lbkZjqHI/iNWChpQsgvrUo2kvbkcprownFSdHHvGlStK0w4/wDiSefy/rW6PFo2zD36fnW6hoDDvl/EPiKd8v4h8RWVKAx75fxD4infL+IfEVlSgNZxcY3dP5hXz65H/mJ/MP61uFfaA0fXI/8AMT+Yf1rJGBFwbg8xrW2lA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8880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sz="4400" b="1" dirty="0">
                <a:solidFill>
                  <a:srgbClr val="00B0F0"/>
                </a:solidFill>
                <a:latin typeface="Monotype Koufi" pitchFamily="2" charset="-78"/>
                <a:ea typeface="Monotype Koufi" pitchFamily="2" charset="-78"/>
                <a:cs typeface="Monotype Koufi" pitchFamily="2" charset="-78"/>
              </a:rPr>
              <a:t>أهــــداف السياسة</a:t>
            </a:r>
            <a:endParaRPr lang="en-US" dirty="0"/>
          </a:p>
        </p:txBody>
      </p:sp>
      <p:sp>
        <p:nvSpPr>
          <p:cNvPr id="3" name="Content Placeholder 2"/>
          <p:cNvSpPr>
            <a:spLocks noGrp="1"/>
          </p:cNvSpPr>
          <p:nvPr>
            <p:ph idx="1"/>
          </p:nvPr>
        </p:nvSpPr>
        <p:spPr>
          <a:xfrm>
            <a:off x="838200" y="1519311"/>
            <a:ext cx="10926170" cy="5202164"/>
          </a:xfrm>
        </p:spPr>
        <p:txBody>
          <a:bodyPr>
            <a:normAutofit/>
          </a:bodyPr>
          <a:lstStyle/>
          <a:p>
            <a:pPr marL="0" indent="0">
              <a:buNone/>
            </a:pP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تم وضع الإطار العام للسياسة الوطنّية لأمن المعلومات بحيث تكون </a:t>
            </a:r>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المرجع الرئيسي لجميع الجهات الحكوميّة في الجمهورّية العربّية السورّية أثناء إعداد خطّة أمن المعلومات، </a:t>
            </a: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وتهدف هذه السياسة إلى:</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تحديد المتطلّبات الأساسّية لأمن المعلومات وما يجب القيام به لحماية الأصول المعلوماتّية في الجهات الحكوميّة.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توفير البيئة الآمنة لتقديم وتطوير الخدمات الإلكترونيّة.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تحديد المهام والمسؤولّيات لتنفيذ هذه السياسة في الجهات الحكومّية.</a:t>
            </a:r>
          </a:p>
        </p:txBody>
      </p:sp>
      <p:sp>
        <p:nvSpPr>
          <p:cNvPr id="4" name="Date Placeholder 3"/>
          <p:cNvSpPr>
            <a:spLocks noGrp="1"/>
          </p:cNvSpPr>
          <p:nvPr>
            <p:ph type="dt" sz="half" idx="10"/>
          </p:nvPr>
        </p:nvSpPr>
        <p:spPr/>
        <p:txBody>
          <a:bodyPr/>
          <a:lstStyle/>
          <a:p>
            <a:fld id="{C7E102AF-0850-4833-AE31-4838F9725858}"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7</a:t>
            </a:fld>
            <a:endParaRPr lang="en-US"/>
          </a:p>
        </p:txBody>
      </p:sp>
    </p:spTree>
    <p:extLst>
      <p:ext uri="{BB962C8B-B14F-4D97-AF65-F5344CB8AC3E}">
        <p14:creationId xmlns:p14="http://schemas.microsoft.com/office/powerpoint/2010/main" val="95530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مجالات السياسة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982637" y="1542197"/>
            <a:ext cx="11039901" cy="5179278"/>
          </a:xfrm>
        </p:spPr>
        <p:txBody>
          <a:bodyPr anchor="ctr">
            <a:normAutofit/>
          </a:bodyPr>
          <a:lstStyle/>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تشمل السياسة أربعة عشر مجالاً من مجالات أمن المعلومات:</a:t>
            </a:r>
          </a:p>
          <a:p>
            <a:pPr marL="0" indent="0">
              <a:buNone/>
            </a:pPr>
            <a:r>
              <a:rPr lang="ar-SY" sz="3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1_ سياسات أمن المعلومات.</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2_ تنظيم أمن المعلومات.</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3_ أمن الموارد البشرّية.</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4_ أمن المتعاقدين.</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5_ التّوعية والتّأهيل.</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6_ إدارة الأصول المعلوماتّية.</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7_ الأمن الفيزيائي والبيئة المحيطة.</a:t>
            </a:r>
          </a:p>
          <a:p>
            <a:pPr marL="0" indent="0">
              <a:buNone/>
            </a:pPr>
            <a:endParaRPr lang="en-US" sz="3200" dirty="0"/>
          </a:p>
        </p:txBody>
      </p:sp>
      <p:sp>
        <p:nvSpPr>
          <p:cNvPr id="4" name="Date Placeholder 3"/>
          <p:cNvSpPr>
            <a:spLocks noGrp="1"/>
          </p:cNvSpPr>
          <p:nvPr>
            <p:ph type="dt" sz="half" idx="10"/>
          </p:nvPr>
        </p:nvSpPr>
        <p:spPr/>
        <p:txBody>
          <a:bodyPr/>
          <a:lstStyle/>
          <a:p>
            <a:fld id="{AE1250EB-47A5-4840-8C74-76C47A772823}"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8</a:t>
            </a:fld>
            <a:endParaRPr lang="en-US"/>
          </a:p>
        </p:txBody>
      </p:sp>
    </p:spTree>
    <p:extLst>
      <p:ext uri="{BB962C8B-B14F-4D97-AF65-F5344CB8AC3E}">
        <p14:creationId xmlns:p14="http://schemas.microsoft.com/office/powerpoint/2010/main" val="92559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kumimoji="0" lang="ar-SY"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Monotype Koufi" pitchFamily="2" charset="-78"/>
                <a:ea typeface="Monotype Koufi" pitchFamily="2" charset="-78"/>
                <a:cs typeface="Monotype Koufi" pitchFamily="2" charset="-78"/>
              </a:rPr>
              <a:t>مجالات السياسة</a:t>
            </a:r>
            <a:endParaRPr lang="en-US" sz="4800" dirty="0">
              <a:solidFill>
                <a:srgbClr val="00B0F0"/>
              </a:solidFill>
            </a:endParaRPr>
          </a:p>
        </p:txBody>
      </p:sp>
      <p:sp>
        <p:nvSpPr>
          <p:cNvPr id="3" name="Content Placeholder 2"/>
          <p:cNvSpPr>
            <a:spLocks noGrp="1"/>
          </p:cNvSpPr>
          <p:nvPr>
            <p:ph idx="1"/>
          </p:nvPr>
        </p:nvSpPr>
        <p:spPr>
          <a:xfrm>
            <a:off x="1037230" y="1575582"/>
            <a:ext cx="11039901" cy="4780768"/>
          </a:xfrm>
        </p:spPr>
        <p:txBody>
          <a:bodyPr>
            <a:normAutofit/>
          </a:bodyPr>
          <a:lstStyle/>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8_ إدارة وسائل الّنفاذ.</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9_ تصميم وتطوير واختبار منظومات المعلوماتّية.</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10_ التّشفير.</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11_ أمن عملّيات التّشغيل.</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12_ إدارة الحوادث الأمنّية.</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13_ إدارة استمرارّية العمل.</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14_ الامتثال</a:t>
            </a:r>
          </a:p>
          <a:p>
            <a:pPr marL="0" indent="0">
              <a:lnSpc>
                <a:spcPct val="150000"/>
              </a:lnSpc>
              <a:buNone/>
            </a:pPr>
            <a:endParaRPr lang="ar-SY" sz="3200" dirty="0"/>
          </a:p>
        </p:txBody>
      </p:sp>
      <p:sp>
        <p:nvSpPr>
          <p:cNvPr id="4" name="Date Placeholder 3"/>
          <p:cNvSpPr>
            <a:spLocks noGrp="1"/>
          </p:cNvSpPr>
          <p:nvPr>
            <p:ph type="dt" sz="half" idx="10"/>
          </p:nvPr>
        </p:nvSpPr>
        <p:spPr/>
        <p:txBody>
          <a:bodyPr/>
          <a:lstStyle/>
          <a:p>
            <a:fld id="{C171535F-3608-459E-AC67-F222D1E0F68A}"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9</a:t>
            </a:fld>
            <a:endParaRPr lang="en-US"/>
          </a:p>
        </p:txBody>
      </p:sp>
    </p:spTree>
    <p:extLst>
      <p:ext uri="{BB962C8B-B14F-4D97-AF65-F5344CB8AC3E}">
        <p14:creationId xmlns:p14="http://schemas.microsoft.com/office/powerpoint/2010/main" val="56985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3205"/>
          </a:xfrm>
        </p:spPr>
        <p:txBody>
          <a:bodyPr/>
          <a:lstStyle/>
          <a:p>
            <a:pPr algn="ctr"/>
            <a:r>
              <a:rPr lang="ar-SY" dirty="0">
                <a:solidFill>
                  <a:srgbClr val="00B0F0"/>
                </a:solidFill>
                <a:latin typeface="Monotype Koufi" pitchFamily="2" charset="-78"/>
                <a:ea typeface="Monotype Koufi" pitchFamily="2" charset="-78"/>
                <a:cs typeface="Monotype Koufi" pitchFamily="2" charset="-78"/>
              </a:rPr>
              <a:t>مجال تطبيق السياسة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88330"/>
            <a:ext cx="10515600" cy="4788633"/>
          </a:xfrm>
        </p:spPr>
        <p:txBody>
          <a:bodyPr>
            <a:normAutofit/>
          </a:bodyPr>
          <a:lstStyle/>
          <a:p>
            <a:pPr marL="0" indent="0">
              <a:buNone/>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كافة الجهات العامّة الحكومية والجهات التابعة لها في الجمهورية العربية السورية.</a:t>
            </a:r>
          </a:p>
          <a:p>
            <a:endParaRPr lang="en-US" sz="3600" dirty="0"/>
          </a:p>
        </p:txBody>
      </p:sp>
      <p:sp>
        <p:nvSpPr>
          <p:cNvPr id="7" name="Date Placeholder 6"/>
          <p:cNvSpPr>
            <a:spLocks noGrp="1"/>
          </p:cNvSpPr>
          <p:nvPr>
            <p:ph type="dt" sz="half" idx="10"/>
          </p:nvPr>
        </p:nvSpPr>
        <p:spPr/>
        <p:txBody>
          <a:bodyPr/>
          <a:lstStyle/>
          <a:p>
            <a:fld id="{4FDE6B05-34F2-46DE-B6C4-5B5046E27FFF}" type="datetime1">
              <a:rPr lang="en-US" smtClean="0"/>
              <a:t>2020-11-25</a:t>
            </a:fld>
            <a:endParaRPr lang="en-US" dirty="0"/>
          </a:p>
        </p:txBody>
      </p:sp>
      <p:sp>
        <p:nvSpPr>
          <p:cNvPr id="8" name="Slide Number Placeholder 7"/>
          <p:cNvSpPr>
            <a:spLocks noGrp="1"/>
          </p:cNvSpPr>
          <p:nvPr>
            <p:ph type="sldNum" sz="quarter" idx="12"/>
          </p:nvPr>
        </p:nvSpPr>
        <p:spPr/>
        <p:txBody>
          <a:bodyPr/>
          <a:lstStyle/>
          <a:p>
            <a:fld id="{1C2A39C6-515D-4F52-9A2D-612D5FCA91E3}" type="slidenum">
              <a:rPr lang="en-US" smtClean="0"/>
              <a:t>10</a:t>
            </a:fld>
            <a:endParaRPr lang="en-US"/>
          </a:p>
        </p:txBody>
      </p:sp>
    </p:spTree>
    <p:extLst>
      <p:ext uri="{BB962C8B-B14F-4D97-AF65-F5344CB8AC3E}">
        <p14:creationId xmlns:p14="http://schemas.microsoft.com/office/powerpoint/2010/main" val="412128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متطلبات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575582"/>
            <a:ext cx="11157044" cy="4623606"/>
          </a:xfrm>
        </p:spPr>
        <p:txBody>
          <a:bodyPr>
            <a:normAutofit/>
          </a:bodyPr>
          <a:lstStyle/>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يتم تحديد هذه المتطلّبات في الجهات الحكوميّة اعتماداً على ثلاثة مصادر أساسية وهي بحسب الأهمية:</a:t>
            </a:r>
          </a:p>
          <a:p>
            <a:pPr marL="0" indent="0">
              <a:lnSpc>
                <a:spcPct val="120000"/>
              </a:lnSpc>
              <a:buNone/>
            </a:pPr>
            <a:r>
              <a:rPr lang="ar-SY" sz="3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أ. تقييم المخاطر الّتي قد تهّدد الجهة الحكوميّة، </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مع الأخذ بعين الاعتبار أهداف الجهة والخدمات الّتي تقّدمها ومدى الضرر الناتج عن هذه المخاطر.</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ب. القوانين والأنظمة والتّعليمات وغيرها مما يتعلّق بعمل الجهة الحكومّية، أو المتعلّقة</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بالخدمات الإلكترونّية.</a:t>
            </a:r>
          </a:p>
          <a:p>
            <a:pPr marL="0" indent="0">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 متطلّبات نجاح الجهة الحكومّية في تحقيق أهدافها وتنفيذ مهامها.</a:t>
            </a: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en-US" sz="3200" dirty="0"/>
          </a:p>
        </p:txBody>
      </p:sp>
      <p:sp>
        <p:nvSpPr>
          <p:cNvPr id="4" name="Date Placeholder 3"/>
          <p:cNvSpPr>
            <a:spLocks noGrp="1"/>
          </p:cNvSpPr>
          <p:nvPr>
            <p:ph type="dt" sz="half" idx="10"/>
          </p:nvPr>
        </p:nvSpPr>
        <p:spPr/>
        <p:txBody>
          <a:bodyPr/>
          <a:lstStyle/>
          <a:p>
            <a:fld id="{C45F7152-C6E7-4825-92D1-43D5603AEE0A}"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11</a:t>
            </a:fld>
            <a:endParaRPr lang="en-US"/>
          </a:p>
        </p:txBody>
      </p:sp>
    </p:spTree>
    <p:extLst>
      <p:ext uri="{BB962C8B-B14F-4D97-AF65-F5344CB8AC3E}">
        <p14:creationId xmlns:p14="http://schemas.microsoft.com/office/powerpoint/2010/main" val="20749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 	خطّة إدارة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1452349" y="1542197"/>
            <a:ext cx="10515600" cy="5179278"/>
          </a:xfrm>
        </p:spPr>
        <p:txBody>
          <a:bodyPr>
            <a:normAutofit/>
          </a:bodyPr>
          <a:lstStyle/>
          <a:p>
            <a:pPr algn="just">
              <a:lnSpc>
                <a:spcPct val="100000"/>
              </a:lnSpc>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خطة إدارة أمن المعلومات هي عبارة عن وثيقة أو مجموعة من الوثائق مصادَق عليها من قبل الإدارة العليا في الجهة المعنية تتضمن السياسات والإجراءات والتعليمات الخاصة بأمن المعلومات في هذه الجهة.</a:t>
            </a:r>
          </a:p>
          <a:p>
            <a:pPr algn="just">
              <a:lnSpc>
                <a:spcPct val="100000"/>
              </a:lnSpc>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يتم إعداد خطة إدارة أمن المعلومات من قبل </a:t>
            </a:r>
            <a:r>
              <a:rPr lang="ar-SY" sz="3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فريق مؤهل يرأسه مسؤول من الإدارة العليا في الجهة. </a:t>
            </a:r>
          </a:p>
          <a:p>
            <a:pPr algn="just">
              <a:lnSpc>
                <a:spcPct val="100000"/>
              </a:lnSpc>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تتضمن خطة إدارة أمن المعلومات </a:t>
            </a:r>
            <a:r>
              <a:rPr lang="ar-SY" sz="3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مجموعة من سياسات أمن المعلومات في الجهة الحكومية،</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وذلك وفق أهمية المعلومات والبيانات أو الخدمات التي تقدمها، ووفقاً لتقدير المخاطر التي قد تتعرض لها منظوماتها.</a:t>
            </a:r>
          </a:p>
          <a:p>
            <a:pPr marL="0" indent="0">
              <a:lnSpc>
                <a:spcPct val="100000"/>
              </a:lnSpc>
              <a:buNone/>
            </a:pPr>
            <a:endParaRPr lang="en-US" sz="3200" dirty="0"/>
          </a:p>
        </p:txBody>
      </p:sp>
      <p:sp>
        <p:nvSpPr>
          <p:cNvPr id="4" name="Date Placeholder 3"/>
          <p:cNvSpPr>
            <a:spLocks noGrp="1"/>
          </p:cNvSpPr>
          <p:nvPr>
            <p:ph type="dt" sz="half" idx="10"/>
          </p:nvPr>
        </p:nvSpPr>
        <p:spPr/>
        <p:txBody>
          <a:bodyPr/>
          <a:lstStyle/>
          <a:p>
            <a:fld id="{3CA768D3-3DA8-4D60-932B-6D590D7DAD9B}"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12</a:t>
            </a:fld>
            <a:endParaRPr lang="en-US"/>
          </a:p>
        </p:txBody>
      </p:sp>
    </p:spTree>
    <p:extLst>
      <p:ext uri="{BB962C8B-B14F-4D97-AF65-F5344CB8AC3E}">
        <p14:creationId xmlns:p14="http://schemas.microsoft.com/office/powerpoint/2010/main" val="90436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sz="4400" dirty="0">
                <a:solidFill>
                  <a:srgbClr val="00B0F0"/>
                </a:solidFill>
                <a:latin typeface="Monotype Koufi" pitchFamily="2" charset="-78"/>
                <a:ea typeface="Monotype Koufi" pitchFamily="2" charset="-78"/>
                <a:cs typeface="Monotype Koufi" pitchFamily="2" charset="-78"/>
              </a:rPr>
              <a:t>خطّة إدارة أمن المعلومات</a:t>
            </a:r>
            <a:endParaRPr lang="en-US" dirty="0">
              <a:solidFill>
                <a:srgbClr val="00B0F0"/>
              </a:solidFill>
            </a:endParaRPr>
          </a:p>
        </p:txBody>
      </p:sp>
      <p:sp>
        <p:nvSpPr>
          <p:cNvPr id="3" name="Content Placeholder 2"/>
          <p:cNvSpPr>
            <a:spLocks noGrp="1"/>
          </p:cNvSpPr>
          <p:nvPr>
            <p:ph idx="1"/>
          </p:nvPr>
        </p:nvSpPr>
        <p:spPr>
          <a:xfrm>
            <a:off x="838200" y="1847849"/>
            <a:ext cx="11170692" cy="4873625"/>
          </a:xfrm>
        </p:spPr>
        <p:txBody>
          <a:bodyPr>
            <a:normAutofit/>
          </a:bodyPr>
          <a:lstStyle/>
          <a:p>
            <a:pPr algn="just"/>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تُعتبر خطة إدارة أمن المعلومات لدى الجهة غير ثابتة ويمكن تغييرها بتغير بيئة العمل أو بتغير طبيعة عمل الجهة أو الخدمات التي تقدمها.</a:t>
            </a:r>
          </a:p>
          <a:p>
            <a:pPr algn="just"/>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يتم نشر وتوزيع السياسات والتعليمات الخاصة بخطة إدارة أمن المعلومات على العاملين لدى الجهة والمتعاقدين معها.</a:t>
            </a:r>
          </a:p>
          <a:p>
            <a:pPr algn="just"/>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لإعداد خطة إدارة أمن المعلومات يُطلب من الجهة </a:t>
            </a:r>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تأهيل الفريق المكلَّف بإعداد خطة إدارة أمن المعلومات لديها تأهيلاً عالي المستوى بما يضمن تمكينه من وضع الخطة اللازمة.</a:t>
            </a:r>
          </a:p>
          <a:p>
            <a:pPr marL="0" indent="0">
              <a:buNone/>
            </a:pPr>
            <a:endParaRPr lang="en-US" sz="3600" dirty="0"/>
          </a:p>
        </p:txBody>
      </p:sp>
      <p:sp>
        <p:nvSpPr>
          <p:cNvPr id="4" name="Date Placeholder 3"/>
          <p:cNvSpPr>
            <a:spLocks noGrp="1"/>
          </p:cNvSpPr>
          <p:nvPr>
            <p:ph type="dt" sz="half" idx="10"/>
          </p:nvPr>
        </p:nvSpPr>
        <p:spPr/>
        <p:txBody>
          <a:bodyPr/>
          <a:lstStyle/>
          <a:p>
            <a:fld id="{666E601A-8B5C-4619-981A-344D097C1E27}"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13</a:t>
            </a:fld>
            <a:endParaRPr lang="en-US"/>
          </a:p>
        </p:txBody>
      </p:sp>
    </p:spTree>
    <p:extLst>
      <p:ext uri="{BB962C8B-B14F-4D97-AF65-F5344CB8AC3E}">
        <p14:creationId xmlns:p14="http://schemas.microsoft.com/office/powerpoint/2010/main" val="1985726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تقييم وإدارة المخاطر</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690688"/>
            <a:ext cx="11185478" cy="4873885"/>
          </a:xfrm>
        </p:spPr>
        <p:txBody>
          <a:bodyPr>
            <a:normAutofit/>
          </a:bodyPr>
          <a:lstStyle/>
          <a:p>
            <a:pPr marL="0" indent="0">
              <a:buNone/>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لتقييم وإدارة المخاطر المتعلّقة بأمن المعلومات في الجهات الحكومية، </a:t>
            </a:r>
            <a:r>
              <a:rPr lang="ar-SY" sz="40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تحديد وتقييم المخاطر الّتي قد تواجهها تلك الجهات، وتحليلها والتّعامل معها وتحديد الأكثر خطورةً منها على أمن المعلومات، </a:t>
            </a: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ووضع الحلول المناسبة لها، وذلك بما يتوافق مع أهمّية تلك المعلومات والبيانات واستمرارّية الخدمات، بحيث تكون هذه الحلول متوافقة مع سياسة ومعايير أمن المعلومات الوطنّية.</a:t>
            </a:r>
            <a:endParaRPr lang="en-US"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ar-SY" sz="4000" dirty="0"/>
          </a:p>
        </p:txBody>
      </p:sp>
      <p:sp>
        <p:nvSpPr>
          <p:cNvPr id="4" name="Date Placeholder 3"/>
          <p:cNvSpPr>
            <a:spLocks noGrp="1"/>
          </p:cNvSpPr>
          <p:nvPr>
            <p:ph type="dt" sz="half" idx="10"/>
          </p:nvPr>
        </p:nvSpPr>
        <p:spPr/>
        <p:txBody>
          <a:bodyPr/>
          <a:lstStyle/>
          <a:p>
            <a:fld id="{4D980217-5C95-4312-BE31-3D72258B81AE}"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14</a:t>
            </a:fld>
            <a:endParaRPr lang="en-US"/>
          </a:p>
        </p:txBody>
      </p:sp>
    </p:spTree>
    <p:extLst>
      <p:ext uri="{BB962C8B-B14F-4D97-AF65-F5344CB8AC3E}">
        <p14:creationId xmlns:p14="http://schemas.microsoft.com/office/powerpoint/2010/main" val="1457218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تقييم وإدارة المخاطر</a:t>
            </a:r>
            <a:endParaRPr lang="en-US" sz="4800" dirty="0">
              <a:solidFill>
                <a:srgbClr val="00B0F0"/>
              </a:solidFill>
            </a:endParaRPr>
          </a:p>
        </p:txBody>
      </p:sp>
      <p:sp>
        <p:nvSpPr>
          <p:cNvPr id="3" name="Content Placeholder 2"/>
          <p:cNvSpPr>
            <a:spLocks noGrp="1"/>
          </p:cNvSpPr>
          <p:nvPr>
            <p:ph idx="1"/>
          </p:nvPr>
        </p:nvSpPr>
        <p:spPr>
          <a:xfrm>
            <a:off x="1057157" y="1550504"/>
            <a:ext cx="10515600" cy="4716152"/>
          </a:xfrm>
        </p:spPr>
        <p:txBody>
          <a:bodyPr>
            <a:normAutofit/>
          </a:bodyPr>
          <a:lstStyle/>
          <a:p>
            <a:pPr algn="just">
              <a:lnSpc>
                <a:spcPct val="120000"/>
              </a:lnSpc>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يهدف تقييم المخاطر لجهة ما إلى تحديد التهديدات والمخاطر الناجمة عن هذه التهديدات، وتحديد مدى تأثير هذه المخاطر على عمل الجهة بشكل عام والأنظمة المعلوماتية بشكل خاص، وذلك بهدف تحديد أولوية وضع وتطبيق سياسات أمن المعلومات الخاصة بمواجهة هذه المخاطر.</a:t>
            </a:r>
          </a:p>
          <a:p>
            <a:pPr algn="just">
              <a:lnSpc>
                <a:spcPct val="120000"/>
              </a:lnSpc>
            </a:pPr>
            <a:r>
              <a:rPr lang="ar-SY" sz="3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أن تغطِّي سياسات أمن المعلومات الخاصة بالجهة، جميع المخاطر المحتمَلة وذلك بحسب الأولوية و بناءً على درجة الخطورة وأهداف الجهة والخدمات التي تقدمها والجدوى الاقتصادية من تطبيق هذه السياسات.</a:t>
            </a:r>
            <a:endParaRPr lang="en-US" sz="3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en-US" sz="3200" dirty="0"/>
          </a:p>
          <a:p>
            <a:endParaRPr lang="en-US" sz="3200" dirty="0"/>
          </a:p>
        </p:txBody>
      </p:sp>
      <p:sp>
        <p:nvSpPr>
          <p:cNvPr id="5" name="Date Placeholder 4"/>
          <p:cNvSpPr>
            <a:spLocks noGrp="1"/>
          </p:cNvSpPr>
          <p:nvPr>
            <p:ph type="dt" sz="half" idx="10"/>
          </p:nvPr>
        </p:nvSpPr>
        <p:spPr/>
        <p:txBody>
          <a:bodyPr/>
          <a:lstStyle/>
          <a:p>
            <a:fld id="{65DB71C7-7B26-450C-B004-090E7875F520}" type="datetime1">
              <a:rPr lang="en-US" smtClean="0"/>
              <a:t>2020-11-25</a:t>
            </a:fld>
            <a:endParaRPr lang="en-US"/>
          </a:p>
        </p:txBody>
      </p:sp>
      <p:sp>
        <p:nvSpPr>
          <p:cNvPr id="6" name="Slide Number Placeholder 5"/>
          <p:cNvSpPr>
            <a:spLocks noGrp="1"/>
          </p:cNvSpPr>
          <p:nvPr>
            <p:ph type="sldNum" sz="quarter" idx="12"/>
          </p:nvPr>
        </p:nvSpPr>
        <p:spPr/>
        <p:txBody>
          <a:bodyPr/>
          <a:lstStyle/>
          <a:p>
            <a:fld id="{1C2A39C6-515D-4F52-9A2D-612D5FCA91E3}" type="slidenum">
              <a:rPr lang="en-US" smtClean="0"/>
              <a:t>15</a:t>
            </a:fld>
            <a:endParaRPr lang="en-US"/>
          </a:p>
        </p:txBody>
      </p:sp>
    </p:spTree>
    <p:extLst>
      <p:ext uri="{BB962C8B-B14F-4D97-AF65-F5344CB8AC3E}">
        <p14:creationId xmlns:p14="http://schemas.microsoft.com/office/powerpoint/2010/main" val="199313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التهديدات الأساسية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199" y="1690688"/>
            <a:ext cx="11130887" cy="5167312"/>
          </a:xfrm>
        </p:spPr>
        <p:txBody>
          <a:bodyPr>
            <a:normAutofit/>
          </a:bodyPr>
          <a:lstStyle/>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كوارث طبيعية</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حوادث ضمن الأبنية</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توقف خدمات البنية التحتية</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مصادر اشعاعية</a:t>
            </a:r>
          </a:p>
          <a:p>
            <a:pPr>
              <a:lnSpc>
                <a:spcPct val="100000"/>
              </a:lnSpc>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أعطال فنية</a:t>
            </a:r>
          </a:p>
          <a:p>
            <a:pPr>
              <a:lnSpc>
                <a:spcPct val="100000"/>
              </a:lnSpc>
            </a:pPr>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هجمات </a:t>
            </a:r>
            <a:r>
              <a:rPr lang="ar-SY" sz="3600" dirty="0" err="1">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سيبرانية</a:t>
            </a:r>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خارجية</a:t>
            </a:r>
          </a:p>
          <a:p>
            <a:pPr>
              <a:lnSpc>
                <a:spcPct val="100000"/>
              </a:lnSpc>
            </a:pPr>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تهديدات ناتجة عن إساءة استخدام الموارد التقنية</a:t>
            </a:r>
          </a:p>
          <a:p>
            <a:pPr marL="0" indent="0">
              <a:lnSpc>
                <a:spcPct val="100000"/>
              </a:lnSpc>
              <a:buNone/>
            </a:pPr>
            <a:endParaRPr lang="en-US" sz="3600" dirty="0"/>
          </a:p>
        </p:txBody>
      </p:sp>
      <p:sp>
        <p:nvSpPr>
          <p:cNvPr id="4" name="Date Placeholder 3"/>
          <p:cNvSpPr>
            <a:spLocks noGrp="1"/>
          </p:cNvSpPr>
          <p:nvPr>
            <p:ph type="dt" sz="half" idx="10"/>
          </p:nvPr>
        </p:nvSpPr>
        <p:spPr/>
        <p:txBody>
          <a:bodyPr/>
          <a:lstStyle/>
          <a:p>
            <a:fld id="{622F3761-C9EE-43F4-98F5-94981841E01E}"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16</a:t>
            </a:fld>
            <a:endParaRPr lang="en-US"/>
          </a:p>
        </p:txBody>
      </p:sp>
    </p:spTree>
    <p:extLst>
      <p:ext uri="{BB962C8B-B14F-4D97-AF65-F5344CB8AC3E}">
        <p14:creationId xmlns:p14="http://schemas.microsoft.com/office/powerpoint/2010/main" val="242740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1"/>
            <a:r>
              <a:rPr lang="ar-SY" sz="4400" b="1" dirty="0">
                <a:solidFill>
                  <a:srgbClr val="00B0F0"/>
                </a:solidFill>
                <a:latin typeface="Monotype Koufi" pitchFamily="2" charset="-78"/>
                <a:ea typeface="Monotype Koufi" pitchFamily="2" charset="-78"/>
                <a:cs typeface="Monotype Koufi" pitchFamily="2" charset="-78"/>
              </a:rPr>
              <a:t>تنظيم أمن المعلومات</a:t>
            </a:r>
            <a:endParaRPr lang="en-US" sz="4400" b="1"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847849"/>
            <a:ext cx="11075158" cy="4873625"/>
          </a:xfrm>
        </p:spPr>
        <p:txBody>
          <a:bodyPr>
            <a:normAutofit/>
          </a:bodyPr>
          <a:lstStyle/>
          <a:p>
            <a:pPr marL="0" indent="0">
              <a:lnSpc>
                <a:spcPct val="150000"/>
              </a:lnSpc>
              <a:buNone/>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لتنفيذ خطّة أمن المعلومات، يجب أن تقوم الجهات الحكومية بوضع إطار عمل لإطلاق الخطة والتّحكم بآليات التنفيذ، وذلك من خلال فريق متخصص وبصلاحّيات معّرفة وواضحة ومدد زمنّية محّددة وتطويرها بشكل مستمر بما يشمل:</a:t>
            </a:r>
            <a:endParaRPr lang="en-US"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lnSpc>
                <a:spcPct val="150000"/>
              </a:lnSpc>
              <a:buNone/>
            </a:pPr>
            <a:endParaRPr lang="ar-SY" sz="4000" dirty="0"/>
          </a:p>
        </p:txBody>
      </p:sp>
      <p:sp>
        <p:nvSpPr>
          <p:cNvPr id="4" name="Date Placeholder 3"/>
          <p:cNvSpPr>
            <a:spLocks noGrp="1"/>
          </p:cNvSpPr>
          <p:nvPr>
            <p:ph type="dt" sz="half" idx="10"/>
          </p:nvPr>
        </p:nvSpPr>
        <p:spPr/>
        <p:txBody>
          <a:bodyPr/>
          <a:lstStyle/>
          <a:p>
            <a:fld id="{97127388-B94A-4E7D-A33B-8920D0A213CA}"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17</a:t>
            </a:fld>
            <a:endParaRPr lang="en-US"/>
          </a:p>
        </p:txBody>
      </p:sp>
    </p:spTree>
    <p:extLst>
      <p:ext uri="{BB962C8B-B14F-4D97-AF65-F5344CB8AC3E}">
        <p14:creationId xmlns:p14="http://schemas.microsoft.com/office/powerpoint/2010/main" val="25946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تنظيم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789251"/>
            <a:ext cx="10985310" cy="5010150"/>
          </a:xfrm>
        </p:spPr>
        <p:txBody>
          <a:bodyPr>
            <a:normAutofit/>
          </a:bodyPr>
          <a:lstStyle/>
          <a:p>
            <a:pPr algn="just"/>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تحديد فريق العمل المسؤول عن تنفيذ السياسة أو مجموعة السياسات ومراقبة التنفيذ</a:t>
            </a:r>
          </a:p>
          <a:p>
            <a:pPr marL="0" indent="0" algn="just">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واعداد تقارير عن حسن الالتزام للإدارة العليا.</a:t>
            </a:r>
          </a:p>
          <a:p>
            <a:pPr algn="just"/>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تحديد الجهات الّداخلية أو الجهات الخارجّية الملتزمين بتنفيذ السياسة.</a:t>
            </a:r>
          </a:p>
          <a:p>
            <a:pPr algn="just"/>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توضيح المهام والأدوار بين الأقسام الإدارية الّداخلّية بحيث لا تتعارض أو تتقاطع</a:t>
            </a:r>
          </a:p>
          <a:p>
            <a:pPr marL="0" indent="0" algn="just">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مهامها وبما يضمن تحديد الجهة المسؤولة عن عدم تنفيذ الّسياسة </a:t>
            </a:r>
          </a:p>
          <a:p>
            <a:pPr algn="just"/>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تحديد آلّية واضحة لإبلاغ المعنيين داخل أو خارج الجهة الحكومية عند حدوث أي</a:t>
            </a:r>
          </a:p>
          <a:p>
            <a:pPr marL="0" indent="0" algn="just">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طارئ يتعلّق بأمن المعلومات، كحدوث هجوم إلكتروني أو فقدان للخدمات أو المعلومات.</a:t>
            </a: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ar-SY" sz="32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18</a:t>
            </a:fld>
            <a:endParaRPr lang="en-US"/>
          </a:p>
        </p:txBody>
      </p:sp>
    </p:spTree>
    <p:extLst>
      <p:ext uri="{BB962C8B-B14F-4D97-AF65-F5344CB8AC3E}">
        <p14:creationId xmlns:p14="http://schemas.microsoft.com/office/powerpoint/2010/main" val="152992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سياسات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789251"/>
            <a:ext cx="10985310" cy="5010150"/>
          </a:xfrm>
        </p:spPr>
        <p:txBody>
          <a:bodyPr>
            <a:normAutofit/>
          </a:bodyPr>
          <a:lstStyle/>
          <a:p>
            <a:pPr marL="0" indent="0">
              <a:lnSpc>
                <a:spcPct val="110000"/>
              </a:lnSpc>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هي مجموعة من القواعد والضوابط والإجراءات التي تحكم وتنظم جميع ممارسات أمن المعلومات في الجهات وعلى كافة المستويات الإدارية والفنية.</a:t>
            </a:r>
          </a:p>
          <a:p>
            <a:pPr marL="0" indent="0">
              <a:lnSpc>
                <a:spcPct val="110000"/>
              </a:lnSpc>
              <a:buNone/>
            </a:pP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أن تتضمَّن كل سياسة من سياسات أمن المعلومات البيانات التالية على الأقل:</a:t>
            </a:r>
          </a:p>
          <a:p>
            <a:pPr marL="0" indent="0" algn="just">
              <a:lnSpc>
                <a:spcPct val="110000"/>
              </a:lnSpc>
              <a:buNone/>
            </a:pPr>
            <a:r>
              <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الهدف: </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على الفريق المكلَّف بوضع خطة إدارة أمن المعلومات وضع البيان العام والأهداف العامة لكل سياسة بحسب الغايات التي تم وضع هذه السياسة من أجلها.</a:t>
            </a:r>
          </a:p>
          <a:p>
            <a:pPr marL="0" indent="0" algn="just">
              <a:lnSpc>
                <a:spcPct val="110000"/>
              </a:lnSpc>
              <a:buNone/>
            </a:pPr>
            <a:r>
              <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نطاق السياسة: </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تحديد على من وأين وعلى ماذا سيتم تطبيق السياسة، ويشمل ذلك الإشارة إلى كافة الأطراف المعنية بالسياسة.</a:t>
            </a:r>
          </a:p>
          <a:p>
            <a:pPr marL="0" indent="0">
              <a:buNone/>
            </a:pPr>
            <a:endParaRPr lang="ar-SY" sz="32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19</a:t>
            </a:fld>
            <a:endParaRPr lang="en-US"/>
          </a:p>
        </p:txBody>
      </p:sp>
    </p:spTree>
    <p:extLst>
      <p:ext uri="{BB962C8B-B14F-4D97-AF65-F5344CB8AC3E}">
        <p14:creationId xmlns:p14="http://schemas.microsoft.com/office/powerpoint/2010/main" val="29092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سياسات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789251"/>
            <a:ext cx="10985310" cy="5010150"/>
          </a:xfrm>
        </p:spPr>
        <p:txBody>
          <a:bodyPr>
            <a:normAutofit/>
          </a:bodyPr>
          <a:lstStyle/>
          <a:p>
            <a:pPr marL="0" indent="0" algn="just">
              <a:buNone/>
            </a:pPr>
            <a:r>
              <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الجهة المسؤولة عن التنفيذ: </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الجهات التي سيُطلب منها تنفيذ كل سياسة من السياسات، حيث من الممكن أن تكون الجهة المنفذة للسياسة مستخدماً عادياً أو قسم المعلوماتية في الجهة أو أقساماً أخرى أو حتى أشخاصاً أو مؤسسات من خارج الجهة الحكومية.</a:t>
            </a:r>
          </a:p>
          <a:p>
            <a:pPr marL="0" indent="0" algn="just">
              <a:lnSpc>
                <a:spcPct val="120000"/>
              </a:lnSpc>
              <a:buNone/>
            </a:pPr>
            <a:r>
              <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الجهة المسؤولة عن مراقبة التنفيذ: </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يتوجب على الجهات العامة تحديد فريق أو شخص أو مديرية لمتابعة تنفيذ كل سياسة من سياسات أمن المعلومات والتأكد من مدى الالتزام بها.</a:t>
            </a:r>
          </a:p>
          <a:p>
            <a:pPr marL="0" indent="0" algn="just">
              <a:lnSpc>
                <a:spcPct val="120000"/>
              </a:lnSpc>
              <a:buNone/>
            </a:pPr>
            <a:r>
              <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ملحقات إجراءات التنفيذ:</a:t>
            </a:r>
            <a:r>
              <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هو دليل إجرائي تقني لكيفية تنفيذ السياسة.</a:t>
            </a:r>
          </a:p>
          <a:p>
            <a:pPr marL="0" indent="0">
              <a:buNone/>
            </a:pPr>
            <a:endParaRPr lang="ar-SY" sz="32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20</a:t>
            </a:fld>
            <a:endParaRPr lang="en-US"/>
          </a:p>
        </p:txBody>
      </p:sp>
    </p:spTree>
    <p:extLst>
      <p:ext uri="{BB962C8B-B14F-4D97-AF65-F5344CB8AC3E}">
        <p14:creationId xmlns:p14="http://schemas.microsoft.com/office/powerpoint/2010/main" val="270535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سياسات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789251"/>
            <a:ext cx="10985310" cy="5010150"/>
          </a:xfrm>
        </p:spPr>
        <p:txBody>
          <a:bodyPr>
            <a:normAutofit/>
          </a:bodyPr>
          <a:lstStyle/>
          <a:p>
            <a:pPr marL="0" indent="0" algn="just">
              <a:lnSpc>
                <a:spcPct val="120000"/>
              </a:lnSpc>
              <a:buNone/>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lgn="just">
              <a:lnSpc>
                <a:spcPct val="120000"/>
              </a:lnSpc>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بناءً على تقييم وإدارة المخاطر، يتم تحديد سياسات أمن المعلومات المطلوبة،</a:t>
            </a:r>
          </a:p>
          <a:p>
            <a:pPr marL="0" indent="0" algn="just">
              <a:lnSpc>
                <a:spcPct val="120000"/>
              </a:lnSpc>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توضّح اللوائح التنظيمية للسياسة الوطنية معايير كل سياسة من سياسات أمن المعلومات.</a:t>
            </a:r>
            <a:endParaRPr lang="ar-SY" sz="7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ar-SY" sz="36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21</a:t>
            </a:fld>
            <a:endParaRPr lang="en-US"/>
          </a:p>
        </p:txBody>
      </p:sp>
    </p:spTree>
    <p:extLst>
      <p:ext uri="{BB962C8B-B14F-4D97-AF65-F5344CB8AC3E}">
        <p14:creationId xmlns:p14="http://schemas.microsoft.com/office/powerpoint/2010/main" val="95010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سياسات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789251"/>
            <a:ext cx="10985310" cy="5010150"/>
          </a:xfrm>
        </p:spPr>
        <p:txBody>
          <a:bodyPr>
            <a:normAutofit/>
          </a:bodyPr>
          <a:lstStyle/>
          <a:p>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إدارة التحكم بالنفاذ واستخدام الأصول المعلوماتية.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تصنيف المعلومات واستخدامها.</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تطوير نظم المعلومات والتطبيقات وصيانتها.</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النسخ الاحتياطي.</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أمن الشبكات.</a:t>
            </a:r>
          </a:p>
          <a:p>
            <a:pPr marL="0" indent="0">
              <a:buNone/>
            </a:pPr>
            <a:endParaRPr lang="ar-SY" sz="36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22</a:t>
            </a:fld>
            <a:endParaRPr lang="en-US"/>
          </a:p>
        </p:txBody>
      </p:sp>
    </p:spTree>
    <p:extLst>
      <p:ext uri="{BB962C8B-B14F-4D97-AF65-F5344CB8AC3E}">
        <p14:creationId xmlns:p14="http://schemas.microsoft.com/office/powerpoint/2010/main" val="395879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b="1" dirty="0">
                <a:solidFill>
                  <a:srgbClr val="00B0F0"/>
                </a:solidFill>
                <a:latin typeface="Monotype Koufi" pitchFamily="2" charset="-78"/>
                <a:ea typeface="Monotype Koufi" pitchFamily="2" charset="-78"/>
                <a:cs typeface="Monotype Koufi" pitchFamily="2" charset="-78"/>
              </a:rPr>
              <a:t>سياسات أمن المعلومات</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789251"/>
            <a:ext cx="10985310" cy="5010150"/>
          </a:xfrm>
        </p:spPr>
        <p:txBody>
          <a:bodyPr>
            <a:normAutofit/>
          </a:bodyPr>
          <a:lstStyle/>
          <a:p>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الأمن الفيزيائي وأمن البيئة المحيطة بالأصول المعلوماتية.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الحماية من البرامج الخبيثة.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التعامل مع شبكة الانترنت ومواقع التواصل الاجتماعي.</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استخدام وإدارة الأصول المعلوماتية.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سياسة التشفير.</a:t>
            </a:r>
          </a:p>
          <a:p>
            <a:pPr marL="0" indent="0">
              <a:buNone/>
            </a:pPr>
            <a:endParaRPr lang="ar-SY" sz="36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23</a:t>
            </a:fld>
            <a:endParaRPr lang="en-US"/>
          </a:p>
        </p:txBody>
      </p:sp>
    </p:spTree>
    <p:extLst>
      <p:ext uri="{BB962C8B-B14F-4D97-AF65-F5344CB8AC3E}">
        <p14:creationId xmlns:p14="http://schemas.microsoft.com/office/powerpoint/2010/main" val="327461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dirty="0">
                <a:solidFill>
                  <a:srgbClr val="00B0F0"/>
                </a:solidFill>
                <a:latin typeface="Monotype Koufi" pitchFamily="2" charset="-78"/>
                <a:ea typeface="Monotype Koufi" pitchFamily="2" charset="-78"/>
                <a:cs typeface="Monotype Koufi" pitchFamily="2" charset="-78"/>
              </a:rPr>
              <a:t>سياسة تصنيف الأصول المعلوماتية والمعلومات </a:t>
            </a:r>
          </a:p>
        </p:txBody>
      </p:sp>
      <p:sp>
        <p:nvSpPr>
          <p:cNvPr id="3" name="Content Placeholder 2"/>
          <p:cNvSpPr>
            <a:spLocks noGrp="1"/>
          </p:cNvSpPr>
          <p:nvPr>
            <p:ph idx="1"/>
          </p:nvPr>
        </p:nvSpPr>
        <p:spPr>
          <a:xfrm>
            <a:off x="838200" y="1789251"/>
            <a:ext cx="10985310" cy="5010150"/>
          </a:xfrm>
        </p:spPr>
        <p:txBody>
          <a:bodyPr>
            <a:normAutofit/>
          </a:bodyPr>
          <a:lstStyle/>
          <a:p>
            <a:pPr marL="0" indent="0">
              <a:buNone/>
            </a:pPr>
            <a:r>
              <a:rPr lang="ar-SY" sz="36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معلومات السياسة </a:t>
            </a:r>
          </a:p>
          <a:p>
            <a:pPr marL="0" indent="0">
              <a:buNone/>
            </a:pP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الهدف، نطاق السياسة، إطار عمل التنفيذ، الجهة المسؤولة عن التنفيذ، الجهة المسؤولة عن مراقبة التنفيذ.</a:t>
            </a: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lgn="just">
              <a:buNone/>
            </a:pPr>
            <a:r>
              <a:rPr lang="ar-SY" sz="36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أن تتضمن هذه السياسة: </a:t>
            </a:r>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ضوابطاً وتوجيهات تتعلق بإدارة الأصول المعلوماتية والمعلومات في الجهة، من حيث التعامل مع هذه المعلومات والبيانات بحسب درجة ومستوى تصنيفها وغير ذلك مما يمكن أن تراه الجهة ضرورياً.</a:t>
            </a: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marL="0" indent="0">
              <a:buNone/>
            </a:pPr>
            <a:endParaRPr lang="ar-SY" sz="3600" dirty="0"/>
          </a:p>
        </p:txBody>
      </p:sp>
      <p:sp>
        <p:nvSpPr>
          <p:cNvPr id="4" name="Date Placeholder 3"/>
          <p:cNvSpPr>
            <a:spLocks noGrp="1"/>
          </p:cNvSpPr>
          <p:nvPr>
            <p:ph type="dt" sz="half" idx="10"/>
          </p:nvPr>
        </p:nvSpPr>
        <p:spPr/>
        <p:txBody>
          <a:bodyPr/>
          <a:lstStyle/>
          <a:p>
            <a:fld id="{2F74E3F1-F333-4503-8CBB-5EF73FABA330}"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24</a:t>
            </a:fld>
            <a:endParaRPr lang="en-US"/>
          </a:p>
        </p:txBody>
      </p:sp>
    </p:spTree>
    <p:extLst>
      <p:ext uri="{BB962C8B-B14F-4D97-AF65-F5344CB8AC3E}">
        <p14:creationId xmlns:p14="http://schemas.microsoft.com/office/powerpoint/2010/main" val="416060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السياسة الوطنية للتشفير</a:t>
            </a:r>
            <a:endParaRPr lang="en-US" dirty="0"/>
          </a:p>
        </p:txBody>
      </p:sp>
      <p:sp>
        <p:nvSpPr>
          <p:cNvPr id="3" name="Content Placeholder 2"/>
          <p:cNvSpPr>
            <a:spLocks noGrp="1"/>
          </p:cNvSpPr>
          <p:nvPr>
            <p:ph idx="1"/>
          </p:nvPr>
        </p:nvSpPr>
        <p:spPr>
          <a:xfrm>
            <a:off x="636104" y="1519311"/>
            <a:ext cx="11128266" cy="5202164"/>
          </a:xfrm>
        </p:spPr>
        <p:txBody>
          <a:bodyPr>
            <a:noAutofit/>
          </a:bodyPr>
          <a:lstStyle/>
          <a:p>
            <a:pPr marL="0" indent="0">
              <a:buNone/>
            </a:pPr>
            <a:endParaRPr lang="en-US"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المرجع والمنهج الأساسي على المستوى الوطني لوضع سياسات حماية وتشفير البيانات الحكومية.</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القواعد الأساسية للتعامل مع البيانات الحكومية خلال عمليات النقل والحفظ والاستخدام.</a:t>
            </a:r>
          </a:p>
          <a:p>
            <a:r>
              <a:rPr lang="ar-SY" sz="36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تم إعداد هذه السياسة بناءً على السياسة الوطنية لأمن المعلومات واللوائح التنظيمية الخاصة بها الصادرة في العام 2014.</a:t>
            </a:r>
          </a:p>
          <a:p>
            <a:r>
              <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كتاب رئاسة الوزراء رقم  18243 لعام 2019.</a:t>
            </a:r>
          </a:p>
        </p:txBody>
      </p:sp>
      <p:sp>
        <p:nvSpPr>
          <p:cNvPr id="4" name="Date Placeholder 3"/>
          <p:cNvSpPr>
            <a:spLocks noGrp="1"/>
          </p:cNvSpPr>
          <p:nvPr>
            <p:ph type="dt" sz="half" idx="10"/>
          </p:nvPr>
        </p:nvSpPr>
        <p:spPr/>
        <p:txBody>
          <a:bodyPr/>
          <a:lstStyle/>
          <a:p>
            <a:fld id="{C7E102AF-0850-4833-AE31-4838F9725858}"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25</a:t>
            </a:fld>
            <a:endParaRPr lang="en-US"/>
          </a:p>
        </p:txBody>
      </p:sp>
    </p:spTree>
    <p:extLst>
      <p:ext uri="{BB962C8B-B14F-4D97-AF65-F5344CB8AC3E}">
        <p14:creationId xmlns:p14="http://schemas.microsoft.com/office/powerpoint/2010/main" val="346305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أهداف</a:t>
            </a:r>
            <a:r>
              <a:rPr lang="ar-SY" dirty="0"/>
              <a:t> </a:t>
            </a:r>
            <a:r>
              <a:rPr lang="ar-SY" dirty="0">
                <a:solidFill>
                  <a:srgbClr val="00B0F0"/>
                </a:solidFill>
                <a:latin typeface="Monotype Koufi" pitchFamily="2" charset="-78"/>
                <a:ea typeface="Monotype Koufi" pitchFamily="2" charset="-78"/>
                <a:cs typeface="Monotype Koufi" pitchFamily="2" charset="-78"/>
              </a:rPr>
              <a:t>السياسة</a:t>
            </a:r>
            <a:endParaRPr lang="en-US" dirty="0">
              <a:solidFill>
                <a:srgbClr val="00B0F0"/>
              </a:solidFill>
              <a:latin typeface="Monotype Koufi" pitchFamily="2" charset="-78"/>
              <a:ea typeface="Monotype Koufi" pitchFamily="2" charset="-78"/>
              <a:cs typeface="Monotype Koufi" pitchFamily="2" charset="-78"/>
            </a:endParaRPr>
          </a:p>
        </p:txBody>
      </p:sp>
      <p:sp>
        <p:nvSpPr>
          <p:cNvPr id="3" name="Content Placeholder 2"/>
          <p:cNvSpPr>
            <a:spLocks noGrp="1"/>
          </p:cNvSpPr>
          <p:nvPr>
            <p:ph idx="1"/>
          </p:nvPr>
        </p:nvSpPr>
        <p:spPr>
          <a:xfrm>
            <a:off x="838200" y="1519311"/>
            <a:ext cx="10926170" cy="5202164"/>
          </a:xfrm>
        </p:spPr>
        <p:txBody>
          <a:bodyPr>
            <a:normAutofit/>
          </a:bodyPr>
          <a:lstStyle/>
          <a:p>
            <a:pPr marL="0" indent="0">
              <a:lnSpc>
                <a:spcPct val="100000"/>
              </a:lnSpc>
              <a:buNone/>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إن الغاية من وضع المنهج العام لسياسة التشفير الوطنية هو </a:t>
            </a:r>
            <a:r>
              <a:rPr lang="ar-SY"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وضع مرجعية علمية وفنية لجميع الجهات الحكومية في الجمهورية العربية السورية أثناء إعداد سياسة التشفير الخاصة بهم</a:t>
            </a: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وذلك بهدف حماية معلوماتهم وفقاً لدرجة تصنيفها، من خلال تحديد الضوابط المتعلقة باستخدام التشفير في إدارة وتبادل وحفظ المعلومات الإلكترونية الحكومية.</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371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نطاق</a:t>
            </a:r>
            <a:r>
              <a:rPr lang="ar-SY" dirty="0"/>
              <a:t> </a:t>
            </a:r>
            <a:r>
              <a:rPr lang="ar-SY" dirty="0">
                <a:solidFill>
                  <a:srgbClr val="00B0F0"/>
                </a:solidFill>
                <a:latin typeface="Monotype Koufi" pitchFamily="2" charset="-78"/>
                <a:ea typeface="Monotype Koufi" pitchFamily="2" charset="-78"/>
                <a:cs typeface="Monotype Koufi" pitchFamily="2" charset="-78"/>
              </a:rPr>
              <a:t>التطبيق</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519311"/>
            <a:ext cx="10926170" cy="5202164"/>
          </a:xfrm>
        </p:spPr>
        <p:txBody>
          <a:bodyPr>
            <a:normAutofit/>
          </a:bodyPr>
          <a:lstStyle/>
          <a:p>
            <a:pPr marL="0" indent="0">
              <a:lnSpc>
                <a:spcPct val="100000"/>
              </a:lnSpc>
              <a:buNone/>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تُطبّق هذه السياسة على</a:t>
            </a:r>
            <a:r>
              <a:rPr lang="en-US"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a:t>
            </a:r>
            <a:r>
              <a:rPr lang="ar-SY"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كافة الجهات العامة</a:t>
            </a: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ما عدا وزارة الدفاع والجهات التابعة لها، ورئاسة</a:t>
            </a:r>
            <a:r>
              <a:rPr lang="en-US"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a:t>
            </a: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الجمهورية العربية السورية نظرا لخصوصيتهم.</a:t>
            </a:r>
          </a:p>
          <a:p>
            <a:pPr marL="0" indent="0">
              <a:lnSpc>
                <a:spcPct val="100000"/>
              </a:lnSpc>
              <a:buNone/>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ولكن يتم تطبيق هذه السياسة على وزارة الدفاع والجهات التابعة لها، ورئاسة الجمهورية عند تبادلها المعلومات مع الجهات العامة الأخرى.</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9559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نطاق</a:t>
            </a:r>
            <a:r>
              <a:rPr lang="ar-SY" dirty="0"/>
              <a:t> </a:t>
            </a:r>
            <a:r>
              <a:rPr lang="ar-SY" dirty="0">
                <a:solidFill>
                  <a:srgbClr val="00B0F0"/>
                </a:solidFill>
                <a:latin typeface="Monotype Koufi" pitchFamily="2" charset="-78"/>
                <a:ea typeface="Monotype Koufi" pitchFamily="2" charset="-78"/>
                <a:cs typeface="Monotype Koufi" pitchFamily="2" charset="-78"/>
              </a:rPr>
              <a:t>التطبيق</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519311"/>
            <a:ext cx="10926170" cy="5202164"/>
          </a:xfrm>
        </p:spPr>
        <p:txBody>
          <a:bodyPr>
            <a:normAutofit lnSpcReduction="10000"/>
          </a:bodyPr>
          <a:lstStyle/>
          <a:p>
            <a:pPr marL="0" indent="0">
              <a:lnSpc>
                <a:spcPct val="150000"/>
              </a:lnSpc>
              <a:buNone/>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تطبق هذه السياسة على الأصول المعلوماتية للجهات ومستخدميها، ونظم المعلومات المتبادلة بين:</a:t>
            </a:r>
          </a:p>
          <a:p>
            <a:pPr>
              <a:lnSpc>
                <a:spcPct val="150000"/>
              </a:lnSpc>
              <a:buFont typeface="Wingdings" panose="05000000000000000000" pitchFamily="2" charset="2"/>
              <a:buChar char="v"/>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حكومة – حكومة </a:t>
            </a:r>
            <a:r>
              <a:rPr lang="en-US"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G2G</a:t>
            </a:r>
          </a:p>
          <a:p>
            <a:pPr>
              <a:lnSpc>
                <a:spcPct val="150000"/>
              </a:lnSpc>
              <a:buFont typeface="Wingdings" panose="05000000000000000000" pitchFamily="2" charset="2"/>
              <a:buChar char="v"/>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حكومة – قطاع أعمال </a:t>
            </a:r>
            <a:r>
              <a:rPr lang="en-US"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G2B</a:t>
            </a:r>
          </a:p>
          <a:p>
            <a:pPr>
              <a:lnSpc>
                <a:spcPct val="150000"/>
              </a:lnSpc>
              <a:buFont typeface="Wingdings" panose="05000000000000000000" pitchFamily="2" charset="2"/>
              <a:buChar char="v"/>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حكومة – مواطن </a:t>
            </a:r>
            <a:r>
              <a:rPr lang="en-US"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G2C</a:t>
            </a:r>
          </a:p>
          <a:p>
            <a:pPr marL="0" indent="0">
              <a:lnSpc>
                <a:spcPct val="150000"/>
              </a:lnSpc>
              <a:buNone/>
            </a:pPr>
            <a:endPar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620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متطلبات</a:t>
            </a:r>
            <a:r>
              <a:rPr lang="ar-SY" dirty="0"/>
              <a:t> </a:t>
            </a:r>
            <a:r>
              <a:rPr lang="ar-SY" dirty="0">
                <a:solidFill>
                  <a:srgbClr val="00B0F0"/>
                </a:solidFill>
                <a:latin typeface="Monotype Koufi" pitchFamily="2" charset="-78"/>
                <a:ea typeface="Monotype Koufi" pitchFamily="2" charset="-78"/>
                <a:cs typeface="Monotype Koufi" pitchFamily="2" charset="-78"/>
              </a:rPr>
              <a:t>السياسة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64974"/>
            <a:ext cx="10926170" cy="5356501"/>
          </a:xfrm>
        </p:spPr>
        <p:txBody>
          <a:bodyPr>
            <a:normAutofit/>
          </a:bodyPr>
          <a:lstStyle/>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الالتزام بالحد الأدنى من خوارزميات التشفير وأطوال المفاتيح المستخدمة وفقاً لهذه السياسة.</a:t>
            </a:r>
          </a:p>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إعادة إنتاج نفس النص الصريح باستخدام البرنامج أو الجهاز المستخدم لإنتاج النص المشفَّر من النص الصريح المحدد.</a:t>
            </a:r>
          </a:p>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تخزين معلومات النص الصريح من قبل الجهة بما يتناسب مع الضوابط والنواظم الخاصة بحفظ الوثائق الإلكترونية، مع الأخذ بعين الاعتبار أحكام القوانين في الجمهورية العربية السورية.</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574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إطار</a:t>
            </a:r>
            <a:r>
              <a:rPr lang="ar-SY" dirty="0"/>
              <a:t> </a:t>
            </a:r>
            <a:r>
              <a:rPr lang="ar-SY" dirty="0">
                <a:solidFill>
                  <a:srgbClr val="00B0F0"/>
                </a:solidFill>
                <a:latin typeface="Monotype Koufi" pitchFamily="2" charset="-78"/>
                <a:ea typeface="Monotype Koufi" pitchFamily="2" charset="-78"/>
                <a:cs typeface="Monotype Koufi" pitchFamily="2" charset="-78"/>
              </a:rPr>
              <a:t>عمل</a:t>
            </a:r>
            <a:r>
              <a:rPr lang="ar-SY" dirty="0"/>
              <a:t> </a:t>
            </a:r>
            <a:r>
              <a:rPr lang="ar-SY" dirty="0">
                <a:solidFill>
                  <a:srgbClr val="00B0F0"/>
                </a:solidFill>
                <a:latin typeface="Monotype Koufi" pitchFamily="2" charset="-78"/>
                <a:ea typeface="Monotype Koufi" pitchFamily="2" charset="-78"/>
                <a:cs typeface="Monotype Koufi" pitchFamily="2" charset="-78"/>
              </a:rPr>
              <a:t>التطبيق</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64974"/>
            <a:ext cx="10926170" cy="5356501"/>
          </a:xfrm>
        </p:spPr>
        <p:txBody>
          <a:bodyPr>
            <a:normAutofit fontScale="92500"/>
          </a:bodyPr>
          <a:lstStyle/>
          <a:p>
            <a:pPr marL="0" indent="0">
              <a:buNone/>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يقع على عاتق الجهة العامة مسؤولية تصنيف المعلومات التي تملكها وفقاً لأهميتها وبما يتوافق مع هذه السياسة، حيث تُصنف المعلومات حسب مستوى الحساسية إلى أربعة مستويات:</a:t>
            </a:r>
          </a:p>
          <a:p>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مستوى تصنيف </a:t>
            </a:r>
            <a:r>
              <a:rPr lang="ar-SY"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عادي</a:t>
            </a:r>
          </a:p>
          <a:p>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مستوى تصنيف </a:t>
            </a:r>
            <a:r>
              <a:rPr lang="ar-SY"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مقيَّد</a:t>
            </a:r>
          </a:p>
          <a:p>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مستوى تصنيف </a:t>
            </a:r>
            <a:r>
              <a:rPr lang="ar-SY"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سرِّي</a:t>
            </a:r>
          </a:p>
          <a:p>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مستوى تصنيف </a:t>
            </a:r>
            <a:r>
              <a:rPr lang="ar-SY" sz="44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سرِّي للغاية</a:t>
            </a:r>
          </a:p>
          <a:p>
            <a:pPr marL="0" indent="0">
              <a:buNone/>
            </a:pPr>
            <a:r>
              <a:rPr lang="ar-SY" sz="44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أيّ معلومات لم يتم تصنيفها ستُصنّف تلقائياً بـ "التصنيف المقيَّد"</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207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تصنيف المعلومات</a:t>
            </a:r>
            <a:endParaRPr lang="en-US" dirty="0">
              <a:solidFill>
                <a:srgbClr val="00B0F0"/>
              </a:solidFill>
              <a:ea typeface="Monotype Koufi" pitchFamily="2" charset="-78"/>
              <a:cs typeface="Monotype Koufi" pitchFamily="2" charset="-78"/>
            </a:endParaRPr>
          </a:p>
        </p:txBody>
      </p:sp>
      <p:graphicFrame>
        <p:nvGraphicFramePr>
          <p:cNvPr id="5" name="Table 6">
            <a:extLst>
              <a:ext uri="{FF2B5EF4-FFF2-40B4-BE49-F238E27FC236}">
                <a16:creationId xmlns:a16="http://schemas.microsoft.com/office/drawing/2014/main" id="{6C902ED7-802A-4D5C-9382-BCC0AE61D98F}"/>
              </a:ext>
            </a:extLst>
          </p:cNvPr>
          <p:cNvGraphicFramePr>
            <a:graphicFrameLocks noGrp="1"/>
          </p:cNvGraphicFramePr>
          <p:nvPr>
            <p:ph idx="1"/>
            <p:extLst>
              <p:ext uri="{D42A27DB-BD31-4B8C-83A1-F6EECF244321}">
                <p14:modId xmlns:p14="http://schemas.microsoft.com/office/powerpoint/2010/main" val="1617238057"/>
              </p:ext>
            </p:extLst>
          </p:nvPr>
        </p:nvGraphicFramePr>
        <p:xfrm>
          <a:off x="838199" y="1825624"/>
          <a:ext cx="10823712" cy="4349890"/>
        </p:xfrm>
        <a:graphic>
          <a:graphicData uri="http://schemas.openxmlformats.org/drawingml/2006/table">
            <a:tbl>
              <a:tblPr rtl="1" firstRow="1" bandRow="1">
                <a:tableStyleId>{B301B821-A1FF-4177-AEE7-76D212191A09}</a:tableStyleId>
              </a:tblPr>
              <a:tblGrid>
                <a:gridCol w="2705928">
                  <a:extLst>
                    <a:ext uri="{9D8B030D-6E8A-4147-A177-3AD203B41FA5}">
                      <a16:colId xmlns:a16="http://schemas.microsoft.com/office/drawing/2014/main" val="947667972"/>
                    </a:ext>
                  </a:extLst>
                </a:gridCol>
                <a:gridCol w="2705928">
                  <a:extLst>
                    <a:ext uri="{9D8B030D-6E8A-4147-A177-3AD203B41FA5}">
                      <a16:colId xmlns:a16="http://schemas.microsoft.com/office/drawing/2014/main" val="2052346643"/>
                    </a:ext>
                  </a:extLst>
                </a:gridCol>
                <a:gridCol w="2705928">
                  <a:extLst>
                    <a:ext uri="{9D8B030D-6E8A-4147-A177-3AD203B41FA5}">
                      <a16:colId xmlns:a16="http://schemas.microsoft.com/office/drawing/2014/main" val="4179438928"/>
                    </a:ext>
                  </a:extLst>
                </a:gridCol>
                <a:gridCol w="2705928">
                  <a:extLst>
                    <a:ext uri="{9D8B030D-6E8A-4147-A177-3AD203B41FA5}">
                      <a16:colId xmlns:a16="http://schemas.microsoft.com/office/drawing/2014/main" val="529175658"/>
                    </a:ext>
                  </a:extLst>
                </a:gridCol>
              </a:tblGrid>
              <a:tr h="869978">
                <a:tc>
                  <a:txBody>
                    <a:bodyPr/>
                    <a:lstStyle/>
                    <a:p>
                      <a:pPr algn="ctr" rtl="1"/>
                      <a:r>
                        <a:rPr lang="ar-SY" sz="2800" dirty="0"/>
                        <a:t>التصنيف</a:t>
                      </a:r>
                      <a:endParaRPr lang="en-US" sz="2800" dirty="0"/>
                    </a:p>
                  </a:txBody>
                  <a:tcPr anchor="ctr"/>
                </a:tc>
                <a:tc>
                  <a:txBody>
                    <a:bodyPr/>
                    <a:lstStyle/>
                    <a:p>
                      <a:pPr algn="ctr" rtl="1"/>
                      <a:r>
                        <a:rPr lang="ar-SY" sz="2800" dirty="0"/>
                        <a:t>حفظ المعلومات</a:t>
                      </a:r>
                      <a:endParaRPr lang="en-US" sz="2800" dirty="0"/>
                    </a:p>
                  </a:txBody>
                  <a:tcPr anchor="ctr"/>
                </a:tc>
                <a:tc>
                  <a:txBody>
                    <a:bodyPr/>
                    <a:lstStyle/>
                    <a:p>
                      <a:pPr algn="ctr" rtl="1"/>
                      <a:r>
                        <a:rPr lang="ar-SY" sz="2800" dirty="0"/>
                        <a:t>تبادل المعلومات</a:t>
                      </a:r>
                      <a:endParaRPr lang="en-US" sz="2800" dirty="0"/>
                    </a:p>
                  </a:txBody>
                  <a:tcPr anchor="ctr"/>
                </a:tc>
                <a:tc>
                  <a:txBody>
                    <a:bodyPr/>
                    <a:lstStyle/>
                    <a:p>
                      <a:pPr algn="ctr" rtl="1"/>
                      <a:r>
                        <a:rPr lang="ar-SY" sz="2800" dirty="0"/>
                        <a:t>إتلاف المعلومات</a:t>
                      </a:r>
                      <a:endParaRPr lang="en-US" sz="2800" dirty="0"/>
                    </a:p>
                  </a:txBody>
                  <a:tcPr anchor="ctr"/>
                </a:tc>
                <a:extLst>
                  <a:ext uri="{0D108BD9-81ED-4DB2-BD59-A6C34878D82A}">
                    <a16:rowId xmlns:a16="http://schemas.microsoft.com/office/drawing/2014/main" val="2800006567"/>
                  </a:ext>
                </a:extLst>
              </a:tr>
              <a:tr h="869978">
                <a:tc>
                  <a:txBody>
                    <a:bodyPr/>
                    <a:lstStyle/>
                    <a:p>
                      <a:pPr marL="0" indent="0" algn="ctr" rtl="1">
                        <a:buFont typeface="Arial" panose="020B0604020202020204" pitchFamily="34" charset="0"/>
                        <a:buNone/>
                      </a:pPr>
                      <a:r>
                        <a:rPr lang="ar-SY" sz="2800" b="1" dirty="0">
                          <a:solidFill>
                            <a:srgbClr val="FF0000"/>
                          </a:solidFill>
                        </a:rPr>
                        <a:t>العادي</a:t>
                      </a:r>
                      <a:endParaRPr lang="en-US" sz="2800" b="1" dirty="0">
                        <a:solidFill>
                          <a:srgbClr val="FF0000"/>
                        </a:solidFill>
                      </a:endParaRPr>
                    </a:p>
                  </a:txBody>
                  <a:tcPr anchor="ctr"/>
                </a:tc>
                <a:tc>
                  <a:txBody>
                    <a:bodyPr/>
                    <a:lstStyle/>
                    <a:p>
                      <a:pPr marL="0" indent="0" algn="ctr" rtl="1">
                        <a:buFont typeface="Arial" panose="020B0604020202020204" pitchFamily="34" charset="0"/>
                        <a:buNone/>
                      </a:pPr>
                      <a:r>
                        <a:rPr lang="ar-SY" sz="2800" dirty="0"/>
                        <a:t>غير مشفَّر</a:t>
                      </a:r>
                      <a:endParaRPr lang="en-US" sz="280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Y" sz="2800" dirty="0"/>
                        <a:t>غير مشفَّر</a:t>
                      </a:r>
                      <a:endParaRPr lang="en-US" sz="2800" dirty="0"/>
                    </a:p>
                  </a:txBody>
                  <a:tcPr anchor="ctr"/>
                </a:tc>
                <a:tc>
                  <a:txBody>
                    <a:bodyPr/>
                    <a:lstStyle/>
                    <a:p>
                      <a:pPr marL="0" indent="0" algn="ctr" rtl="1">
                        <a:buFont typeface="Arial" panose="020B0604020202020204" pitchFamily="34" charset="0"/>
                        <a:buNone/>
                      </a:pPr>
                      <a:r>
                        <a:rPr lang="ar-SY" sz="2800" dirty="0"/>
                        <a:t>حذف</a:t>
                      </a:r>
                      <a:endParaRPr lang="en-US" sz="2800" dirty="0"/>
                    </a:p>
                  </a:txBody>
                  <a:tcPr anchor="ctr"/>
                </a:tc>
                <a:extLst>
                  <a:ext uri="{0D108BD9-81ED-4DB2-BD59-A6C34878D82A}">
                    <a16:rowId xmlns:a16="http://schemas.microsoft.com/office/drawing/2014/main" val="2837500685"/>
                  </a:ext>
                </a:extLst>
              </a:tr>
              <a:tr h="869978">
                <a:tc>
                  <a:txBody>
                    <a:bodyPr/>
                    <a:lstStyle/>
                    <a:p>
                      <a:pPr marL="0" indent="0" algn="ctr" rtl="1">
                        <a:buFont typeface="Arial" panose="020B0604020202020204" pitchFamily="34" charset="0"/>
                        <a:buNone/>
                      </a:pPr>
                      <a:r>
                        <a:rPr lang="ar-SY" sz="2800" b="1" dirty="0">
                          <a:solidFill>
                            <a:srgbClr val="FF0000"/>
                          </a:solidFill>
                        </a:rPr>
                        <a:t>المقيَّد</a:t>
                      </a:r>
                      <a:endParaRPr lang="en-US" sz="2800" b="1" dirty="0">
                        <a:solidFill>
                          <a:srgbClr val="FF0000"/>
                        </a:solidFill>
                      </a:endParaRPr>
                    </a:p>
                  </a:txBody>
                  <a:tcPr anchor="ctr"/>
                </a:tc>
                <a:tc>
                  <a:txBody>
                    <a:bodyPr/>
                    <a:lstStyle/>
                    <a:p>
                      <a:pPr marL="0" indent="0" algn="ctr" rtl="1">
                        <a:buFont typeface="Arial" panose="020B0604020202020204" pitchFamily="34" charset="0"/>
                        <a:buNone/>
                      </a:pPr>
                      <a:r>
                        <a:rPr lang="ar-SY" sz="2800" dirty="0"/>
                        <a:t>إجراءات تحكُّم</a:t>
                      </a:r>
                      <a:endParaRPr lang="en-US" sz="280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Y" sz="2800" dirty="0"/>
                        <a:t>مشفَّر أو غير مشفَّر</a:t>
                      </a:r>
                      <a:endParaRPr lang="en-US" sz="2800" dirty="0"/>
                    </a:p>
                  </a:txBody>
                  <a:tcPr anchor="ctr"/>
                </a:tc>
                <a:tc>
                  <a:txBody>
                    <a:bodyPr/>
                    <a:lstStyle/>
                    <a:p>
                      <a:pPr marL="0" indent="0" algn="ctr" rtl="1">
                        <a:buFont typeface="Arial" panose="020B0604020202020204" pitchFamily="34" charset="0"/>
                        <a:buNone/>
                      </a:pPr>
                      <a:r>
                        <a:rPr lang="ar-SY" sz="2800" dirty="0"/>
                        <a:t>تهيئة</a:t>
                      </a:r>
                      <a:endParaRPr lang="en-US" sz="2800" dirty="0"/>
                    </a:p>
                  </a:txBody>
                  <a:tcPr anchor="ctr"/>
                </a:tc>
                <a:extLst>
                  <a:ext uri="{0D108BD9-81ED-4DB2-BD59-A6C34878D82A}">
                    <a16:rowId xmlns:a16="http://schemas.microsoft.com/office/drawing/2014/main" val="2207138553"/>
                  </a:ext>
                </a:extLst>
              </a:tr>
              <a:tr h="869978">
                <a:tc>
                  <a:txBody>
                    <a:bodyPr/>
                    <a:lstStyle/>
                    <a:p>
                      <a:pPr marL="0" indent="0" algn="ctr" rtl="1">
                        <a:buFont typeface="Arial" panose="020B0604020202020204" pitchFamily="34" charset="0"/>
                        <a:buNone/>
                      </a:pPr>
                      <a:r>
                        <a:rPr lang="ar-SY" sz="2800" b="1" dirty="0">
                          <a:solidFill>
                            <a:srgbClr val="FF0000"/>
                          </a:solidFill>
                        </a:rPr>
                        <a:t>السرِّي</a:t>
                      </a:r>
                      <a:endParaRPr lang="en-US" sz="2800" b="1" dirty="0">
                        <a:solidFill>
                          <a:srgbClr val="FF0000"/>
                        </a:solidFill>
                      </a:endParaRPr>
                    </a:p>
                  </a:txBody>
                  <a:tcPr anchor="ctr"/>
                </a:tc>
                <a:tc>
                  <a:txBody>
                    <a:bodyPr/>
                    <a:lstStyle/>
                    <a:p>
                      <a:pPr marL="0" indent="0" algn="ctr" rtl="1">
                        <a:buFont typeface="Arial" panose="020B0604020202020204" pitchFamily="34" charset="0"/>
                        <a:buNone/>
                      </a:pPr>
                      <a:r>
                        <a:rPr lang="ar-SY" sz="2800" dirty="0"/>
                        <a:t>مشفَّر</a:t>
                      </a:r>
                      <a:endParaRPr lang="en-US" sz="2800" dirty="0"/>
                    </a:p>
                  </a:txBody>
                  <a:tcPr anchor="ctr"/>
                </a:tc>
                <a:tc>
                  <a:txBody>
                    <a:bodyPr/>
                    <a:lstStyle/>
                    <a:p>
                      <a:pPr marL="0" indent="0" algn="ctr" rtl="1">
                        <a:buFont typeface="Arial" panose="020B0604020202020204" pitchFamily="34" charset="0"/>
                        <a:buNone/>
                      </a:pPr>
                      <a:r>
                        <a:rPr lang="ar-SY" sz="2800" dirty="0"/>
                        <a:t>مشفَّر</a:t>
                      </a:r>
                      <a:endParaRPr lang="en-US" sz="2800" dirty="0"/>
                    </a:p>
                  </a:txBody>
                  <a:tcPr anchor="ctr"/>
                </a:tc>
                <a:tc>
                  <a:txBody>
                    <a:bodyPr/>
                    <a:lstStyle/>
                    <a:p>
                      <a:pPr marL="0" indent="0" algn="ctr" rtl="1">
                        <a:buFont typeface="Arial" panose="020B0604020202020204" pitchFamily="34" charset="0"/>
                        <a:buNone/>
                      </a:pPr>
                      <a:r>
                        <a:rPr lang="ar-SY" sz="2800" dirty="0"/>
                        <a:t>تدمير</a:t>
                      </a:r>
                      <a:endParaRPr lang="en-US" sz="2800" dirty="0"/>
                    </a:p>
                  </a:txBody>
                  <a:tcPr anchor="ctr"/>
                </a:tc>
                <a:extLst>
                  <a:ext uri="{0D108BD9-81ED-4DB2-BD59-A6C34878D82A}">
                    <a16:rowId xmlns:a16="http://schemas.microsoft.com/office/drawing/2014/main" val="3730917508"/>
                  </a:ext>
                </a:extLst>
              </a:tr>
              <a:tr h="869978">
                <a:tc>
                  <a:txBody>
                    <a:bodyPr/>
                    <a:lstStyle/>
                    <a:p>
                      <a:pPr marL="0" indent="0" algn="ctr" rtl="1">
                        <a:buFont typeface="Arial" panose="020B0604020202020204" pitchFamily="34" charset="0"/>
                        <a:buNone/>
                      </a:pPr>
                      <a:r>
                        <a:rPr lang="ar-SY" sz="2800" b="1" dirty="0">
                          <a:solidFill>
                            <a:srgbClr val="FF0000"/>
                          </a:solidFill>
                        </a:rPr>
                        <a:t>السرِّي للغاية</a:t>
                      </a:r>
                      <a:endParaRPr lang="en-US" sz="2800" b="1" dirty="0">
                        <a:solidFill>
                          <a:srgbClr val="FF0000"/>
                        </a:solidFill>
                      </a:endParaRPr>
                    </a:p>
                  </a:txBody>
                  <a:tcPr anchor="ctr"/>
                </a:tc>
                <a:tc>
                  <a:txBody>
                    <a:bodyPr/>
                    <a:lstStyle/>
                    <a:p>
                      <a:pPr marL="0" indent="0" algn="ctr" rtl="1">
                        <a:buFont typeface="Arial" panose="020B0604020202020204" pitchFamily="34" charset="0"/>
                        <a:buNone/>
                      </a:pPr>
                      <a:r>
                        <a:rPr lang="ar-SY" sz="2800" dirty="0"/>
                        <a:t>مشفَّر</a:t>
                      </a:r>
                      <a:endParaRPr lang="en-US" sz="2800" dirty="0"/>
                    </a:p>
                  </a:txBody>
                  <a:tcPr anchor="ctr"/>
                </a:tc>
                <a:tc>
                  <a:txBody>
                    <a:bodyPr/>
                    <a:lstStyle/>
                    <a:p>
                      <a:pPr marL="0" indent="0" algn="ctr" rtl="1">
                        <a:buFont typeface="Arial" panose="020B0604020202020204" pitchFamily="34" charset="0"/>
                        <a:buNone/>
                      </a:pPr>
                      <a:r>
                        <a:rPr lang="ar-SY" sz="2800" dirty="0"/>
                        <a:t>مشفَّر وشبكة معزولة</a:t>
                      </a:r>
                      <a:endParaRPr lang="en-US" sz="2800" dirty="0"/>
                    </a:p>
                  </a:txBody>
                  <a:tcPr anchor="ctr"/>
                </a:tc>
                <a:tc>
                  <a:txBody>
                    <a:bodyPr/>
                    <a:lstStyle/>
                    <a:p>
                      <a:pPr marL="0" indent="0" algn="ctr" rtl="1">
                        <a:buFont typeface="Arial" panose="020B0604020202020204" pitchFamily="34" charset="0"/>
                        <a:buNone/>
                      </a:pPr>
                      <a:r>
                        <a:rPr lang="ar-SY" sz="2800" dirty="0"/>
                        <a:t>تدمير</a:t>
                      </a:r>
                      <a:endParaRPr lang="en-US" sz="2800" dirty="0"/>
                    </a:p>
                  </a:txBody>
                  <a:tcPr anchor="ctr"/>
                </a:tc>
                <a:extLst>
                  <a:ext uri="{0D108BD9-81ED-4DB2-BD59-A6C34878D82A}">
                    <a16:rowId xmlns:a16="http://schemas.microsoft.com/office/drawing/2014/main" val="4249774882"/>
                  </a:ext>
                </a:extLst>
              </a:tr>
            </a:tbl>
          </a:graphicData>
        </a:graphic>
      </p:graphicFrame>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772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البروتوكولات الآمنة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64974"/>
            <a:ext cx="10926170" cy="5356501"/>
          </a:xfrm>
        </p:spPr>
        <p:txBody>
          <a:bodyPr>
            <a:normAutofit/>
          </a:bodyPr>
          <a:lstStyle/>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على الجهات اعتماد أحدث إصدارات البرتوكولات الآمنة عند إعداد دفاتر الشروط الفنية المتعلقة بالبرمجيات و/أو تبادل المعلومات عبر الشبكات و/أو تصميم المواقع الإلكترونية و/أو تصميم وتنفيذ خدمة إلكترونية ما.</a:t>
            </a:r>
          </a:p>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يتم في هذه السياسة تحديد البروتوكولات الآمنة على كافة المستويات النقل – الشبكة - التطبيقات كما يتم تحديد البروتوكولات غير الآمنة التي يمنع استخدامها.</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55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التشفير</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64974"/>
            <a:ext cx="10926170" cy="5356501"/>
          </a:xfrm>
        </p:spPr>
        <p:txBody>
          <a:bodyPr>
            <a:normAutofit/>
          </a:bodyPr>
          <a:lstStyle/>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يتم تشفير البيانات و/أو المعلومات باستخدام التشفير المتناظر و/أو غير المتناظر</a:t>
            </a:r>
          </a:p>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تتوقف قوة التشفير على عدة عوامل وهي طول المفتاح، ونوع الخوارزمية، وآلية تطبيق الخوارزمية تبعاً لمستوى التصنيف.</a:t>
            </a:r>
          </a:p>
          <a:p>
            <a:pPr>
              <a:lnSpc>
                <a:spcPct val="100000"/>
              </a:lnSpc>
            </a:pPr>
            <a:r>
              <a:rPr lang="ar-SY" sz="40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على جميع الجهات العامة التي تستخدم خدمات بنية المفتاح العام، أن تستخدم شهادات التصديق الإلكتروني الصادرة عن الهيئة الوطنية لخدمات الشبكة حصراً.</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52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أحكام عامّة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64974"/>
            <a:ext cx="10926170" cy="5356501"/>
          </a:xfrm>
        </p:spPr>
        <p:txBody>
          <a:bodyPr>
            <a:normAutofit/>
          </a:bodyPr>
          <a:lstStyle/>
          <a:p>
            <a:pPr>
              <a:lnSpc>
                <a:spcPct val="15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على الجهة العامة تحديد المديرية أو القسم أو الأشخاص المعنيين ضمن الجهة عند تطبيق إجراءات حفظ المعلومات ونقلها واسترجاعها وإتلافها</a:t>
            </a:r>
          </a:p>
          <a:p>
            <a:pPr>
              <a:lnSpc>
                <a:spcPct val="15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يجب استخدام المستوى الأعلى للتصنيف في حال كانت الوثيقة تحتوي مجموعة معلومات مختلفة في درجة التصنيف</a:t>
            </a:r>
            <a:endParaRPr lang="ar-SY" sz="40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571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الامتثال للسياسة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64974"/>
            <a:ext cx="10926170" cy="5356501"/>
          </a:xfrm>
        </p:spPr>
        <p:txBody>
          <a:bodyPr>
            <a:normAutofit/>
          </a:bodyPr>
          <a:lstStyle/>
          <a:p>
            <a:pPr marL="0" indent="0">
              <a:lnSpc>
                <a:spcPct val="100000"/>
              </a:lnSpc>
              <a:buNone/>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يعتبر كل مستخدِم لمصادر المنظومات المعلوماتية مسؤولاً عن:</a:t>
            </a:r>
          </a:p>
          <a:p>
            <a:pPr>
              <a:lnSpc>
                <a:spcPct val="100000"/>
              </a:lnSpc>
            </a:pPr>
            <a:r>
              <a:rPr lang="ar-SY" sz="40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الامتثال لشروط هذه السياسة والسياسات ذات الصلة.</a:t>
            </a:r>
          </a:p>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احترام وحماية خصوصية وسرية المعلومات بكل حالاتها.</a:t>
            </a:r>
          </a:p>
          <a:p>
            <a:pPr>
              <a:lnSpc>
                <a:spcPct val="100000"/>
              </a:lnSpc>
            </a:pPr>
            <a:r>
              <a:rPr lang="ar-SY" sz="4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إدارة سياسة التحكم بالنفاذ و كلمات المرور بالتحديد بطريقة تضمن سريتها وعدم مشاركتها مع الأخرين و/أو كتابتها للوصول إلى المعلومات المشفرة.</a:t>
            </a:r>
          </a:p>
          <a:p>
            <a:pPr>
              <a:lnSpc>
                <a:spcPct val="100000"/>
              </a:lnSpc>
            </a:pPr>
            <a:r>
              <a:rPr lang="ar-SY" sz="40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إعلام الإدارة عن كل إساءة استخدام أو انتهاك للسياسة.</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102AF-0850-4833-AE31-4838F972585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4">
            <a:extLst>
              <a:ext uri="{FF2B5EF4-FFF2-40B4-BE49-F238E27FC236}">
                <a16:creationId xmlns:a16="http://schemas.microsoft.com/office/drawing/2014/main" id="{A060DD78-7108-4FF6-93DC-08E62DDFB02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206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a:solidFill>
                  <a:srgbClr val="00B0F0"/>
                </a:solidFill>
                <a:latin typeface="Monotype Koufi" pitchFamily="2" charset="-78"/>
                <a:ea typeface="Monotype Koufi" pitchFamily="2" charset="-78"/>
                <a:cs typeface="Monotype Koufi" pitchFamily="2" charset="-78"/>
              </a:rPr>
              <a:t>خلاصة</a:t>
            </a:r>
            <a:endParaRPr lang="en-US" dirty="0">
              <a:solidFill>
                <a:srgbClr val="00B0F0"/>
              </a:solidFill>
              <a:ea typeface="Monotype Koufi" pitchFamily="2" charset="-78"/>
              <a:cs typeface="Monotype Koufi" pitchFamily="2" charset="-78"/>
            </a:endParaRPr>
          </a:p>
        </p:txBody>
      </p:sp>
      <p:sp>
        <p:nvSpPr>
          <p:cNvPr id="3" name="Content Placeholder 2"/>
          <p:cNvSpPr>
            <a:spLocks noGrp="1"/>
          </p:cNvSpPr>
          <p:nvPr>
            <p:ph idx="1"/>
          </p:nvPr>
        </p:nvSpPr>
        <p:spPr>
          <a:xfrm>
            <a:off x="838200" y="1346200"/>
            <a:ext cx="10985310" cy="5010150"/>
          </a:xfrm>
        </p:spPr>
        <p:txBody>
          <a:bodyPr>
            <a:noAutofit/>
          </a:bodyPr>
          <a:lstStyle/>
          <a:p>
            <a:r>
              <a:rPr lang="ar-SY" sz="35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تشكيل وتكليف فرق عمل خاصة تضم أعضاء فنيين مؤهلين وحقوقيين وماليين لتطوير سياسة التشفير </a:t>
            </a:r>
          </a:p>
          <a:p>
            <a:r>
              <a:rPr lang="ar-SY" sz="35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تصنيف المعلومات الخاصة بالجهة وفق سياسة موثقة.</a:t>
            </a:r>
          </a:p>
          <a:p>
            <a:r>
              <a:rPr lang="ar-SY" sz="35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إعداد وثيقة سياسة التشفير في إطار خطة إدارة وتنظيم أمن المعلومات لدى الجهة وبما يتوافق مع السياسة الوطنية للتشفير</a:t>
            </a:r>
          </a:p>
          <a:p>
            <a:r>
              <a:rPr lang="ar-SY" sz="35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التوعية والتدريب والتأهيل وتعريف جميع العاملين بمسؤولياتهم والعواقب الناجمة عن خرق السياسة.</a:t>
            </a:r>
          </a:p>
          <a:p>
            <a:r>
              <a:rPr lang="ar-SY" sz="35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متابعة تطبيق قواعد وأحكام السياسة ومراجعتها وتطويرها بشكل دوري وعند الضرورة</a:t>
            </a:r>
          </a:p>
          <a:p>
            <a:r>
              <a:rPr lang="ar-SY" sz="35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التعاون والتنسيق مع الهيئة الوطنية لخدمات الشبكة.</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74E3F1-F333-4503-8CBB-5EF73FABA33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2020-11-25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2A39C6-515D-4F52-9A2D-612D5FCA91E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98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8342" y="1549337"/>
            <a:ext cx="8815316" cy="4351338"/>
          </a:xfrm>
        </p:spPr>
        <p:txBody>
          <a:bodyPr anchor="ctr">
            <a:normAutofit/>
          </a:bodyPr>
          <a:lstStyle/>
          <a:p>
            <a:pPr marL="0" indent="0" algn="ctr">
              <a:buNone/>
            </a:pPr>
            <a:r>
              <a:rPr lang="ar-SY" sz="8000" dirty="0">
                <a:solidFill>
                  <a:srgbClr val="0070C0"/>
                </a:solidFill>
                <a:latin typeface="Monotype Koufi" pitchFamily="2" charset="-78"/>
                <a:ea typeface="Monotype Koufi" pitchFamily="2" charset="-78"/>
                <a:cs typeface="Monotype Koufi" pitchFamily="2" charset="-78"/>
              </a:rPr>
              <a:t>شكراً لكم</a:t>
            </a:r>
            <a:endParaRPr lang="en-US" sz="8000" dirty="0">
              <a:solidFill>
                <a:srgbClr val="0070C0"/>
              </a:solidFill>
              <a:ea typeface="Monotype Koufi" pitchFamily="2" charset="-78"/>
              <a:cs typeface="Monotype Koufi" pitchFamily="2" charset="-78"/>
            </a:endParaRPr>
          </a:p>
        </p:txBody>
      </p:sp>
      <p:sp>
        <p:nvSpPr>
          <p:cNvPr id="4" name="Date Placeholder 3"/>
          <p:cNvSpPr>
            <a:spLocks noGrp="1"/>
          </p:cNvSpPr>
          <p:nvPr>
            <p:ph type="dt" sz="half" idx="10"/>
          </p:nvPr>
        </p:nvSpPr>
        <p:spPr/>
        <p:txBody>
          <a:bodyPr/>
          <a:lstStyle/>
          <a:p>
            <a:fld id="{C4DAC2E0-9583-460A-B0EE-B3A3320CB659}" type="datetime1">
              <a:rPr lang="en-US" smtClean="0"/>
              <a:t>2020-11-25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37</a:t>
            </a:fld>
            <a:endParaRPr lang="en-US"/>
          </a:p>
        </p:txBody>
      </p:sp>
    </p:spTree>
    <p:extLst>
      <p:ext uri="{BB962C8B-B14F-4D97-AF65-F5344CB8AC3E}">
        <p14:creationId xmlns:p14="http://schemas.microsoft.com/office/powerpoint/2010/main" val="65765327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3960</TotalTime>
  <Words>1969</Words>
  <Application>Microsoft Office PowerPoint</Application>
  <PresentationFormat>Widescreen</PresentationFormat>
  <Paragraphs>268</Paragraphs>
  <Slides>37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Bahij TheSansArabic Bold</vt:lpstr>
      <vt:lpstr>Calibri</vt:lpstr>
      <vt:lpstr>Monotype Koufi</vt:lpstr>
      <vt:lpstr>Simplified Arabic</vt:lpstr>
      <vt:lpstr>Wingdings</vt:lpstr>
      <vt:lpstr>Office Theme</vt:lpstr>
      <vt:lpstr>السياسة الوطنية لأمن المعلومات</vt:lpstr>
      <vt:lpstr>المخطط العام</vt:lpstr>
      <vt:lpstr>تعريف السياسة</vt:lpstr>
      <vt:lpstr>نظرة عامّة</vt:lpstr>
      <vt:lpstr>نظرة عامّة </vt:lpstr>
      <vt:lpstr>نظرة عامة</vt:lpstr>
      <vt:lpstr>أهــــداف السياسة</vt:lpstr>
      <vt:lpstr>مجالات السياسة</vt:lpstr>
      <vt:lpstr>مجالات السياسة</vt:lpstr>
      <vt:lpstr>مجال تطبيق السياسة</vt:lpstr>
      <vt:lpstr>متطلبات أمن المعلومات</vt:lpstr>
      <vt:lpstr>  خطّة إدارة أمن المعلومات</vt:lpstr>
      <vt:lpstr>خطّة إدارة أمن المعلومات</vt:lpstr>
      <vt:lpstr>تقييم وإدارة المخاطر</vt:lpstr>
      <vt:lpstr>تقييم وإدارة المخاطر</vt:lpstr>
      <vt:lpstr>التهديدات الأساسية</vt:lpstr>
      <vt:lpstr>تنظيم أمن المعلومات</vt:lpstr>
      <vt:lpstr>تنظيم أمن المعلومات</vt:lpstr>
      <vt:lpstr>سياسات أمن المعلومات</vt:lpstr>
      <vt:lpstr>سياسات أمن المعلومات</vt:lpstr>
      <vt:lpstr>سياسات أمن المعلومات</vt:lpstr>
      <vt:lpstr>سياسات أمن المعلومات</vt:lpstr>
      <vt:lpstr>سياسات أمن المعلومات</vt:lpstr>
      <vt:lpstr>سياسة تصنيف الأصول المعلوماتية والمعلومات </vt:lpstr>
      <vt:lpstr>السياسة الوطنية للتشفير</vt:lpstr>
      <vt:lpstr>أهداف السياسة</vt:lpstr>
      <vt:lpstr>نطاق التطبيق</vt:lpstr>
      <vt:lpstr>نطاق التطبيق</vt:lpstr>
      <vt:lpstr>متطلبات السياسة</vt:lpstr>
      <vt:lpstr>إطار عمل التطبيق</vt:lpstr>
      <vt:lpstr>تصنيف المعلومات</vt:lpstr>
      <vt:lpstr>البروتوكولات الآمنة</vt:lpstr>
      <vt:lpstr>التشفير</vt:lpstr>
      <vt:lpstr>أحكام عامّة</vt:lpstr>
      <vt:lpstr>الامتثال للسياسة</vt:lpstr>
      <vt:lpstr>خلاصة</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ДҔϴ ҤҩԠӠӘң</dc:creator>
  <cp:lastModifiedBy>IT.Majed</cp:lastModifiedBy>
  <cp:revision>117</cp:revision>
  <dcterms:created xsi:type="dcterms:W3CDTF">2020-07-24T13:02:32Z</dcterms:created>
  <dcterms:modified xsi:type="dcterms:W3CDTF">2020-11-25T19:06:48Z</dcterms:modified>
</cp:coreProperties>
</file>