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99" r:id="rId2"/>
    <p:sldId id="257" r:id="rId3"/>
    <p:sldId id="300" r:id="rId4"/>
    <p:sldId id="301" r:id="rId5"/>
    <p:sldId id="302" r:id="rId6"/>
    <p:sldId id="279" r:id="rId7"/>
    <p:sldId id="310" r:id="rId8"/>
    <p:sldId id="290" r:id="rId9"/>
    <p:sldId id="280" r:id="rId10"/>
    <p:sldId id="303" r:id="rId11"/>
    <p:sldId id="315" r:id="rId12"/>
    <p:sldId id="306" r:id="rId13"/>
    <p:sldId id="304" r:id="rId14"/>
    <p:sldId id="307" r:id="rId15"/>
    <p:sldId id="281" r:id="rId16"/>
    <p:sldId id="282" r:id="rId17"/>
    <p:sldId id="284" r:id="rId18"/>
    <p:sldId id="285" r:id="rId19"/>
    <p:sldId id="286" r:id="rId20"/>
    <p:sldId id="308" r:id="rId21"/>
    <p:sldId id="294" r:id="rId22"/>
    <p:sldId id="287" r:id="rId23"/>
    <p:sldId id="316" r:id="rId24"/>
    <p:sldId id="317" r:id="rId25"/>
    <p:sldId id="289" r:id="rId26"/>
    <p:sldId id="295" r:id="rId27"/>
    <p:sldId id="314" r:id="rId28"/>
    <p:sldId id="297" r:id="rId29"/>
    <p:sldId id="31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lman" initials="u" lastIdx="15" clrIdx="0">
    <p:extLst>
      <p:ext uri="{19B8F6BF-5375-455C-9EA6-DF929625EA0E}">
        <p15:presenceInfo xmlns:p15="http://schemas.microsoft.com/office/powerpoint/2012/main" userId="salm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8" autoAdjust="0"/>
    <p:restoredTop sz="94394" autoAdjust="0"/>
  </p:normalViewPr>
  <p:slideViewPr>
    <p:cSldViewPr snapToGrid="0">
      <p:cViewPr varScale="1">
        <p:scale>
          <a:sx n="88" d="100"/>
          <a:sy n="88" d="100"/>
        </p:scale>
        <p:origin x="26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782300-09EA-4C64-A6DE-8E9D37D567CE}"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037B74-BFD3-456F-BCF0-67324BCECAA2}" type="slidenum">
              <a:rPr lang="en-US" smtClean="0"/>
              <a:t>‹#›</a:t>
            </a:fld>
            <a:endParaRPr lang="en-US"/>
          </a:p>
        </p:txBody>
      </p:sp>
    </p:spTree>
    <p:extLst>
      <p:ext uri="{BB962C8B-B14F-4D97-AF65-F5344CB8AC3E}">
        <p14:creationId xmlns:p14="http://schemas.microsoft.com/office/powerpoint/2010/main" val="2255892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9037B74-BFD3-456F-BCF0-67324BCECAA2}" type="slidenum">
              <a:rPr lang="en-US" smtClean="0"/>
              <a:t>1</a:t>
            </a:fld>
            <a:endParaRPr lang="en-US"/>
          </a:p>
        </p:txBody>
      </p:sp>
    </p:spTree>
    <p:extLst>
      <p:ext uri="{BB962C8B-B14F-4D97-AF65-F5344CB8AC3E}">
        <p14:creationId xmlns:p14="http://schemas.microsoft.com/office/powerpoint/2010/main" val="26850688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D79E4E-C09A-48B3-BCF7-46D5F7D59BE8}"/>
              </a:ext>
            </a:extLst>
          </p:cNvPr>
          <p:cNvSpPr>
            <a:spLocks noGrp="1"/>
          </p:cNvSpPr>
          <p:nvPr>
            <p:ph type="ctrTitle"/>
          </p:nvPr>
        </p:nvSpPr>
        <p:spPr>
          <a:xfrm>
            <a:off x="1524000" y="1041399"/>
            <a:ext cx="9144000" cy="2938929"/>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xmlns="" id="{AAE9DADA-CA9A-4063-88F3-817B24A223A6}"/>
              </a:ext>
            </a:extLst>
          </p:cNvPr>
          <p:cNvSpPr>
            <a:spLocks noGrp="1"/>
          </p:cNvSpPr>
          <p:nvPr>
            <p:ph type="subTitle" idx="1"/>
          </p:nvPr>
        </p:nvSpPr>
        <p:spPr>
          <a:xfrm>
            <a:off x="1524000" y="4178000"/>
            <a:ext cx="9144000" cy="107979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xmlns="" id="{228A0565-28FA-4821-A475-24AF28F8687E}"/>
              </a:ext>
            </a:extLst>
          </p:cNvPr>
          <p:cNvSpPr>
            <a:spLocks noGrp="1"/>
          </p:cNvSpPr>
          <p:nvPr>
            <p:ph type="dt" sz="half" idx="10"/>
          </p:nvPr>
        </p:nvSpPr>
        <p:spPr/>
        <p:txBody>
          <a:bodyPr/>
          <a:lstStyle/>
          <a:p>
            <a:fld id="{CB667F14-2CAF-476C-A681-10FD544BF807}" type="datetime1">
              <a:rPr lang="en-US" smtClean="0"/>
              <a:t>12/3/2025</a:t>
            </a:fld>
            <a:endParaRPr lang="en-US"/>
          </a:p>
        </p:txBody>
      </p:sp>
      <p:sp>
        <p:nvSpPr>
          <p:cNvPr id="5" name="Footer Placeholder 4">
            <a:extLst>
              <a:ext uri="{FF2B5EF4-FFF2-40B4-BE49-F238E27FC236}">
                <a16:creationId xmlns:a16="http://schemas.microsoft.com/office/drawing/2014/main" xmlns="" id="{CD8EA135-610F-4F1F-A47A-9ED636320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86E3964-D420-4531-BA1A-E1D12971E00A}"/>
              </a:ext>
            </a:extLst>
          </p:cNvPr>
          <p:cNvSpPr>
            <a:spLocks noGrp="1"/>
          </p:cNvSpPr>
          <p:nvPr>
            <p:ph type="sldNum" sz="quarter" idx="12"/>
          </p:nvPr>
        </p:nvSpPr>
        <p:spPr/>
        <p:txBody>
          <a:bodyPr/>
          <a:lstStyle/>
          <a:p>
            <a:fld id="{1C2A39C6-515D-4F52-9A2D-612D5FCA91E3}" type="slidenum">
              <a:rPr lang="en-US" smtClean="0"/>
              <a:t>‹#›</a:t>
            </a:fld>
            <a:endParaRPr lang="en-US"/>
          </a:p>
        </p:txBody>
      </p:sp>
      <p:pic>
        <p:nvPicPr>
          <p:cNvPr id="7" name="Picture 15">
            <a:extLst>
              <a:ext uri="{FF2B5EF4-FFF2-40B4-BE49-F238E27FC236}">
                <a16:creationId xmlns:a16="http://schemas.microsoft.com/office/drawing/2014/main" xmlns="" id="{C1D8C06B-D030-46B2-B627-BF5ACFA4E6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01346" y="209737"/>
            <a:ext cx="2004981" cy="10409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
            <a:extLst>
              <a:ext uri="{FF2B5EF4-FFF2-40B4-BE49-F238E27FC236}">
                <a16:creationId xmlns:a16="http://schemas.microsoft.com/office/drawing/2014/main" xmlns="" id="{5CD4A2F4-9539-4B70-8D80-CEAC8DCF37AF}"/>
              </a:ext>
            </a:extLst>
          </p:cNvPr>
          <p:cNvSpPr txBox="1">
            <a:spLocks/>
          </p:cNvSpPr>
          <p:nvPr userDrawn="1"/>
        </p:nvSpPr>
        <p:spPr>
          <a:xfrm>
            <a:off x="4038600" y="1316531"/>
            <a:ext cx="3730473" cy="747088"/>
          </a:xfrm>
          <a:prstGeom prst="rect">
            <a:avLst/>
          </a:prstGeom>
        </p:spPr>
        <p:txBody>
          <a:bodyPr anchor="ctr">
            <a:normAutofit/>
          </a:bodyPr>
          <a:lstStyle>
            <a:lvl1pPr algn="l" rtl="0" eaLnBrk="1" latinLnBrk="0" hangingPunct="1">
              <a:spcBef>
                <a:spcPct val="0"/>
              </a:spcBef>
              <a:buNone/>
              <a:defRPr sz="4400" kern="1200" cap="all" baseline="0">
                <a:solidFill>
                  <a:schemeClr val="tx2"/>
                </a:solidFill>
                <a:latin typeface="+mj-lt"/>
                <a:ea typeface="+mj-ea"/>
                <a:cs typeface="+mj-cs"/>
              </a:defRPr>
            </a:lvl1pPr>
          </a:lstStyle>
          <a:p>
            <a:pPr algn="ctr" rtl="1" fontAlgn="auto">
              <a:spcAft>
                <a:spcPts val="0"/>
              </a:spcAft>
              <a:defRPr/>
            </a:pPr>
            <a:r>
              <a:rPr lang="ar-SY" sz="2000" b="1" dirty="0">
                <a:solidFill>
                  <a:srgbClr val="2F3194"/>
                </a:solidFill>
                <a:latin typeface="Bahij TheSansArabic Bold" panose="02040503050201020203" pitchFamily="18" charset="-78"/>
                <a:cs typeface="Bahij TheSansArabic Bold" panose="02040503050201020203" pitchFamily="18" charset="-78"/>
              </a:rPr>
              <a:t>الهيئة الوطنية لخدمات الشبكة</a:t>
            </a:r>
          </a:p>
          <a:p>
            <a:pPr algn="ctr" rtl="1" fontAlgn="auto">
              <a:spcAft>
                <a:spcPts val="0"/>
              </a:spcAft>
              <a:defRPr/>
            </a:pPr>
            <a:r>
              <a:rPr lang="en-US" sz="1500" b="1" cap="none" dirty="0">
                <a:solidFill>
                  <a:srgbClr val="2F3194"/>
                </a:solidFill>
                <a:latin typeface="Bahij TheSansArabic Bold" panose="02040503050201020203" pitchFamily="18" charset="-78"/>
                <a:cs typeface="Bahij TheSansArabic Bold" panose="02040503050201020203" pitchFamily="18" charset="-78"/>
              </a:rPr>
              <a:t>National Agency for Network Services</a:t>
            </a:r>
          </a:p>
        </p:txBody>
      </p:sp>
      <p:pic>
        <p:nvPicPr>
          <p:cNvPr id="10" name="Picture 9">
            <a:extLst>
              <a:ext uri="{FF2B5EF4-FFF2-40B4-BE49-F238E27FC236}">
                <a16:creationId xmlns:a16="http://schemas.microsoft.com/office/drawing/2014/main" xmlns="" id="{87B26EF2-F587-46F3-BF51-96896E88982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2319" r="30381" b="47838"/>
          <a:stretch/>
        </p:blipFill>
        <p:spPr>
          <a:xfrm>
            <a:off x="0" y="3980329"/>
            <a:ext cx="3581400" cy="2877671"/>
          </a:xfrm>
          <a:prstGeom prst="rect">
            <a:avLst/>
          </a:prstGeom>
        </p:spPr>
      </p:pic>
    </p:spTree>
    <p:extLst>
      <p:ext uri="{BB962C8B-B14F-4D97-AF65-F5344CB8AC3E}">
        <p14:creationId xmlns:p14="http://schemas.microsoft.com/office/powerpoint/2010/main" val="105036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D1E75D-5A94-4D0B-A7F3-6499E5F45F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CB8BC729-8D8F-47A5-8AF1-64BBC0DB1A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810EDD4-6EE5-4D34-8C2D-95199DEBD2F3}"/>
              </a:ext>
            </a:extLst>
          </p:cNvPr>
          <p:cNvSpPr>
            <a:spLocks noGrp="1"/>
          </p:cNvSpPr>
          <p:nvPr>
            <p:ph type="dt" sz="half" idx="10"/>
          </p:nvPr>
        </p:nvSpPr>
        <p:spPr/>
        <p:txBody>
          <a:bodyPr/>
          <a:lstStyle/>
          <a:p>
            <a:fld id="{4D0A37B4-2021-4677-B30A-6C0EDF3D7ABE}" type="datetime1">
              <a:rPr lang="en-US" smtClean="0"/>
              <a:t>12/3/2025</a:t>
            </a:fld>
            <a:endParaRPr lang="en-US"/>
          </a:p>
        </p:txBody>
      </p:sp>
      <p:sp>
        <p:nvSpPr>
          <p:cNvPr id="5" name="Footer Placeholder 4">
            <a:extLst>
              <a:ext uri="{FF2B5EF4-FFF2-40B4-BE49-F238E27FC236}">
                <a16:creationId xmlns:a16="http://schemas.microsoft.com/office/drawing/2014/main" xmlns="" id="{498E2888-A199-4D78-BACF-23E67649D6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E8B2A59-310F-4624-8D20-4B64A5B648A1}"/>
              </a:ext>
            </a:extLst>
          </p:cNvPr>
          <p:cNvSpPr>
            <a:spLocks noGrp="1"/>
          </p:cNvSpPr>
          <p:nvPr>
            <p:ph type="sldNum" sz="quarter" idx="12"/>
          </p:nvPr>
        </p:nvSpPr>
        <p:spPr/>
        <p:txBody>
          <a:bodyPr/>
          <a:lstStyle/>
          <a:p>
            <a:fld id="{1C2A39C6-515D-4F52-9A2D-612D5FCA91E3}" type="slidenum">
              <a:rPr lang="en-US" smtClean="0"/>
              <a:t>‹#›</a:t>
            </a:fld>
            <a:endParaRPr lang="en-US"/>
          </a:p>
        </p:txBody>
      </p:sp>
      <p:pic>
        <p:nvPicPr>
          <p:cNvPr id="7" name="Picture 15">
            <a:extLst>
              <a:ext uri="{FF2B5EF4-FFF2-40B4-BE49-F238E27FC236}">
                <a16:creationId xmlns:a16="http://schemas.microsoft.com/office/drawing/2014/main" xmlns="" id="{07E140AD-118A-4DD2-8FAD-E2F19735221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0588" y="160580"/>
            <a:ext cx="1529692" cy="7941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
            <a:extLst>
              <a:ext uri="{FF2B5EF4-FFF2-40B4-BE49-F238E27FC236}">
                <a16:creationId xmlns:a16="http://schemas.microsoft.com/office/drawing/2014/main" xmlns="" id="{5B85717D-2343-4504-9135-2361AD23700E}"/>
              </a:ext>
            </a:extLst>
          </p:cNvPr>
          <p:cNvSpPr txBox="1">
            <a:spLocks/>
          </p:cNvSpPr>
          <p:nvPr userDrawn="1"/>
        </p:nvSpPr>
        <p:spPr>
          <a:xfrm>
            <a:off x="475995" y="959877"/>
            <a:ext cx="2818878" cy="569988"/>
          </a:xfrm>
          <a:prstGeom prst="rect">
            <a:avLst/>
          </a:prstGeom>
        </p:spPr>
        <p:txBody>
          <a:bodyPr anchor="ctr">
            <a:normAutofit fontScale="77500" lnSpcReduction="20000"/>
          </a:bodyPr>
          <a:lstStyle>
            <a:lvl1pPr algn="l" rtl="0" eaLnBrk="1" latinLnBrk="0" hangingPunct="1">
              <a:spcBef>
                <a:spcPct val="0"/>
              </a:spcBef>
              <a:buNone/>
              <a:defRPr sz="4400" kern="1200" cap="all" baseline="0">
                <a:solidFill>
                  <a:schemeClr val="tx2"/>
                </a:solidFill>
                <a:latin typeface="+mj-lt"/>
                <a:ea typeface="+mj-ea"/>
                <a:cs typeface="+mj-cs"/>
              </a:defRPr>
            </a:lvl1pPr>
          </a:lstStyle>
          <a:p>
            <a:pPr algn="ctr" rtl="1" fontAlgn="auto">
              <a:spcAft>
                <a:spcPts val="0"/>
              </a:spcAft>
              <a:defRPr/>
            </a:pPr>
            <a:r>
              <a:rPr lang="ar-SY" sz="2000" b="0" dirty="0">
                <a:solidFill>
                  <a:srgbClr val="2F3194"/>
                </a:solidFill>
                <a:latin typeface="Bahij TheSansArabic Bold" panose="02040503050201020203" pitchFamily="18" charset="-78"/>
                <a:cs typeface="Bahij TheSansArabic Bold" panose="02040503050201020203" pitchFamily="18" charset="-78"/>
              </a:rPr>
              <a:t>الهيئة الوطنية لخدمات الشبكة</a:t>
            </a:r>
          </a:p>
          <a:p>
            <a:pPr algn="ctr" rtl="1" fontAlgn="auto">
              <a:spcAft>
                <a:spcPts val="0"/>
              </a:spcAft>
              <a:defRPr/>
            </a:pPr>
            <a:r>
              <a:rPr lang="en-US" sz="1500" b="0" cap="none" dirty="0">
                <a:solidFill>
                  <a:srgbClr val="2F3194"/>
                </a:solidFill>
                <a:latin typeface="Bahij TheSansArabic Bold" panose="02040503050201020203" pitchFamily="18" charset="-78"/>
                <a:cs typeface="Bahij TheSansArabic Bold" panose="02040503050201020203" pitchFamily="18" charset="-78"/>
              </a:rPr>
              <a:t>National Agency for Network Services</a:t>
            </a:r>
          </a:p>
        </p:txBody>
      </p:sp>
      <p:sp>
        <p:nvSpPr>
          <p:cNvPr id="10" name="Freeform 5">
            <a:extLst>
              <a:ext uri="{FF2B5EF4-FFF2-40B4-BE49-F238E27FC236}">
                <a16:creationId xmlns:a16="http://schemas.microsoft.com/office/drawing/2014/main" xmlns="" id="{41BDEF58-3ED7-4ED2-B2BB-75F16C8E2AFA}"/>
              </a:ext>
            </a:extLst>
          </p:cNvPr>
          <p:cNvSpPr/>
          <p:nvPr userDrawn="1"/>
        </p:nvSpPr>
        <p:spPr bwMode="auto">
          <a:xfrm>
            <a:off x="1" y="0"/>
            <a:ext cx="679090" cy="6858000"/>
          </a:xfrm>
          <a:custGeom>
            <a:avLst/>
            <a:gdLst/>
            <a:ahLst/>
            <a:cxnLst/>
            <a:rect l="0" t="0" r="r" b="b"/>
            <a:pathLst>
              <a:path w="211" h="2160">
                <a:moveTo>
                  <a:pt x="155" y="1728"/>
                </a:moveTo>
                <a:cubicBezTo>
                  <a:pt x="155" y="1620"/>
                  <a:pt x="211" y="1620"/>
                  <a:pt x="211" y="1512"/>
                </a:cubicBezTo>
                <a:cubicBezTo>
                  <a:pt x="211" y="1404"/>
                  <a:pt x="155" y="1404"/>
                  <a:pt x="155" y="1296"/>
                </a:cubicBezTo>
                <a:cubicBezTo>
                  <a:pt x="155" y="1188"/>
                  <a:pt x="211" y="1188"/>
                  <a:pt x="211" y="1080"/>
                </a:cubicBezTo>
                <a:cubicBezTo>
                  <a:pt x="211" y="972"/>
                  <a:pt x="155" y="972"/>
                  <a:pt x="155" y="864"/>
                </a:cubicBezTo>
                <a:cubicBezTo>
                  <a:pt x="155" y="756"/>
                  <a:pt x="211" y="756"/>
                  <a:pt x="211" y="648"/>
                </a:cubicBezTo>
                <a:cubicBezTo>
                  <a:pt x="211" y="540"/>
                  <a:pt x="155" y="540"/>
                  <a:pt x="155" y="432"/>
                </a:cubicBezTo>
                <a:cubicBezTo>
                  <a:pt x="155" y="324"/>
                  <a:pt x="211" y="324"/>
                  <a:pt x="211" y="216"/>
                </a:cubicBezTo>
                <a:cubicBezTo>
                  <a:pt x="211" y="108"/>
                  <a:pt x="155" y="108"/>
                  <a:pt x="155" y="0"/>
                </a:cubicBezTo>
                <a:cubicBezTo>
                  <a:pt x="0" y="0"/>
                  <a:pt x="0" y="0"/>
                  <a:pt x="0" y="0"/>
                </a:cubicBezTo>
                <a:cubicBezTo>
                  <a:pt x="0" y="2160"/>
                  <a:pt x="0" y="2160"/>
                  <a:pt x="0" y="2160"/>
                </a:cubicBezTo>
                <a:cubicBezTo>
                  <a:pt x="155" y="2160"/>
                  <a:pt x="155" y="2160"/>
                  <a:pt x="155" y="2160"/>
                </a:cubicBezTo>
                <a:cubicBezTo>
                  <a:pt x="155" y="2052"/>
                  <a:pt x="211" y="2052"/>
                  <a:pt x="211" y="1944"/>
                </a:cubicBezTo>
                <a:cubicBezTo>
                  <a:pt x="211" y="1836"/>
                  <a:pt x="155" y="1836"/>
                  <a:pt x="155" y="1728"/>
                </a:cubicBezTo>
                <a:close/>
              </a:path>
            </a:pathLst>
          </a:custGeom>
          <a:solidFill>
            <a:srgbClr val="002060"/>
          </a:solidFill>
          <a:ln>
            <a:noFill/>
          </a:ln>
        </p:spPr>
      </p:sp>
    </p:spTree>
    <p:extLst>
      <p:ext uri="{BB962C8B-B14F-4D97-AF65-F5344CB8AC3E}">
        <p14:creationId xmlns:p14="http://schemas.microsoft.com/office/powerpoint/2010/main" val="4051391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F1F3A4-10FF-4C12-A68F-7D28E53B63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8514347B-B269-4618-B1AD-D4B61EFC4A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EB16311-79C7-4126-92AC-D79172349914}"/>
              </a:ext>
            </a:extLst>
          </p:cNvPr>
          <p:cNvSpPr>
            <a:spLocks noGrp="1"/>
          </p:cNvSpPr>
          <p:nvPr>
            <p:ph type="dt" sz="half" idx="10"/>
          </p:nvPr>
        </p:nvSpPr>
        <p:spPr/>
        <p:txBody>
          <a:bodyPr/>
          <a:lstStyle/>
          <a:p>
            <a:fld id="{E59BCD39-38B7-4B36-B082-696BA9E141E3}" type="datetime1">
              <a:rPr lang="en-US" smtClean="0"/>
              <a:t>12/3/2025</a:t>
            </a:fld>
            <a:endParaRPr lang="en-US"/>
          </a:p>
        </p:txBody>
      </p:sp>
      <p:sp>
        <p:nvSpPr>
          <p:cNvPr id="5" name="Footer Placeholder 4">
            <a:extLst>
              <a:ext uri="{FF2B5EF4-FFF2-40B4-BE49-F238E27FC236}">
                <a16:creationId xmlns:a16="http://schemas.microsoft.com/office/drawing/2014/main" xmlns="" id="{DEFA1C3C-B2A9-4249-9EE8-4A4C99D956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1AF9226-2F16-4884-8959-BB21331E7422}"/>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2145189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BE9C7B-02E8-439C-87CA-497BDB387E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90FD31BB-EE99-494A-A432-B44A4F6713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80A58D60-5B64-4281-9C7E-8061404C08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7AD5373E-E9DE-4BBA-BBC3-B06F13F7A59F}"/>
              </a:ext>
            </a:extLst>
          </p:cNvPr>
          <p:cNvSpPr>
            <a:spLocks noGrp="1"/>
          </p:cNvSpPr>
          <p:nvPr>
            <p:ph type="dt" sz="half" idx="10"/>
          </p:nvPr>
        </p:nvSpPr>
        <p:spPr/>
        <p:txBody>
          <a:bodyPr/>
          <a:lstStyle/>
          <a:p>
            <a:fld id="{3C9B0E97-596A-4F32-B8C9-B0931A492CCC}" type="datetime1">
              <a:rPr lang="en-US" smtClean="0"/>
              <a:t>12/3/2025</a:t>
            </a:fld>
            <a:endParaRPr lang="en-US"/>
          </a:p>
        </p:txBody>
      </p:sp>
      <p:sp>
        <p:nvSpPr>
          <p:cNvPr id="6" name="Footer Placeholder 5">
            <a:extLst>
              <a:ext uri="{FF2B5EF4-FFF2-40B4-BE49-F238E27FC236}">
                <a16:creationId xmlns:a16="http://schemas.microsoft.com/office/drawing/2014/main" xmlns="" id="{6CC0A85F-3CA7-4D0E-B86B-30286C38A7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F066A8A-5B43-4397-BD3F-53C47A0023F0}"/>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79447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AB00F2-20A9-46DC-AF98-BFD96543B7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140665BD-4DFA-4DC8-AF1A-19742E3394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098D231-6EB7-4971-BE9D-F135EF2E92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D3425064-2A63-43D6-B41E-AB860E1062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EA63312-4F2B-4C79-815D-4D2D80F606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FCB02AC-6BFD-44D7-862B-87BC55158C48}"/>
              </a:ext>
            </a:extLst>
          </p:cNvPr>
          <p:cNvSpPr>
            <a:spLocks noGrp="1"/>
          </p:cNvSpPr>
          <p:nvPr>
            <p:ph type="dt" sz="half" idx="10"/>
          </p:nvPr>
        </p:nvSpPr>
        <p:spPr/>
        <p:txBody>
          <a:bodyPr/>
          <a:lstStyle/>
          <a:p>
            <a:fld id="{482CEF08-1868-4471-88C4-E44024D39814}" type="datetime1">
              <a:rPr lang="en-US" smtClean="0"/>
              <a:t>12/3/2025</a:t>
            </a:fld>
            <a:endParaRPr lang="en-US"/>
          </a:p>
        </p:txBody>
      </p:sp>
      <p:sp>
        <p:nvSpPr>
          <p:cNvPr id="8" name="Footer Placeholder 7">
            <a:extLst>
              <a:ext uri="{FF2B5EF4-FFF2-40B4-BE49-F238E27FC236}">
                <a16:creationId xmlns:a16="http://schemas.microsoft.com/office/drawing/2014/main" xmlns="" id="{3F1E76F6-A0C7-4DC9-9486-B75871EC4A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C7E36AF7-F4B9-478B-80EF-DCCF444BD277}"/>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3368674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1CB3D8-C09E-498D-BA73-AF832E6543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BD88BE2E-A836-403C-AC70-F87666887C87}"/>
              </a:ext>
            </a:extLst>
          </p:cNvPr>
          <p:cNvSpPr>
            <a:spLocks noGrp="1"/>
          </p:cNvSpPr>
          <p:nvPr>
            <p:ph type="dt" sz="half" idx="10"/>
          </p:nvPr>
        </p:nvSpPr>
        <p:spPr/>
        <p:txBody>
          <a:bodyPr/>
          <a:lstStyle/>
          <a:p>
            <a:fld id="{40157456-6931-4B5E-A8A1-5D3320DE2886}" type="datetime1">
              <a:rPr lang="en-US" smtClean="0"/>
              <a:t>12/3/2025</a:t>
            </a:fld>
            <a:endParaRPr lang="en-US"/>
          </a:p>
        </p:txBody>
      </p:sp>
      <p:sp>
        <p:nvSpPr>
          <p:cNvPr id="4" name="Footer Placeholder 3">
            <a:extLst>
              <a:ext uri="{FF2B5EF4-FFF2-40B4-BE49-F238E27FC236}">
                <a16:creationId xmlns:a16="http://schemas.microsoft.com/office/drawing/2014/main" xmlns="" id="{C186C965-6020-4713-9058-7CDEB31460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25E1542-514F-4462-BAD8-64225C3D89ED}"/>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281183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D350CAE-43C7-4CAF-9456-ADC539AE19C6}"/>
              </a:ext>
            </a:extLst>
          </p:cNvPr>
          <p:cNvSpPr>
            <a:spLocks noGrp="1"/>
          </p:cNvSpPr>
          <p:nvPr>
            <p:ph type="dt" sz="half" idx="10"/>
          </p:nvPr>
        </p:nvSpPr>
        <p:spPr/>
        <p:txBody>
          <a:bodyPr/>
          <a:lstStyle/>
          <a:p>
            <a:fld id="{EE70EB89-5FB6-49EC-A902-8287488E2CA9}" type="datetime1">
              <a:rPr lang="en-US" smtClean="0"/>
              <a:t>12/3/2025</a:t>
            </a:fld>
            <a:endParaRPr lang="en-US"/>
          </a:p>
        </p:txBody>
      </p:sp>
      <p:sp>
        <p:nvSpPr>
          <p:cNvPr id="3" name="Footer Placeholder 2">
            <a:extLst>
              <a:ext uri="{FF2B5EF4-FFF2-40B4-BE49-F238E27FC236}">
                <a16:creationId xmlns:a16="http://schemas.microsoft.com/office/drawing/2014/main" xmlns="" id="{6A559D2A-F959-4A80-99EF-F9912B284E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220BBDEF-4818-4EF1-828D-9BAE54EE5860}"/>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582224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524558-ECA3-4294-AF57-40338064FA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19FA5166-C4AA-478E-80BA-8FF55EEDE8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A1E115FE-3296-4975-B75D-4855780A1D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2E1D038-0B1B-4BFB-9B80-C6D92900EBA2}"/>
              </a:ext>
            </a:extLst>
          </p:cNvPr>
          <p:cNvSpPr>
            <a:spLocks noGrp="1"/>
          </p:cNvSpPr>
          <p:nvPr>
            <p:ph type="dt" sz="half" idx="10"/>
          </p:nvPr>
        </p:nvSpPr>
        <p:spPr/>
        <p:txBody>
          <a:bodyPr/>
          <a:lstStyle/>
          <a:p>
            <a:fld id="{2D23C955-64DE-42D0-BF09-ADF6281008F2}" type="datetime1">
              <a:rPr lang="en-US" smtClean="0"/>
              <a:t>12/3/2025</a:t>
            </a:fld>
            <a:endParaRPr lang="en-US"/>
          </a:p>
        </p:txBody>
      </p:sp>
      <p:sp>
        <p:nvSpPr>
          <p:cNvPr id="6" name="Footer Placeholder 5">
            <a:extLst>
              <a:ext uri="{FF2B5EF4-FFF2-40B4-BE49-F238E27FC236}">
                <a16:creationId xmlns:a16="http://schemas.microsoft.com/office/drawing/2014/main" xmlns="" id="{1D24CFF7-3EC1-432E-8D10-7AA3D00811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DE4CD94-5948-4E98-805F-14CD2C513F87}"/>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662287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6F922C-E46A-4AB3-9E05-AEB1E55E33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DC58C8BC-8A36-4C84-90A5-7B2F772734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794F9512-4840-456D-A9D5-81BF10996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55D6901-68B6-49F7-B093-503B259C325A}"/>
              </a:ext>
            </a:extLst>
          </p:cNvPr>
          <p:cNvSpPr>
            <a:spLocks noGrp="1"/>
          </p:cNvSpPr>
          <p:nvPr>
            <p:ph type="dt" sz="half" idx="10"/>
          </p:nvPr>
        </p:nvSpPr>
        <p:spPr/>
        <p:txBody>
          <a:bodyPr/>
          <a:lstStyle/>
          <a:p>
            <a:fld id="{3B7341E9-53FF-4234-B836-93E6BCD1E770}" type="datetime1">
              <a:rPr lang="en-US" smtClean="0"/>
              <a:t>12/3/2025</a:t>
            </a:fld>
            <a:endParaRPr lang="en-US"/>
          </a:p>
        </p:txBody>
      </p:sp>
      <p:sp>
        <p:nvSpPr>
          <p:cNvPr id="6" name="Footer Placeholder 5">
            <a:extLst>
              <a:ext uri="{FF2B5EF4-FFF2-40B4-BE49-F238E27FC236}">
                <a16:creationId xmlns:a16="http://schemas.microsoft.com/office/drawing/2014/main" xmlns="" id="{B4BD0CE9-3287-42C8-A9A1-6DEA4DC3B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BD6C4391-CFD9-4D97-B1BE-549B5562F4CB}"/>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793396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475894-A88B-4245-9E11-BC17F1C71C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366AD22D-0FC2-42A8-9CBB-D3392CF1D6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981DB04-CB9E-47F2-A411-C87A4ACF4AD3}"/>
              </a:ext>
            </a:extLst>
          </p:cNvPr>
          <p:cNvSpPr>
            <a:spLocks noGrp="1"/>
          </p:cNvSpPr>
          <p:nvPr>
            <p:ph type="dt" sz="half" idx="10"/>
          </p:nvPr>
        </p:nvSpPr>
        <p:spPr/>
        <p:txBody>
          <a:bodyPr/>
          <a:lstStyle/>
          <a:p>
            <a:fld id="{3E5A9684-C368-45E8-A165-910971D87BFB}" type="datetime1">
              <a:rPr lang="en-US" smtClean="0"/>
              <a:t>12/3/2025</a:t>
            </a:fld>
            <a:endParaRPr lang="en-US"/>
          </a:p>
        </p:txBody>
      </p:sp>
      <p:sp>
        <p:nvSpPr>
          <p:cNvPr id="5" name="Footer Placeholder 4">
            <a:extLst>
              <a:ext uri="{FF2B5EF4-FFF2-40B4-BE49-F238E27FC236}">
                <a16:creationId xmlns:a16="http://schemas.microsoft.com/office/drawing/2014/main" xmlns="" id="{F1FDC4AB-524D-44E0-9855-FE266F7B43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C6E4712-E498-45D2-81AD-687B17C85E06}"/>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3437242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7AB6387-1ECB-433F-9AE6-30D645CC1A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E79BFFA8-AE0B-4A44-8CC2-A9D721D62C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C1FF2F1-43E7-4863-9468-86BF0638D1DC}"/>
              </a:ext>
            </a:extLst>
          </p:cNvPr>
          <p:cNvSpPr>
            <a:spLocks noGrp="1"/>
          </p:cNvSpPr>
          <p:nvPr>
            <p:ph type="dt" sz="half" idx="10"/>
          </p:nvPr>
        </p:nvSpPr>
        <p:spPr/>
        <p:txBody>
          <a:bodyPr/>
          <a:lstStyle/>
          <a:p>
            <a:fld id="{6B0188DE-E746-4BEF-80A7-41B4E4A01425}" type="datetime1">
              <a:rPr lang="en-US" smtClean="0"/>
              <a:t>12/3/2025</a:t>
            </a:fld>
            <a:endParaRPr lang="en-US"/>
          </a:p>
        </p:txBody>
      </p:sp>
      <p:sp>
        <p:nvSpPr>
          <p:cNvPr id="5" name="Footer Placeholder 4">
            <a:extLst>
              <a:ext uri="{FF2B5EF4-FFF2-40B4-BE49-F238E27FC236}">
                <a16:creationId xmlns:a16="http://schemas.microsoft.com/office/drawing/2014/main" xmlns="" id="{8ED3390D-4DE3-4206-BFEB-B3EC76A62B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759033D-D03F-4DE5-83F8-F2853174E751}"/>
              </a:ext>
            </a:extLst>
          </p:cNvPr>
          <p:cNvSpPr>
            <a:spLocks noGrp="1"/>
          </p:cNvSpPr>
          <p:nvPr>
            <p:ph type="sldNum" sz="quarter" idx="12"/>
          </p:nvPr>
        </p:nvSpPr>
        <p:spPr/>
        <p:txBody>
          <a:bodyPr/>
          <a:lstStyle/>
          <a:p>
            <a:fld id="{1C2A39C6-515D-4F52-9A2D-612D5FCA91E3}" type="slidenum">
              <a:rPr lang="en-US" smtClean="0"/>
              <a:t>‹#›</a:t>
            </a:fld>
            <a:endParaRPr lang="en-US"/>
          </a:p>
        </p:txBody>
      </p:sp>
    </p:spTree>
    <p:extLst>
      <p:ext uri="{BB962C8B-B14F-4D97-AF65-F5344CB8AC3E}">
        <p14:creationId xmlns:p14="http://schemas.microsoft.com/office/powerpoint/2010/main" val="1627821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92D70BC-972C-4C2E-854C-AD900A2424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896ABFE3-392E-48A8-8B24-D02C5476B6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1E7E1940-3BEB-497D-B2D4-FE8E1FFEDB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8B3704-4384-4B1B-89BE-7EDCAE7D9B96}" type="datetime1">
              <a:rPr lang="en-US" smtClean="0"/>
              <a:t>12/3/2025</a:t>
            </a:fld>
            <a:endParaRPr lang="en-US"/>
          </a:p>
        </p:txBody>
      </p:sp>
      <p:sp>
        <p:nvSpPr>
          <p:cNvPr id="5" name="Footer Placeholder 4">
            <a:extLst>
              <a:ext uri="{FF2B5EF4-FFF2-40B4-BE49-F238E27FC236}">
                <a16:creationId xmlns:a16="http://schemas.microsoft.com/office/drawing/2014/main" xmlns="" id="{50EDE3C5-E43D-4044-A73D-E57B4FFE1B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ECC806D9-C78B-4B16-BC74-5BAE80E8C3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2A39C6-515D-4F52-9A2D-612D5FCA91E3}" type="slidenum">
              <a:rPr lang="en-US" smtClean="0"/>
              <a:t>‹#›</a:t>
            </a:fld>
            <a:endParaRPr lang="en-US"/>
          </a:p>
        </p:txBody>
      </p:sp>
    </p:spTree>
    <p:extLst>
      <p:ext uri="{BB962C8B-B14F-4D97-AF65-F5344CB8AC3E}">
        <p14:creationId xmlns:p14="http://schemas.microsoft.com/office/powerpoint/2010/main" val="26521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r" defTabSz="914400" rtl="1" eaLnBrk="1" latinLnBrk="0" hangingPunct="1">
        <a:lnSpc>
          <a:spcPct val="90000"/>
        </a:lnSpc>
        <a:spcBef>
          <a:spcPct val="0"/>
        </a:spcBef>
        <a:buNone/>
        <a:defRPr sz="4400" b="1" kern="1200">
          <a:solidFill>
            <a:srgbClr val="0070C0"/>
          </a:solidFill>
          <a:effectLst>
            <a:outerShdw blurRad="38100" dist="38100" dir="2700000" algn="tl">
              <a:srgbClr val="000000">
                <a:alpha val="43137"/>
              </a:srgbClr>
            </a:outerShdw>
          </a:effectLst>
          <a:latin typeface="+mn-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2000"/>
            <a:lum/>
          </a:blip>
          <a:srcRect/>
          <a:stretch>
            <a:fillRect r="-3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646238"/>
            <a:ext cx="10515600" cy="1325563"/>
          </a:xfrm>
        </p:spPr>
        <p:txBody>
          <a:bodyPr>
            <a:noAutofit/>
          </a:bodyPr>
          <a:lstStyle/>
          <a:p>
            <a:pPr algn="ctr"/>
            <a:r>
              <a:rPr lang="ar-SY" sz="4800" dirty="0" smtClean="0">
                <a:solidFill>
                  <a:srgbClr val="FFFF00"/>
                </a:solidFill>
              </a:rPr>
              <a:t>توعية في مجال أمن المعلومات</a:t>
            </a:r>
            <a:br>
              <a:rPr lang="ar-SY" sz="4800" dirty="0" smtClean="0">
                <a:solidFill>
                  <a:srgbClr val="FFFF00"/>
                </a:solidFill>
              </a:rPr>
            </a:br>
            <a:r>
              <a:rPr lang="en-US" sz="4800" dirty="0" smtClean="0">
                <a:solidFill>
                  <a:srgbClr val="FFFF00"/>
                </a:solidFill>
              </a:rPr>
              <a:t>Information Security Awareness </a:t>
            </a:r>
            <a:endParaRPr lang="en-US" sz="4800" dirty="0">
              <a:solidFill>
                <a:srgbClr val="FFFF00"/>
              </a:solidFill>
            </a:endParaRPr>
          </a:p>
        </p:txBody>
      </p:sp>
      <p:sp>
        <p:nvSpPr>
          <p:cNvPr id="4" name="Date Placeholder 3"/>
          <p:cNvSpPr>
            <a:spLocks noGrp="1"/>
          </p:cNvSpPr>
          <p:nvPr>
            <p:ph type="dt" sz="half" idx="10"/>
          </p:nvPr>
        </p:nvSpPr>
        <p:spPr/>
        <p:txBody>
          <a:bodyPr/>
          <a:lstStyle/>
          <a:p>
            <a:r>
              <a:rPr lang="ar-SY" dirty="0" smtClean="0">
                <a:solidFill>
                  <a:srgbClr val="FFFF00"/>
                </a:solidFill>
              </a:rPr>
              <a:t>01</a:t>
            </a:r>
            <a:r>
              <a:rPr lang="en-US" dirty="0" smtClean="0">
                <a:solidFill>
                  <a:srgbClr val="FFFF00"/>
                </a:solidFill>
              </a:rPr>
              <a:t>/</a:t>
            </a:r>
            <a:r>
              <a:rPr lang="ar-SY" dirty="0" smtClean="0">
                <a:solidFill>
                  <a:srgbClr val="FFFF00"/>
                </a:solidFill>
              </a:rPr>
              <a:t>08</a:t>
            </a:r>
            <a:r>
              <a:rPr lang="en-US" dirty="0" smtClean="0">
                <a:solidFill>
                  <a:srgbClr val="FFFF00"/>
                </a:solidFill>
              </a:rPr>
              <a:t>/2022</a:t>
            </a:r>
            <a:endParaRPr lang="en-US" dirty="0">
              <a:solidFill>
                <a:srgbClr val="FFFF00"/>
              </a:solidFill>
            </a:endParaRPr>
          </a:p>
        </p:txBody>
      </p:sp>
      <p:sp>
        <p:nvSpPr>
          <p:cNvPr id="5" name="Slide Number Placeholder 4"/>
          <p:cNvSpPr>
            <a:spLocks noGrp="1"/>
          </p:cNvSpPr>
          <p:nvPr>
            <p:ph type="sldNum" sz="quarter" idx="12"/>
          </p:nvPr>
        </p:nvSpPr>
        <p:spPr/>
        <p:txBody>
          <a:bodyPr/>
          <a:lstStyle/>
          <a:p>
            <a:r>
              <a:rPr lang="en-US" dirty="0" smtClean="0">
                <a:solidFill>
                  <a:srgbClr val="FFFF00"/>
                </a:solidFill>
              </a:rPr>
              <a:t>1</a:t>
            </a:r>
            <a:endParaRPr lang="en-US" dirty="0">
              <a:solidFill>
                <a:srgbClr val="FFFF00"/>
              </a:solidFill>
            </a:endParaRPr>
          </a:p>
        </p:txBody>
      </p:sp>
    </p:spTree>
    <p:extLst>
      <p:ext uri="{BB962C8B-B14F-4D97-AF65-F5344CB8AC3E}">
        <p14:creationId xmlns:p14="http://schemas.microsoft.com/office/powerpoint/2010/main" val="1480247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4262" y="291306"/>
            <a:ext cx="10515600" cy="1325563"/>
          </a:xfrm>
        </p:spPr>
        <p:txBody>
          <a:bodyPr>
            <a:normAutofit/>
          </a:bodyPr>
          <a:lstStyle/>
          <a:p>
            <a:pPr algn="ctr"/>
            <a:r>
              <a:rPr lang="ar-SY" sz="2800" dirty="0">
                <a:latin typeface="Calibri" panose="020F0502020204030204" pitchFamily="34" charset="0"/>
                <a:cs typeface="Calibri" panose="020F0502020204030204" pitchFamily="34" charset="0"/>
              </a:rPr>
              <a:t>المَحاور الرئيسية</a:t>
            </a:r>
            <a:endParaRPr lang="en-US" sz="28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38200" y="1389856"/>
            <a:ext cx="10515600" cy="5103019"/>
          </a:xfrm>
        </p:spPr>
        <p:txBody>
          <a:bodyPr>
            <a:normAutofit fontScale="47500" lnSpcReduction="20000"/>
          </a:bodyPr>
          <a:lstStyle/>
          <a:p>
            <a:pPr>
              <a:lnSpc>
                <a:spcPct val="150000"/>
              </a:lnSpc>
              <a:buFont typeface="Wingdings" panose="05000000000000000000" pitchFamily="2" charset="2"/>
              <a:buChar char="Ø"/>
            </a:pPr>
            <a:r>
              <a:rPr lang="ar-SY" sz="6500" b="1" dirty="0" smtClean="0">
                <a:latin typeface="Calibri" panose="020F0502020204030204" pitchFamily="34" charset="0"/>
                <a:cs typeface="Calibri" panose="020F0502020204030204" pitchFamily="34" charset="0"/>
              </a:rPr>
              <a:t>أهمية </a:t>
            </a:r>
            <a:r>
              <a:rPr lang="ar-SY" sz="6500" b="1" dirty="0">
                <a:latin typeface="Calibri" panose="020F0502020204030204" pitchFamily="34" charset="0"/>
                <a:cs typeface="Calibri" panose="020F0502020204030204" pitchFamily="34" charset="0"/>
              </a:rPr>
              <a:t>أمن المعلومات. </a:t>
            </a:r>
          </a:p>
          <a:p>
            <a:pPr>
              <a:lnSpc>
                <a:spcPct val="150000"/>
              </a:lnSpc>
              <a:buFont typeface="Wingdings" panose="05000000000000000000" pitchFamily="2" charset="2"/>
              <a:buChar char="Ø"/>
            </a:pPr>
            <a:r>
              <a:rPr lang="ar-SY" sz="6500" b="1" dirty="0">
                <a:latin typeface="Calibri" panose="020F0502020204030204" pitchFamily="34" charset="0"/>
                <a:cs typeface="Calibri" panose="020F0502020204030204" pitchFamily="34" charset="0"/>
              </a:rPr>
              <a:t> مصطلحات مهمّة في مجال أمن المعلومات. </a:t>
            </a:r>
          </a:p>
          <a:p>
            <a:pPr>
              <a:lnSpc>
                <a:spcPct val="150000"/>
              </a:lnSpc>
              <a:buFont typeface="Wingdings" panose="05000000000000000000" pitchFamily="2" charset="2"/>
              <a:buChar char="Ø"/>
            </a:pPr>
            <a:r>
              <a:rPr lang="ar-SY" sz="6500" b="1" dirty="0">
                <a:latin typeface="Calibri" panose="020F0502020204030204" pitchFamily="34" charset="0"/>
                <a:cs typeface="Calibri" panose="020F0502020204030204" pitchFamily="34" charset="0"/>
              </a:rPr>
              <a:t> شرح</a:t>
            </a:r>
            <a:r>
              <a:rPr lang="ar-SA" sz="6500" b="1" dirty="0">
                <a:latin typeface="Calibri" panose="020F0502020204030204" pitchFamily="34" charset="0"/>
                <a:cs typeface="Calibri" panose="020F0502020204030204" pitchFamily="34" charset="0"/>
              </a:rPr>
              <a:t> أهم تهديدات أمن المعلومات</a:t>
            </a:r>
            <a:r>
              <a:rPr lang="ar-SY" sz="6500" b="1" dirty="0">
                <a:latin typeface="Calibri" panose="020F0502020204030204" pitchFamily="34" charset="0"/>
                <a:cs typeface="Calibri" panose="020F0502020204030204" pitchFamily="34" charset="0"/>
              </a:rPr>
              <a:t> و إجراءات التخفيف من تأثيرها.</a:t>
            </a:r>
          </a:p>
          <a:p>
            <a:pPr>
              <a:lnSpc>
                <a:spcPct val="150000"/>
              </a:lnSpc>
              <a:buFont typeface="Wingdings" panose="05000000000000000000" pitchFamily="2" charset="2"/>
              <a:buChar char="Ø"/>
            </a:pPr>
            <a:r>
              <a:rPr lang="ar-SY" sz="6500" b="1" dirty="0">
                <a:latin typeface="Calibri" panose="020F0502020204030204" pitchFamily="34" charset="0"/>
                <a:cs typeface="Calibri" panose="020F0502020204030204" pitchFamily="34" charset="0"/>
              </a:rPr>
              <a:t> إجراءات الحماية من الهجمات الإلكترونية. </a:t>
            </a:r>
          </a:p>
          <a:p>
            <a:pPr>
              <a:lnSpc>
                <a:spcPct val="150000"/>
              </a:lnSpc>
              <a:buFont typeface="Wingdings" panose="05000000000000000000" pitchFamily="2" charset="2"/>
              <a:buChar char="Ø"/>
            </a:pPr>
            <a:r>
              <a:rPr lang="ar-SY" sz="6500" b="1" dirty="0">
                <a:latin typeface="Calibri" panose="020F0502020204030204" pitchFamily="34" charset="0"/>
                <a:cs typeface="Calibri" panose="020F0502020204030204" pitchFamily="34" charset="0"/>
              </a:rPr>
              <a:t> أهم الإجراءات الواجب اتباعها لدى الشك بحدوث حالة ما.</a:t>
            </a:r>
          </a:p>
          <a:p>
            <a:pPr>
              <a:lnSpc>
                <a:spcPct val="150000"/>
              </a:lnSpc>
              <a:buFont typeface="Wingdings" panose="05000000000000000000" pitchFamily="2" charset="2"/>
              <a:buChar char="Ø"/>
            </a:pPr>
            <a:r>
              <a:rPr lang="ar-SY" sz="6500" b="1" dirty="0">
                <a:latin typeface="Calibri" panose="020F0502020204030204" pitchFamily="34" charset="0"/>
                <a:cs typeface="Calibri" panose="020F0502020204030204" pitchFamily="34" charset="0"/>
              </a:rPr>
              <a:t> أهم التوصيات</a:t>
            </a:r>
          </a:p>
          <a:p>
            <a:pPr>
              <a:lnSpc>
                <a:spcPct val="150000"/>
              </a:lnSpc>
            </a:pPr>
            <a:endPar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200" b="1"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5" name="Date Placeholder 4"/>
          <p:cNvSpPr>
            <a:spLocks noGrp="1"/>
          </p:cNvSpPr>
          <p:nvPr>
            <p:ph type="dt" sz="half" idx="10"/>
          </p:nvPr>
        </p:nvSpPr>
        <p:spPr/>
        <p:txBody>
          <a:bodyPr/>
          <a:lstStyle/>
          <a:p>
            <a:r>
              <a:rPr lang="ar-SY" dirty="0" smtClean="0"/>
              <a:t>01/08/2022</a:t>
            </a:r>
            <a:endParaRPr lang="en-US" dirty="0"/>
          </a:p>
        </p:txBody>
      </p:sp>
      <p:sp>
        <p:nvSpPr>
          <p:cNvPr id="6" name="Slide Number Placeholder 5"/>
          <p:cNvSpPr>
            <a:spLocks noGrp="1"/>
          </p:cNvSpPr>
          <p:nvPr>
            <p:ph type="sldNum" sz="quarter" idx="12"/>
          </p:nvPr>
        </p:nvSpPr>
        <p:spPr/>
        <p:txBody>
          <a:bodyPr/>
          <a:lstStyle/>
          <a:p>
            <a:fld id="{1C2A39C6-515D-4F52-9A2D-612D5FCA91E3}" type="slidenum">
              <a:rPr lang="en-US" smtClean="0"/>
              <a:t>2</a:t>
            </a:fld>
            <a:endParaRPr lang="en-US" dirty="0"/>
          </a:p>
        </p:txBody>
      </p:sp>
    </p:spTree>
    <p:extLst>
      <p:ext uri="{BB962C8B-B14F-4D97-AF65-F5344CB8AC3E}">
        <p14:creationId xmlns:p14="http://schemas.microsoft.com/office/powerpoint/2010/main" val="34732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Y" dirty="0" smtClean="0"/>
              <a:t>أهمية أمن المعلومات</a:t>
            </a:r>
            <a:endParaRPr lang="en-US" dirty="0"/>
          </a:p>
        </p:txBody>
      </p:sp>
      <p:sp>
        <p:nvSpPr>
          <p:cNvPr id="3" name="Content Placeholder 2"/>
          <p:cNvSpPr>
            <a:spLocks noGrp="1"/>
          </p:cNvSpPr>
          <p:nvPr>
            <p:ph idx="1"/>
          </p:nvPr>
        </p:nvSpPr>
        <p:spPr/>
        <p:txBody>
          <a:bodyPr>
            <a:normAutofit lnSpcReduction="10000"/>
          </a:bodyPr>
          <a:lstStyle/>
          <a:p>
            <a:r>
              <a:rPr lang="ar-SA" dirty="0" smtClean="0"/>
              <a:t>مع </a:t>
            </a:r>
            <a:r>
              <a:rPr lang="ar-SA" dirty="0"/>
              <a:t>تعاظم دور تكنولوجياالمعلومات والاتّصالات،وتزايد أثرها على المؤسسات الاقتصاديّة والاجتماعيّة،ازدادت المخاطرعلى المنظومات المعلوماتيّة وتنوّعت واختلفت </a:t>
            </a:r>
            <a:r>
              <a:rPr lang="ar-SA" dirty="0" smtClean="0"/>
              <a:t>أساليبها،وتجاوز</a:t>
            </a:r>
            <a:r>
              <a:rPr lang="ar-SY" dirty="0" smtClean="0"/>
              <a:t> </a:t>
            </a:r>
            <a:r>
              <a:rPr lang="ar-SA" dirty="0" smtClean="0"/>
              <a:t>أثرها </a:t>
            </a:r>
            <a:r>
              <a:rPr lang="ar-SA" dirty="0"/>
              <a:t>سرقة المعلومات والاختراق والتجسس إلى تعطيل الخدمات العامّة وايقاع خسائرماديّة ومعنويّة كبيرة بالافراد والمؤسسات والحكومات،وعرف مايسمّى بالحروب الإلكترونيّة</a:t>
            </a:r>
            <a:r>
              <a:rPr lang="ar-SA" dirty="0" smtClean="0"/>
              <a:t>.</a:t>
            </a:r>
            <a:endParaRPr lang="ar-SY" dirty="0" smtClean="0"/>
          </a:p>
          <a:p>
            <a:pPr marL="0" indent="0">
              <a:buNone/>
            </a:pPr>
            <a:r>
              <a:rPr lang="ar-SY" dirty="0" smtClean="0"/>
              <a:t>وتأتي أهمية أمن المعلومات:</a:t>
            </a:r>
          </a:p>
          <a:p>
            <a:pPr>
              <a:buFont typeface="Wingdings" panose="05000000000000000000" pitchFamily="2" charset="2"/>
              <a:buChar char="Ø"/>
            </a:pPr>
            <a:r>
              <a:rPr lang="en-US" dirty="0"/>
              <a:t>معظم الشركات / الأفراد لديهم معلومات تحتاج </a:t>
            </a:r>
            <a:r>
              <a:rPr lang="en-US" dirty="0" err="1"/>
              <a:t>إلى</a:t>
            </a:r>
            <a:r>
              <a:rPr lang="en-US" dirty="0"/>
              <a:t> </a:t>
            </a:r>
            <a:r>
              <a:rPr lang="en-US" dirty="0" smtClean="0"/>
              <a:t>حماية</a:t>
            </a:r>
            <a:r>
              <a:rPr lang="ar-SY" dirty="0" smtClean="0"/>
              <a:t>.</a:t>
            </a:r>
            <a:endParaRPr lang="en-US" dirty="0" smtClean="0"/>
          </a:p>
          <a:p>
            <a:pPr lvl="0">
              <a:buFont typeface="Wingdings" panose="05000000000000000000" pitchFamily="2" charset="2"/>
              <a:buChar char="Ø"/>
            </a:pPr>
            <a:r>
              <a:rPr lang="en-US" dirty="0" smtClean="0"/>
              <a:t>الخروقات الأمنية باهظة الثمن</a:t>
            </a:r>
            <a:r>
              <a:rPr lang="ar-SY" dirty="0" smtClean="0"/>
              <a:t>.</a:t>
            </a:r>
            <a:r>
              <a:rPr lang="en-US" dirty="0" smtClean="0"/>
              <a:t> </a:t>
            </a:r>
          </a:p>
          <a:p>
            <a:pPr lvl="0">
              <a:buFont typeface="Wingdings" panose="05000000000000000000" pitchFamily="2" charset="2"/>
              <a:buChar char="Ø"/>
            </a:pPr>
            <a:r>
              <a:rPr lang="en-US" dirty="0" smtClean="0"/>
              <a:t>الهجمات </a:t>
            </a:r>
            <a:r>
              <a:rPr lang="en-US" dirty="0"/>
              <a:t>أصبحت أكثر إثارة </a:t>
            </a:r>
            <a:r>
              <a:rPr lang="en-US" dirty="0" smtClean="0"/>
              <a:t>للإعجاب</a:t>
            </a:r>
            <a:r>
              <a:rPr lang="ar-SY" dirty="0" smtClean="0"/>
              <a:t>.</a:t>
            </a:r>
            <a:endParaRPr lang="en-US" dirty="0"/>
          </a:p>
          <a:p>
            <a:pPr lvl="0">
              <a:buFont typeface="Wingdings" panose="05000000000000000000" pitchFamily="2" charset="2"/>
              <a:buChar char="Ø"/>
            </a:pPr>
            <a:r>
              <a:rPr lang="en-US" dirty="0"/>
              <a:t>هناك قراصنة تحت رعاية </a:t>
            </a:r>
            <a:r>
              <a:rPr lang="en-US" dirty="0" smtClean="0"/>
              <a:t>الدولة</a:t>
            </a:r>
            <a:r>
              <a:rPr lang="ar-SY" dirty="0" smtClean="0"/>
              <a:t>.</a:t>
            </a:r>
            <a:endParaRPr lang="en-US" dirty="0"/>
          </a:p>
          <a:p>
            <a:endParaRPr lang="en-US" dirty="0"/>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3</a:t>
            </a:fld>
            <a:endParaRPr lang="en-US"/>
          </a:p>
        </p:txBody>
      </p:sp>
    </p:spTree>
    <p:extLst>
      <p:ext uri="{BB962C8B-B14F-4D97-AF65-F5344CB8AC3E}">
        <p14:creationId xmlns:p14="http://schemas.microsoft.com/office/powerpoint/2010/main" val="11706136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1255" y="421986"/>
            <a:ext cx="10515600" cy="1325563"/>
          </a:xfrm>
        </p:spPr>
        <p:txBody>
          <a:bodyPr/>
          <a:lstStyle/>
          <a:p>
            <a:pPr algn="ctr"/>
            <a:r>
              <a:rPr lang="ar-SY" dirty="0" smtClean="0"/>
              <a:t>أمن المعلومات </a:t>
            </a:r>
            <a:r>
              <a:rPr lang="en-US" dirty="0"/>
              <a:t>information security</a:t>
            </a:r>
            <a:r>
              <a:rPr lang="ar-SY" dirty="0"/>
              <a:t> </a:t>
            </a:r>
            <a:endParaRPr lang="en-US" dirty="0"/>
          </a:p>
        </p:txBody>
      </p:sp>
      <p:sp>
        <p:nvSpPr>
          <p:cNvPr id="3" name="Content Placeholder 2"/>
          <p:cNvSpPr>
            <a:spLocks noGrp="1"/>
          </p:cNvSpPr>
          <p:nvPr>
            <p:ph idx="1"/>
          </p:nvPr>
        </p:nvSpPr>
        <p:spPr>
          <a:xfrm>
            <a:off x="838200" y="1747549"/>
            <a:ext cx="10515600" cy="4351338"/>
          </a:xfrm>
        </p:spPr>
        <p:txBody>
          <a:bodyPr>
            <a:normAutofit fontScale="25000" lnSpcReduction="20000"/>
          </a:bodyPr>
          <a:lstStyle/>
          <a:p>
            <a:pPr marL="0" indent="0">
              <a:buNone/>
            </a:pPr>
            <a:r>
              <a:rPr lang="ar-SA" sz="10400" dirty="0" smtClean="0">
                <a:latin typeface="Calibri" panose="020F0502020204030204" pitchFamily="34" charset="0"/>
                <a:cs typeface="Calibri" panose="020F0502020204030204" pitchFamily="34" charset="0"/>
              </a:rPr>
              <a:t> </a:t>
            </a:r>
            <a:r>
              <a:rPr lang="ar-SA" sz="10400" dirty="0">
                <a:latin typeface="Calibri" panose="020F0502020204030204" pitchFamily="34" charset="0"/>
                <a:cs typeface="Calibri" panose="020F0502020204030204" pitchFamily="34" charset="0"/>
              </a:rPr>
              <a:t>ي</a:t>
            </a:r>
            <a:r>
              <a:rPr lang="ar-SY" sz="10400" dirty="0" smtClean="0">
                <a:latin typeface="Calibri" panose="020F0502020204030204" pitchFamily="34" charset="0"/>
                <a:cs typeface="Calibri" panose="020F0502020204030204" pitchFamily="34" charset="0"/>
              </a:rPr>
              <a:t>عني </a:t>
            </a:r>
            <a:r>
              <a:rPr lang="ar-SY" sz="10400" dirty="0">
                <a:latin typeface="Calibri" panose="020F0502020204030204" pitchFamily="34" charset="0"/>
                <a:cs typeface="Calibri" panose="020F0502020204030204" pitchFamily="34" charset="0"/>
              </a:rPr>
              <a:t>حماية أي نوع من المعلومات الحساسة من قبل الآتي:</a:t>
            </a:r>
            <a:endParaRPr lang="en-US" sz="10400" dirty="0">
              <a:latin typeface="Calibri" panose="020F0502020204030204" pitchFamily="34" charset="0"/>
              <a:cs typeface="Calibri" panose="020F0502020204030204" pitchFamily="34" charset="0"/>
            </a:endParaRPr>
          </a:p>
          <a:p>
            <a:pPr>
              <a:buFont typeface="Wingdings" panose="05000000000000000000" pitchFamily="2" charset="2"/>
              <a:buChar char="ü"/>
            </a:pPr>
            <a:r>
              <a:rPr lang="ar-SA" sz="10400" dirty="0" smtClean="0">
                <a:latin typeface="Calibri" panose="020F0502020204030204" pitchFamily="34" charset="0"/>
                <a:cs typeface="Calibri" panose="020F0502020204030204" pitchFamily="34" charset="0"/>
              </a:rPr>
              <a:t> </a:t>
            </a:r>
            <a:r>
              <a:rPr lang="ar-SA" sz="10400" dirty="0">
                <a:latin typeface="Calibri" panose="020F0502020204030204" pitchFamily="34" charset="0"/>
                <a:cs typeface="Calibri" panose="020F0502020204030204" pitchFamily="34" charset="0"/>
              </a:rPr>
              <a:t>الولوج/الوصول الغیر مصرح </a:t>
            </a:r>
            <a:r>
              <a:rPr lang="ar-SA" sz="10400" dirty="0" smtClean="0">
                <a:latin typeface="Calibri" panose="020F0502020204030204" pitchFamily="34" charset="0"/>
                <a:cs typeface="Calibri" panose="020F0502020204030204" pitchFamily="34" charset="0"/>
              </a:rPr>
              <a:t>به</a:t>
            </a:r>
            <a:endParaRPr lang="ar-SY" sz="10400" dirty="0">
              <a:latin typeface="Calibri" panose="020F0502020204030204" pitchFamily="34" charset="0"/>
              <a:cs typeface="Calibri" panose="020F0502020204030204" pitchFamily="34" charset="0"/>
            </a:endParaRPr>
          </a:p>
          <a:p>
            <a:pPr>
              <a:buFont typeface="Wingdings" panose="05000000000000000000" pitchFamily="2" charset="2"/>
              <a:buChar char="ü"/>
            </a:pPr>
            <a:r>
              <a:rPr lang="ar-SA" sz="10400" dirty="0" smtClean="0">
                <a:latin typeface="Calibri" panose="020F0502020204030204" pitchFamily="34" charset="0"/>
                <a:cs typeface="Calibri" panose="020F0502020204030204" pitchFamily="34" charset="0"/>
              </a:rPr>
              <a:t>الكشف </a:t>
            </a:r>
            <a:r>
              <a:rPr lang="ar-SA" sz="10400" dirty="0">
                <a:latin typeface="Calibri" panose="020F0502020204030204" pitchFamily="34" charset="0"/>
                <a:cs typeface="Calibri" panose="020F0502020204030204" pitchFamily="34" charset="0"/>
              </a:rPr>
              <a:t>عن ھذه المعلومات </a:t>
            </a:r>
            <a:r>
              <a:rPr lang="en-US" sz="10400" dirty="0">
                <a:latin typeface="Calibri" panose="020F0502020204030204" pitchFamily="34" charset="0"/>
                <a:cs typeface="Calibri" panose="020F0502020204030204" pitchFamily="34" charset="0"/>
              </a:rPr>
              <a:t>Disclosure</a:t>
            </a:r>
            <a:r>
              <a:rPr lang="ar-SA" sz="10400" dirty="0" smtClean="0">
                <a:latin typeface="Calibri" panose="020F0502020204030204" pitchFamily="34" charset="0"/>
                <a:cs typeface="Calibri" panose="020F0502020204030204" pitchFamily="34" charset="0"/>
              </a:rPr>
              <a:t>.</a:t>
            </a:r>
            <a:endParaRPr lang="ar-SY" sz="10400" dirty="0">
              <a:latin typeface="Calibri" panose="020F0502020204030204" pitchFamily="34" charset="0"/>
              <a:cs typeface="Calibri" panose="020F0502020204030204" pitchFamily="34" charset="0"/>
            </a:endParaRPr>
          </a:p>
          <a:p>
            <a:pPr>
              <a:buFont typeface="Wingdings" panose="05000000000000000000" pitchFamily="2" charset="2"/>
              <a:buChar char="ü"/>
            </a:pPr>
            <a:r>
              <a:rPr lang="ar-SA" sz="10400" dirty="0" smtClean="0">
                <a:latin typeface="Calibri" panose="020F0502020204030204" pitchFamily="34" charset="0"/>
                <a:cs typeface="Calibri" panose="020F0502020204030204" pitchFamily="34" charset="0"/>
              </a:rPr>
              <a:t>التعدیل </a:t>
            </a:r>
            <a:r>
              <a:rPr lang="ar-SA" sz="10400" dirty="0">
                <a:latin typeface="Calibri" panose="020F0502020204030204" pitchFamily="34" charset="0"/>
                <a:cs typeface="Calibri" panose="020F0502020204030204" pitchFamily="34" charset="0"/>
              </a:rPr>
              <a:t>على ھذه المعلومات </a:t>
            </a:r>
            <a:r>
              <a:rPr lang="en-US" sz="10400" dirty="0" smtClean="0">
                <a:latin typeface="Calibri" panose="020F0502020204030204" pitchFamily="34" charset="0"/>
                <a:cs typeface="Calibri" panose="020F0502020204030204" pitchFamily="34" charset="0"/>
              </a:rPr>
              <a:t>Alteration</a:t>
            </a:r>
            <a:r>
              <a:rPr lang="ar-SA" sz="10400" dirty="0">
                <a:latin typeface="Calibri" panose="020F0502020204030204" pitchFamily="34" charset="0"/>
                <a:cs typeface="Calibri" panose="020F0502020204030204" pitchFamily="34" charset="0"/>
              </a:rPr>
              <a:t>.</a:t>
            </a:r>
            <a:endParaRPr lang="en-US" sz="10400" dirty="0">
              <a:latin typeface="Calibri" panose="020F0502020204030204" pitchFamily="34" charset="0"/>
              <a:cs typeface="Calibri" panose="020F0502020204030204" pitchFamily="34" charset="0"/>
            </a:endParaRPr>
          </a:p>
          <a:p>
            <a:pPr>
              <a:buFont typeface="Wingdings" panose="05000000000000000000" pitchFamily="2" charset="2"/>
              <a:buChar char="ü"/>
            </a:pPr>
            <a:r>
              <a:rPr lang="ar-SA" sz="10400" dirty="0" smtClean="0">
                <a:latin typeface="Calibri" panose="020F0502020204030204" pitchFamily="34" charset="0"/>
                <a:cs typeface="Calibri" panose="020F0502020204030204" pitchFamily="34" charset="0"/>
              </a:rPr>
              <a:t>تدمیر </a:t>
            </a:r>
            <a:r>
              <a:rPr lang="ar-SA" sz="10400" dirty="0">
                <a:latin typeface="Calibri" panose="020F0502020204030204" pitchFamily="34" charset="0"/>
                <a:cs typeface="Calibri" panose="020F0502020204030204" pitchFamily="34" charset="0"/>
              </a:rPr>
              <a:t>ھذه المعلومات </a:t>
            </a:r>
            <a:r>
              <a:rPr lang="en-US" sz="10400" dirty="0">
                <a:latin typeface="Calibri" panose="020F0502020204030204" pitchFamily="34" charset="0"/>
                <a:cs typeface="Calibri" panose="020F0502020204030204" pitchFamily="34" charset="0"/>
              </a:rPr>
              <a:t>Destruction</a:t>
            </a:r>
            <a:r>
              <a:rPr lang="ar-SA" sz="10400" dirty="0" smtClean="0">
                <a:latin typeface="Calibri" panose="020F0502020204030204" pitchFamily="34" charset="0"/>
                <a:cs typeface="Calibri" panose="020F0502020204030204" pitchFamily="34" charset="0"/>
              </a:rPr>
              <a:t>.</a:t>
            </a:r>
            <a:endParaRPr lang="ar-SY" sz="10400" dirty="0" smtClean="0">
              <a:latin typeface="Calibri" panose="020F0502020204030204" pitchFamily="34" charset="0"/>
              <a:cs typeface="Calibri" panose="020F0502020204030204" pitchFamily="34" charset="0"/>
            </a:endParaRPr>
          </a:p>
          <a:p>
            <a:pPr marL="0" indent="0">
              <a:buNone/>
            </a:pPr>
            <a:endParaRPr lang="ar-SY" sz="10400" dirty="0" smtClean="0">
              <a:latin typeface="Calibri" panose="020F0502020204030204" pitchFamily="34" charset="0"/>
              <a:cs typeface="Calibri" panose="020F0502020204030204" pitchFamily="34" charset="0"/>
            </a:endParaRPr>
          </a:p>
          <a:p>
            <a:pPr marL="0" indent="0">
              <a:lnSpc>
                <a:spcPts val="3000"/>
              </a:lnSpc>
              <a:buNone/>
            </a:pPr>
            <a:r>
              <a:rPr lang="ar-SY" sz="10400" dirty="0">
                <a:latin typeface="Calibri" panose="020F0502020204030204" pitchFamily="34" charset="0"/>
                <a:cs typeface="Calibri" panose="020F0502020204030204" pitchFamily="34" charset="0"/>
              </a:rPr>
              <a:t>فهي مجموعة الوسائل والعمليات والتدابير والإجراءات الخاصة بالحفاظ على سريّة وسلامة و توافرية المعلومات وأصولها المعلوماتية وحمايتها من كافة أنواع التهديدات والمخاطر </a:t>
            </a:r>
            <a:r>
              <a:rPr lang="ar-SY" sz="10400" dirty="0" smtClean="0">
                <a:latin typeface="Calibri" panose="020F0502020204030204" pitchFamily="34" charset="0"/>
                <a:cs typeface="Calibri" panose="020F0502020204030204" pitchFamily="34" charset="0"/>
              </a:rPr>
              <a:t>المحتمَلة</a:t>
            </a:r>
            <a:r>
              <a:rPr lang="en-US" sz="10400" dirty="0">
                <a:latin typeface="Calibri" panose="020F0502020204030204" pitchFamily="34" charset="0"/>
                <a:cs typeface="Calibri" panose="020F0502020204030204" pitchFamily="34" charset="0"/>
              </a:rPr>
              <a:t>.</a:t>
            </a:r>
            <a:endParaRPr lang="ar-SY" sz="10400" dirty="0">
              <a:latin typeface="Calibri" panose="020F0502020204030204" pitchFamily="34" charset="0"/>
              <a:cs typeface="Calibri" panose="020F0502020204030204" pitchFamily="34" charset="0"/>
            </a:endParaRPr>
          </a:p>
          <a:p>
            <a:pPr marL="0" indent="0">
              <a:lnSpc>
                <a:spcPts val="3000"/>
              </a:lnSpc>
              <a:buNone/>
            </a:pPr>
            <a:r>
              <a:rPr lang="ar-SA" sz="10400" dirty="0" smtClean="0">
                <a:latin typeface="Calibri" panose="020F0502020204030204" pitchFamily="34" charset="0"/>
                <a:cs typeface="Calibri" panose="020F0502020204030204" pitchFamily="34" charset="0"/>
              </a:rPr>
              <a:t>المعلومات </a:t>
            </a:r>
            <a:r>
              <a:rPr lang="ar-SA" sz="10400" dirty="0">
                <a:latin typeface="Calibri" panose="020F0502020204030204" pitchFamily="34" charset="0"/>
                <a:cs typeface="Calibri" panose="020F0502020204030204" pitchFamily="34" charset="0"/>
              </a:rPr>
              <a:t>تعتبر من المصادر </a:t>
            </a:r>
            <a:r>
              <a:rPr lang="ar-SA" sz="10400" dirty="0" smtClean="0">
                <a:latin typeface="Calibri" panose="020F0502020204030204" pitchFamily="34" charset="0"/>
                <a:cs typeface="Calibri" panose="020F0502020204030204" pitchFamily="34" charset="0"/>
              </a:rPr>
              <a:t>ال</a:t>
            </a:r>
            <a:r>
              <a:rPr lang="ar-SY" sz="10400" dirty="0" smtClean="0">
                <a:latin typeface="Calibri" panose="020F0502020204030204" pitchFamily="34" charset="0"/>
                <a:cs typeface="Calibri" panose="020F0502020204030204" pitchFamily="34" charset="0"/>
              </a:rPr>
              <a:t>مهمّة</a:t>
            </a:r>
            <a:r>
              <a:rPr lang="ar-SA" sz="10400" dirty="0" smtClean="0">
                <a:latin typeface="Calibri" panose="020F0502020204030204" pitchFamily="34" charset="0"/>
                <a:cs typeface="Calibri" panose="020F0502020204030204" pitchFamily="34" charset="0"/>
              </a:rPr>
              <a:t> </a:t>
            </a:r>
            <a:r>
              <a:rPr lang="ar-SA" sz="10400" dirty="0">
                <a:latin typeface="Calibri" panose="020F0502020204030204" pitchFamily="34" charset="0"/>
                <a:cs typeface="Calibri" panose="020F0502020204030204" pitchFamily="34" charset="0"/>
              </a:rPr>
              <a:t>لذلك یجب أن تكون أمنه، وذلك لان وقوع ھذه المعلومات في الأیدي الخطأ قد یسبب تھدیدا كبیرا على البنیة التي تخصھا ھذه المعلومات</a:t>
            </a:r>
            <a:endParaRPr lang="en-US" sz="10400" dirty="0">
              <a:latin typeface="Calibri" panose="020F0502020204030204" pitchFamily="34" charset="0"/>
              <a:cs typeface="Calibri" panose="020F0502020204030204" pitchFamily="34" charset="0"/>
            </a:endParaRPr>
          </a:p>
          <a:p>
            <a:pPr marL="0" indent="0">
              <a:buNone/>
            </a:pPr>
            <a:r>
              <a:rPr lang="en-US" dirty="0"/>
              <a:t/>
            </a:r>
            <a:br>
              <a:rPr lang="en-US" dirty="0"/>
            </a:br>
            <a:endParaRPr lang="en-US" dirty="0"/>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4</a:t>
            </a:fld>
            <a:endParaRPr lang="en-US"/>
          </a:p>
        </p:txBody>
      </p:sp>
    </p:spTree>
    <p:extLst>
      <p:ext uri="{BB962C8B-B14F-4D97-AF65-F5344CB8AC3E}">
        <p14:creationId xmlns:p14="http://schemas.microsoft.com/office/powerpoint/2010/main" val="10048333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7000"/>
            <a:lum/>
          </a:blip>
          <a:srcRect/>
          <a:stretch>
            <a:fillRect t="-96000" b="-4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09800" y="264534"/>
            <a:ext cx="10515600" cy="1325563"/>
          </a:xfrm>
        </p:spPr>
        <p:txBody>
          <a:bodyPr>
            <a:normAutofit/>
          </a:bodyPr>
          <a:lstStyle/>
          <a:p>
            <a:pPr algn="ctr"/>
            <a:r>
              <a:rPr lang="ar-SY" sz="2800" dirty="0">
                <a:solidFill>
                  <a:srgbClr val="FF0000"/>
                </a:solidFill>
                <a:latin typeface="Calibri" panose="020F0502020204030204" pitchFamily="34" charset="0"/>
                <a:ea typeface="+mn-ea"/>
                <a:cs typeface="Calibri" panose="020F0502020204030204" pitchFamily="34" charset="0"/>
              </a:rPr>
              <a:t>مصطلحات مهمّة في مجال أمن المعلومات</a:t>
            </a:r>
            <a:endParaRPr lang="en-US" sz="2800" dirty="0">
              <a:solidFill>
                <a:srgbClr val="FF0000"/>
              </a:solidFill>
              <a:latin typeface="Calibri" panose="020F0502020204030204" pitchFamily="34" charset="0"/>
              <a:ea typeface="+mn-ea"/>
              <a:cs typeface="Calibri" panose="020F0502020204030204" pitchFamily="34" charset="0"/>
            </a:endParaRPr>
          </a:p>
        </p:txBody>
      </p:sp>
      <p:sp>
        <p:nvSpPr>
          <p:cNvPr id="3" name="Content Placeholder 2"/>
          <p:cNvSpPr>
            <a:spLocks noGrp="1"/>
          </p:cNvSpPr>
          <p:nvPr>
            <p:ph idx="1"/>
          </p:nvPr>
        </p:nvSpPr>
        <p:spPr>
          <a:xfrm>
            <a:off x="838200" y="1340715"/>
            <a:ext cx="10515600" cy="4725234"/>
          </a:xfrm>
        </p:spPr>
        <p:txBody>
          <a:bodyPr>
            <a:noAutofit/>
          </a:bodyPr>
          <a:lstStyle/>
          <a:p>
            <a:pPr marL="0" indent="0">
              <a:lnSpc>
                <a:spcPts val="3200"/>
              </a:lnSpc>
              <a:buNone/>
            </a:pPr>
            <a:r>
              <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الأصول المعلوماتيّة</a:t>
            </a:r>
            <a:r>
              <a:rPr lang="en-US"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Information Assets </a:t>
            </a:r>
            <a:endPar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marL="0" indent="0">
              <a:lnSpc>
                <a:spcPts val="3200"/>
              </a:lnSpc>
              <a:buNone/>
            </a:pPr>
            <a:r>
              <a:rPr lang="ar-SY" sz="2600" b="1" dirty="0" smtClean="0">
                <a:latin typeface="Calibri" panose="020F0502020204030204" pitchFamily="34" charset="0"/>
                <a:cs typeface="Calibri" panose="020F0502020204030204" pitchFamily="34" charset="0"/>
              </a:rPr>
              <a:t>يمكن </a:t>
            </a:r>
            <a:r>
              <a:rPr lang="ar-SY" sz="2600" b="1" dirty="0">
                <a:latin typeface="Calibri" panose="020F0502020204030204" pitchFamily="34" charset="0"/>
                <a:cs typeface="Calibri" panose="020F0502020204030204" pitchFamily="34" charset="0"/>
              </a:rPr>
              <a:t>تصنيفها عمومًا إلى ست </a:t>
            </a:r>
            <a:r>
              <a:rPr lang="ar-SY" sz="2600" b="1" dirty="0" smtClean="0">
                <a:latin typeface="Calibri" panose="020F0502020204030204" pitchFamily="34" charset="0"/>
                <a:cs typeface="Calibri" panose="020F0502020204030204" pitchFamily="34" charset="0"/>
              </a:rPr>
              <a:t>فئات</a:t>
            </a:r>
            <a:r>
              <a:rPr lang="en-US" sz="2600" b="1" dirty="0" smtClean="0">
                <a:latin typeface="Calibri" panose="020F0502020204030204" pitchFamily="34" charset="0"/>
                <a:cs typeface="Calibri" panose="020F0502020204030204" pitchFamily="34" charset="0"/>
              </a:rPr>
              <a:t>:</a:t>
            </a:r>
          </a:p>
          <a:p>
            <a:pPr>
              <a:lnSpc>
                <a:spcPts val="3200"/>
              </a:lnSpc>
            </a:pPr>
            <a:r>
              <a:rPr lang="ar-SY" sz="2600" b="1" dirty="0" smtClean="0">
                <a:latin typeface="Calibri" panose="020F0502020204030204" pitchFamily="34" charset="0"/>
                <a:cs typeface="Calibri" panose="020F0502020204030204" pitchFamily="34" charset="0"/>
              </a:rPr>
              <a:t> </a:t>
            </a:r>
            <a:r>
              <a:rPr lang="ar-SY" sz="2600" b="1" dirty="0">
                <a:latin typeface="Calibri" panose="020F0502020204030204" pitchFamily="34" charset="0"/>
                <a:cs typeface="Calibri" panose="020F0502020204030204" pitchFamily="34" charset="0"/>
              </a:rPr>
              <a:t>البيانات (في جميع الأشكال</a:t>
            </a:r>
            <a:r>
              <a:rPr lang="ar-SY" sz="2600" b="1" dirty="0" smtClean="0">
                <a:latin typeface="Calibri" panose="020F0502020204030204" pitchFamily="34" charset="0"/>
                <a:cs typeface="Calibri" panose="020F0502020204030204" pitchFamily="34" charset="0"/>
              </a:rPr>
              <a:t>)</a:t>
            </a:r>
            <a:r>
              <a:rPr lang="en-US" sz="2600" b="1" dirty="0">
                <a:latin typeface="Calibri" panose="020F0502020204030204" pitchFamily="34" charset="0"/>
                <a:cs typeface="Calibri" panose="020F0502020204030204" pitchFamily="34" charset="0"/>
              </a:rPr>
              <a:t>.</a:t>
            </a:r>
            <a:endParaRPr lang="en-US" sz="2600" b="1" dirty="0" smtClean="0">
              <a:latin typeface="Calibri" panose="020F0502020204030204" pitchFamily="34" charset="0"/>
              <a:cs typeface="Calibri" panose="020F0502020204030204" pitchFamily="34" charset="0"/>
            </a:endParaRPr>
          </a:p>
          <a:p>
            <a:pPr>
              <a:lnSpc>
                <a:spcPts val="3200"/>
              </a:lnSpc>
            </a:pPr>
            <a:r>
              <a:rPr lang="ar-SY" sz="2600" b="1" dirty="0" smtClean="0">
                <a:latin typeface="Calibri" panose="020F0502020204030204" pitchFamily="34" charset="0"/>
                <a:cs typeface="Calibri" panose="020F0502020204030204" pitchFamily="34" charset="0"/>
              </a:rPr>
              <a:t>البرمجيات</a:t>
            </a:r>
            <a:r>
              <a:rPr lang="en-US" sz="2600" b="1" dirty="0" smtClean="0">
                <a:latin typeface="Calibri" panose="020F0502020204030204" pitchFamily="34" charset="0"/>
                <a:cs typeface="Calibri" panose="020F0502020204030204" pitchFamily="34" charset="0"/>
              </a:rPr>
              <a:t>Software </a:t>
            </a:r>
            <a:r>
              <a:rPr lang="ar-SY" sz="2600" b="1" dirty="0" smtClean="0">
                <a:latin typeface="Calibri" panose="020F0502020204030204" pitchFamily="34" charset="0"/>
                <a:cs typeface="Calibri" panose="020F0502020204030204" pitchFamily="34" charset="0"/>
              </a:rPr>
              <a:t> (أنظمة التشغيل، التطبيقات سواء المطورة أو المرخصة)</a:t>
            </a:r>
            <a:r>
              <a:rPr lang="en-US" sz="2600" b="1" dirty="0" smtClean="0">
                <a:latin typeface="Calibri" panose="020F0502020204030204" pitchFamily="34" charset="0"/>
                <a:cs typeface="Calibri" panose="020F0502020204030204" pitchFamily="34" charset="0"/>
              </a:rPr>
              <a:t>.</a:t>
            </a:r>
          </a:p>
          <a:p>
            <a:pPr>
              <a:lnSpc>
                <a:spcPts val="3200"/>
              </a:lnSpc>
            </a:pPr>
            <a:r>
              <a:rPr lang="ar-SY" sz="2600" b="1" dirty="0" smtClean="0">
                <a:latin typeface="Calibri" panose="020F0502020204030204" pitchFamily="34" charset="0"/>
                <a:cs typeface="Calibri" panose="020F0502020204030204" pitchFamily="34" charset="0"/>
              </a:rPr>
              <a:t>الأجهزة </a:t>
            </a:r>
            <a:r>
              <a:rPr lang="ar-SY" sz="2600" b="1" dirty="0">
                <a:latin typeface="Calibri" panose="020F0502020204030204" pitchFamily="34" charset="0"/>
                <a:cs typeface="Calibri" panose="020F0502020204030204" pitchFamily="34" charset="0"/>
              </a:rPr>
              <a:t>(أجهزة </a:t>
            </a:r>
            <a:r>
              <a:rPr lang="ar-SY" sz="2600" b="1" dirty="0" smtClean="0">
                <a:latin typeface="Calibri" panose="020F0502020204030204" pitchFamily="34" charset="0"/>
                <a:cs typeface="Calibri" panose="020F0502020204030204" pitchFamily="34" charset="0"/>
              </a:rPr>
              <a:t>الكمبيوتر، الخوادم، الطابعات، أجهزة الشبكة وما </a:t>
            </a:r>
            <a:r>
              <a:rPr lang="ar-SY" sz="2600" b="1" dirty="0">
                <a:latin typeface="Calibri" panose="020F0502020204030204" pitchFamily="34" charset="0"/>
                <a:cs typeface="Calibri" panose="020F0502020204030204" pitchFamily="34" charset="0"/>
              </a:rPr>
              <a:t>إلى ذلك</a:t>
            </a:r>
            <a:r>
              <a:rPr lang="ar-SY" sz="2600" b="1" dirty="0" smtClean="0">
                <a:latin typeface="Calibri" panose="020F0502020204030204" pitchFamily="34" charset="0"/>
                <a:cs typeface="Calibri" panose="020F0502020204030204" pitchFamily="34" charset="0"/>
              </a:rPr>
              <a:t>)</a:t>
            </a:r>
            <a:r>
              <a:rPr lang="en-US" sz="2600" b="1" dirty="0" smtClean="0">
                <a:latin typeface="Calibri" panose="020F0502020204030204" pitchFamily="34" charset="0"/>
                <a:cs typeface="Calibri" panose="020F0502020204030204" pitchFamily="34" charset="0"/>
              </a:rPr>
              <a:t>.</a:t>
            </a:r>
          </a:p>
          <a:p>
            <a:pPr>
              <a:lnSpc>
                <a:spcPts val="3200"/>
              </a:lnSpc>
            </a:pPr>
            <a:r>
              <a:rPr lang="ar-SY" sz="2600" b="1" dirty="0" smtClean="0">
                <a:latin typeface="Calibri" panose="020F0502020204030204" pitchFamily="34" charset="0"/>
                <a:cs typeface="Calibri" panose="020F0502020204030204" pitchFamily="34" charset="0"/>
              </a:rPr>
              <a:t>الخدمات </a:t>
            </a:r>
            <a:r>
              <a:rPr lang="ar-SY" sz="2600" b="1" dirty="0">
                <a:latin typeface="Calibri" panose="020F0502020204030204" pitchFamily="34" charset="0"/>
                <a:cs typeface="Calibri" panose="020F0502020204030204" pitchFamily="34" charset="0"/>
              </a:rPr>
              <a:t>(خدمات الكمبيوتر </a:t>
            </a:r>
            <a:r>
              <a:rPr lang="ar-SY" sz="2600" b="1" dirty="0" smtClean="0">
                <a:latin typeface="Calibri" panose="020F0502020204030204" pitchFamily="34" charset="0"/>
                <a:cs typeface="Calibri" panose="020F0502020204030204" pitchFamily="34" charset="0"/>
              </a:rPr>
              <a:t>والاتصالات، الخدمات </a:t>
            </a:r>
            <a:r>
              <a:rPr lang="ar-SY" sz="2600" b="1" dirty="0">
                <a:latin typeface="Calibri" panose="020F0502020204030204" pitchFamily="34" charset="0"/>
                <a:cs typeface="Calibri" panose="020F0502020204030204" pitchFamily="34" charset="0"/>
              </a:rPr>
              <a:t>العامة - الكهرباء التوريد والتدفئة وتكييف الهواء وما إلى </a:t>
            </a:r>
            <a:r>
              <a:rPr lang="ar-SY" sz="2600" b="1" dirty="0" smtClean="0">
                <a:latin typeface="Calibri" panose="020F0502020204030204" pitchFamily="34" charset="0"/>
                <a:cs typeface="Calibri" panose="020F0502020204030204" pitchFamily="34" charset="0"/>
              </a:rPr>
              <a:t>ذلك).</a:t>
            </a:r>
          </a:p>
          <a:p>
            <a:pPr>
              <a:lnSpc>
                <a:spcPts val="3200"/>
              </a:lnSpc>
            </a:pPr>
            <a:r>
              <a:rPr lang="ar-SY" sz="2600" b="1" dirty="0" smtClean="0">
                <a:latin typeface="Calibri" panose="020F0502020204030204" pitchFamily="34" charset="0"/>
                <a:cs typeface="Calibri" panose="020F0502020204030204" pitchFamily="34" charset="0"/>
              </a:rPr>
              <a:t>الأشخاص </a:t>
            </a:r>
            <a:r>
              <a:rPr lang="ar-SY" sz="2600" b="1" dirty="0">
                <a:latin typeface="Calibri" panose="020F0502020204030204" pitchFamily="34" charset="0"/>
                <a:cs typeface="Calibri" panose="020F0502020204030204" pitchFamily="34" charset="0"/>
              </a:rPr>
              <a:t>(عدد وكفاءة الموظفين) </a:t>
            </a:r>
            <a:endParaRPr lang="en-US" sz="2600" b="1" dirty="0" smtClean="0">
              <a:latin typeface="Calibri" panose="020F0502020204030204" pitchFamily="34" charset="0"/>
              <a:cs typeface="Calibri" panose="020F0502020204030204" pitchFamily="34" charset="0"/>
            </a:endParaRPr>
          </a:p>
          <a:p>
            <a:pPr>
              <a:lnSpc>
                <a:spcPts val="3200"/>
              </a:lnSpc>
            </a:pPr>
            <a:r>
              <a:rPr lang="ar-SY" sz="2600" b="1" dirty="0" smtClean="0">
                <a:latin typeface="Calibri" panose="020F0502020204030204" pitchFamily="34" charset="0"/>
                <a:cs typeface="Calibri" panose="020F0502020204030204" pitchFamily="34" charset="0"/>
              </a:rPr>
              <a:t>الأصول </a:t>
            </a:r>
            <a:r>
              <a:rPr lang="ar-SY" sz="2600" b="1" dirty="0">
                <a:latin typeface="Calibri" panose="020F0502020204030204" pitchFamily="34" charset="0"/>
                <a:cs typeface="Calibri" panose="020F0502020204030204" pitchFamily="34" charset="0"/>
              </a:rPr>
              <a:t>غير المادية (السمعة ، صورة المنظمة ، الشهادات والتراخيص ، الجوائز ، إلخ)</a:t>
            </a:r>
            <a:endParaRPr lang="en-US" sz="2600" b="1" dirty="0">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5</a:t>
            </a:fld>
            <a:endParaRPr lang="en-US"/>
          </a:p>
        </p:txBody>
      </p:sp>
    </p:spTree>
    <p:extLst>
      <p:ext uri="{BB962C8B-B14F-4D97-AF65-F5344CB8AC3E}">
        <p14:creationId xmlns:p14="http://schemas.microsoft.com/office/powerpoint/2010/main" val="7552867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1674"/>
            <a:ext cx="10515600" cy="5185290"/>
          </a:xfrm>
        </p:spPr>
        <p:txBody>
          <a:bodyPr>
            <a:normAutofit/>
          </a:bodyPr>
          <a:lstStyle/>
          <a:p>
            <a:pPr marL="0" indent="0" algn="just">
              <a:lnSpc>
                <a:spcPts val="3000"/>
              </a:lnSpc>
              <a:buNone/>
            </a:pPr>
            <a:r>
              <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المعلومات</a:t>
            </a:r>
          </a:p>
          <a:p>
            <a:pPr marL="0" indent="0" algn="just">
              <a:lnSpc>
                <a:spcPts val="3000"/>
              </a:lnSpc>
              <a:buNone/>
            </a:pPr>
            <a:r>
              <a:rPr lang="ar-SY" sz="26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كافة </a:t>
            </a:r>
            <a:r>
              <a:rPr lang="ar-SY" sz="26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أنواع البيانات التي تحمل معنىً أو مغزىً محدداً قابلاً للإدراك، بمعنى آخر هي مجموعة من البيانات التي تتم معالجتها أو تحليلها أو تفسيرها أو تنظيمها أو تصنيفها أو نقلها من أجل خدمة غرض مفيد أو تقديم حقائق أو تمثيل المعرفة بأي وسيلة أو شكل أو </a:t>
            </a:r>
            <a:r>
              <a:rPr lang="ar-SY" sz="26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صيغة</a:t>
            </a:r>
          </a:p>
          <a:p>
            <a:pPr marL="0" indent="0">
              <a:lnSpc>
                <a:spcPts val="3000"/>
              </a:lnSpc>
              <a:buNone/>
            </a:pPr>
            <a:r>
              <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تسرّب</a:t>
            </a:r>
            <a:r>
              <a:rPr lang="ar-SY" sz="2600" dirty="0">
                <a:solidFill>
                  <a:srgbClr val="00B0F0"/>
                </a:solidFill>
                <a:latin typeface="Calibri" panose="020F0502020204030204" pitchFamily="34" charset="0"/>
                <a:ea typeface="Monotype Koufi" pitchFamily="2" charset="-78"/>
                <a:cs typeface="Calibri" panose="020F0502020204030204" pitchFamily="34" charset="0"/>
              </a:rPr>
              <a:t> </a:t>
            </a:r>
            <a:r>
              <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البيانات</a:t>
            </a:r>
            <a:r>
              <a:rPr lang="ar-SY" sz="2600" dirty="0">
                <a:solidFill>
                  <a:srgbClr val="00B0F0"/>
                </a:solidFill>
                <a:latin typeface="Calibri" panose="020F0502020204030204" pitchFamily="34" charset="0"/>
                <a:ea typeface="Monotype Koufi" pitchFamily="2" charset="-78"/>
                <a:cs typeface="Calibri" panose="020F0502020204030204" pitchFamily="34" charset="0"/>
              </a:rPr>
              <a:t> </a:t>
            </a:r>
            <a:r>
              <a:rPr lang="en-US"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Data</a:t>
            </a:r>
            <a:r>
              <a:rPr lang="en-US" sz="2600" dirty="0">
                <a:solidFill>
                  <a:srgbClr val="00B0F0"/>
                </a:solidFill>
                <a:latin typeface="Calibri" panose="020F0502020204030204" pitchFamily="34" charset="0"/>
                <a:ea typeface="Monotype Koufi" pitchFamily="2" charset="-78"/>
                <a:cs typeface="Calibri" panose="020F0502020204030204" pitchFamily="34" charset="0"/>
              </a:rPr>
              <a:t> </a:t>
            </a:r>
            <a:r>
              <a:rPr lang="en-US"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Leakage</a:t>
            </a:r>
            <a:endPar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a:lnSpc>
                <a:spcPts val="3000"/>
              </a:lnSpc>
            </a:pPr>
            <a:r>
              <a:rPr lang="ar-SY" sz="26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كشف بيانات مهمّة لجهات أو أشخاص غير مخوَّلين بالاطلاع عليها.</a:t>
            </a:r>
          </a:p>
          <a:p>
            <a:pPr marL="0" indent="0">
              <a:lnSpc>
                <a:spcPts val="3000"/>
              </a:lnSpc>
              <a:buNone/>
            </a:pPr>
            <a:r>
              <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التصيّد</a:t>
            </a:r>
            <a:r>
              <a:rPr lang="ar-SY" sz="2600" dirty="0">
                <a:latin typeface="Calibri" panose="020F0502020204030204" pitchFamily="34" charset="0"/>
                <a:cs typeface="Calibri" panose="020F0502020204030204" pitchFamily="34" charset="0"/>
              </a:rPr>
              <a:t> </a:t>
            </a:r>
            <a:r>
              <a:rPr lang="en-US" sz="2600" b="1" dirty="0" err="1">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Phising</a:t>
            </a:r>
            <a:endPar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a:lnSpc>
                <a:spcPts val="3000"/>
              </a:lnSpc>
            </a:pPr>
            <a:r>
              <a:rPr lang="ar-SY" sz="26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محاولة الاستيلاء على معلومات هامة بواسطة خداع مالكي هذه المعلومات.</a:t>
            </a:r>
          </a:p>
          <a:p>
            <a:pPr marL="0" indent="0">
              <a:lnSpc>
                <a:spcPts val="3000"/>
              </a:lnSpc>
              <a:buNone/>
            </a:pPr>
            <a:r>
              <a:rPr lang="ar-SY" sz="2600" b="1" dirty="0" smtClean="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الاختراق</a:t>
            </a:r>
            <a:r>
              <a:rPr lang="ar-SY" sz="2600" dirty="0" smtClean="0">
                <a:solidFill>
                  <a:srgbClr val="00B0F0"/>
                </a:solidFill>
                <a:latin typeface="Calibri" panose="020F0502020204030204" pitchFamily="34" charset="0"/>
                <a:ea typeface="Monotype Koufi" pitchFamily="2" charset="-78"/>
                <a:cs typeface="Calibri" panose="020F0502020204030204" pitchFamily="34" charset="0"/>
              </a:rPr>
              <a:t> </a:t>
            </a:r>
            <a:r>
              <a:rPr lang="en-US" sz="2600" b="1" dirty="0" smtClean="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Hacking</a:t>
            </a:r>
            <a:endParaRPr lang="ar-SY" sz="2600" b="1" dirty="0" smtClean="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a:lnSpc>
                <a:spcPts val="3000"/>
              </a:lnSpc>
            </a:pPr>
            <a:r>
              <a:rPr lang="ar-SY" sz="26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الوصول إلى أنظمة المعلومات من خارج المؤسسات بطرق غير مشروعة باستخدام تقانات متعددة ومتجددة وذلك باستغلال نقاط ضعف موجودة.</a:t>
            </a:r>
          </a:p>
          <a:p>
            <a:pPr marL="0" indent="0" algn="just">
              <a:lnSpc>
                <a:spcPct val="150000"/>
              </a:lnSpc>
              <a:buNone/>
            </a:pPr>
            <a:endParaRPr lang="en-US" sz="2600" b="1" dirty="0">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6</a:t>
            </a:fld>
            <a:endParaRPr lang="en-US"/>
          </a:p>
        </p:txBody>
      </p:sp>
      <p:sp>
        <p:nvSpPr>
          <p:cNvPr id="6" name="Title 1"/>
          <p:cNvSpPr>
            <a:spLocks noGrp="1"/>
          </p:cNvSpPr>
          <p:nvPr>
            <p:ph type="title"/>
          </p:nvPr>
        </p:nvSpPr>
        <p:spPr>
          <a:xfrm>
            <a:off x="2209800" y="0"/>
            <a:ext cx="10515600" cy="1325563"/>
          </a:xfrm>
        </p:spPr>
        <p:txBody>
          <a:bodyPr>
            <a:normAutofit/>
          </a:bodyPr>
          <a:lstStyle/>
          <a:p>
            <a:pPr algn="ctr"/>
            <a:r>
              <a:rPr lang="ar-SY" sz="2800" dirty="0">
                <a:solidFill>
                  <a:srgbClr val="FF0000"/>
                </a:solidFill>
                <a:latin typeface="Calibri" panose="020F0502020204030204" pitchFamily="34" charset="0"/>
                <a:ea typeface="+mn-ea"/>
                <a:cs typeface="Calibri" panose="020F0502020204030204" pitchFamily="34" charset="0"/>
              </a:rPr>
              <a:t>مصطلحات مهمّة في مجال أمن المعلومات</a:t>
            </a:r>
            <a:endParaRPr lang="en-US" sz="2800" dirty="0">
              <a:solidFill>
                <a:srgbClr val="FF0000"/>
              </a:solidFill>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19462737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l="-16000" r="-16000" b="-7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90688"/>
            <a:ext cx="10515600" cy="2716502"/>
          </a:xfrm>
        </p:spPr>
        <p:txBody>
          <a:bodyPr>
            <a:normAutofit/>
          </a:bodyPr>
          <a:lstStyle/>
          <a:p>
            <a:pPr marL="0" indent="0">
              <a:lnSpc>
                <a:spcPts val="3300"/>
              </a:lnSpc>
              <a:buNone/>
            </a:pPr>
            <a:r>
              <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البريد الواغل </a:t>
            </a:r>
            <a:r>
              <a:rPr lang="en-US"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SPAM</a:t>
            </a:r>
            <a:endPar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marL="0" indent="0">
              <a:lnSpc>
                <a:spcPts val="3300"/>
              </a:lnSpc>
              <a:buNone/>
            </a:pPr>
            <a:r>
              <a:rPr lang="ar-SY" sz="2600" dirty="0" smtClean="0">
                <a:effectLst>
                  <a:outerShdw blurRad="38100" dist="38100" dir="2700000" algn="tl">
                    <a:srgbClr val="000000">
                      <a:alpha val="43137"/>
                    </a:srgbClr>
                  </a:outerShdw>
                </a:effectLst>
                <a:cs typeface="Simplified Arabic" panose="02020603050405020304" pitchFamily="18" charset="-78"/>
              </a:rPr>
              <a:t>رسائل </a:t>
            </a:r>
            <a:r>
              <a:rPr lang="ar-SY" sz="2600" dirty="0">
                <a:effectLst>
                  <a:outerShdw blurRad="38100" dist="38100" dir="2700000" algn="tl">
                    <a:srgbClr val="000000">
                      <a:alpha val="43137"/>
                    </a:srgbClr>
                  </a:outerShdw>
                </a:effectLst>
                <a:cs typeface="Simplified Arabic" panose="02020603050405020304" pitchFamily="18" charset="-78"/>
              </a:rPr>
              <a:t>الكترونية يتم ارسالها من مصادر مجهولة، يكون المحتوى عادةً مركَّزاً على لفت انتباه واهتمام المستخدمين من أجل خداعهم وراء غاية المهاجمين من أجل سرقة البيانات أو توجيههم لصفحات معيّنة أو لغايات أخرى.</a:t>
            </a:r>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7</a:t>
            </a:fld>
            <a:endParaRPr lang="en-US"/>
          </a:p>
        </p:txBody>
      </p:sp>
      <p:sp>
        <p:nvSpPr>
          <p:cNvPr id="7" name="Title 1"/>
          <p:cNvSpPr>
            <a:spLocks noGrp="1"/>
          </p:cNvSpPr>
          <p:nvPr>
            <p:ph type="title"/>
          </p:nvPr>
        </p:nvSpPr>
        <p:spPr>
          <a:xfrm>
            <a:off x="1359794" y="339367"/>
            <a:ext cx="10515600" cy="1325563"/>
          </a:xfrm>
        </p:spPr>
        <p:txBody>
          <a:bodyPr>
            <a:normAutofit/>
          </a:bodyPr>
          <a:lstStyle/>
          <a:p>
            <a:pPr algn="ctr"/>
            <a:r>
              <a:rPr lang="ar-SY" sz="2800" dirty="0">
                <a:solidFill>
                  <a:srgbClr val="FF0000"/>
                </a:solidFill>
                <a:latin typeface="Calibri" panose="020F0502020204030204" pitchFamily="34" charset="0"/>
                <a:ea typeface="+mn-ea"/>
                <a:cs typeface="Calibri" panose="020F0502020204030204" pitchFamily="34" charset="0"/>
              </a:rPr>
              <a:t>مصطلحات مهمّة في مجال أمن المعلومات</a:t>
            </a:r>
            <a:endParaRPr lang="en-US" sz="2800" dirty="0">
              <a:solidFill>
                <a:srgbClr val="FF0000"/>
              </a:solidFill>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6693125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00188"/>
            <a:ext cx="10515600" cy="4992687"/>
          </a:xfrm>
        </p:spPr>
        <p:txBody>
          <a:bodyPr>
            <a:normAutofit/>
          </a:bodyPr>
          <a:lstStyle/>
          <a:p>
            <a:pPr marL="742950" indent="-742950">
              <a:buFont typeface="+mj-lt"/>
              <a:buAutoNum type="arabicPeriod"/>
            </a:pPr>
            <a:endParaRPr lang="en-US" sz="3200" dirty="0">
              <a:solidFill>
                <a:schemeClr val="tx1"/>
              </a:solidFill>
              <a:effectLst>
                <a:outerShdw blurRad="38100" dist="38100" dir="2700000" algn="tl">
                  <a:srgbClr val="000000">
                    <a:alpha val="43137"/>
                  </a:srgbClr>
                </a:outerShdw>
              </a:effectLst>
            </a:endParaRPr>
          </a:p>
          <a:p>
            <a:pPr marL="0" indent="0">
              <a:lnSpc>
                <a:spcPct val="150000"/>
              </a:lnSpc>
              <a:buNone/>
            </a:pPr>
            <a:r>
              <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الهجمات السيبرانية </a:t>
            </a:r>
            <a:r>
              <a:rPr lang="en-US"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Cyber Attacks</a:t>
            </a:r>
            <a:endParaRPr lang="ar-SY" sz="2600" b="1"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marL="0" indent="0">
              <a:lnSpc>
                <a:spcPct val="150000"/>
              </a:lnSpc>
              <a:buNone/>
            </a:pPr>
            <a:r>
              <a:rPr lang="ar-SY" sz="26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هو </a:t>
            </a:r>
            <a:r>
              <a:rPr lang="ar-SY" sz="26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أي نوع من المناورة الهجومية الالكترونية التي تستهدف أنظمة المعلومات أو أي من الأصول المعلوماتية والبنية التحتية التابعة لها أو الشبكات المعلوماتية أو أجهزة الحواسب الشخصية.</a:t>
            </a:r>
          </a:p>
          <a:p>
            <a:pPr marL="0" indent="0">
              <a:lnSpc>
                <a:spcPct val="150000"/>
              </a:lnSpc>
              <a:buNone/>
            </a:pPr>
            <a:r>
              <a:rPr lang="ar-SY" sz="26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المهاجم هو شخص أو </a:t>
            </a:r>
            <a:r>
              <a:rPr lang="ar-SY" sz="26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مجموعة أشخاص </a:t>
            </a:r>
            <a:r>
              <a:rPr lang="ar-SY" sz="26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تحاول الوصول إلى البيانات أو الوظائف أو الخدمات دون الحصول على إذن من مالكي هذه الأصول.</a:t>
            </a: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2" name="Title 1"/>
          <p:cNvSpPr>
            <a:spLocks noGrp="1"/>
          </p:cNvSpPr>
          <p:nvPr>
            <p:ph type="title"/>
          </p:nvPr>
        </p:nvSpPr>
        <p:spPr>
          <a:xfrm>
            <a:off x="1489364" y="475962"/>
            <a:ext cx="10515600" cy="1325563"/>
          </a:xfrm>
        </p:spPr>
        <p:txBody>
          <a:bodyPr>
            <a:normAutofit/>
          </a:bodyPr>
          <a:lstStyle/>
          <a:p>
            <a:pPr algn="ctr"/>
            <a:r>
              <a:rPr lang="ar-SY" sz="2800" dirty="0">
                <a:solidFill>
                  <a:srgbClr val="FF0000"/>
                </a:solidFill>
                <a:latin typeface="Calibri" panose="020F0502020204030204" pitchFamily="34" charset="0"/>
                <a:cs typeface="Calibri" panose="020F0502020204030204" pitchFamily="34" charset="0"/>
              </a:rPr>
              <a:t>مصطلحات مهمّة في مجال أمن المعلومات</a:t>
            </a:r>
            <a:endParaRPr lang="en-US" sz="2800" dirty="0">
              <a:solidFill>
                <a:srgbClr val="FF0000"/>
              </a:solidFill>
              <a:latin typeface="Calibri" panose="020F0502020204030204" pitchFamily="34" charset="0"/>
              <a:ea typeface="+mn-ea"/>
              <a:cs typeface="Calibri" panose="020F0502020204030204" pitchFamily="34" charset="0"/>
            </a:endParaRPr>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8</a:t>
            </a:fld>
            <a:endParaRPr lang="en-US"/>
          </a:p>
        </p:txBody>
      </p:sp>
    </p:spTree>
    <p:extLst>
      <p:ext uri="{BB962C8B-B14F-4D97-AF65-F5344CB8AC3E}">
        <p14:creationId xmlns:p14="http://schemas.microsoft.com/office/powerpoint/2010/main" val="206939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8636" y="462107"/>
            <a:ext cx="10515600" cy="1325563"/>
          </a:xfrm>
        </p:spPr>
        <p:txBody>
          <a:bodyPr>
            <a:normAutofit/>
          </a:bodyPr>
          <a:lstStyle/>
          <a:p>
            <a:pPr algn="ctr"/>
            <a:r>
              <a:rPr lang="ar-SY" sz="4000" dirty="0" smtClean="0">
                <a:solidFill>
                  <a:srgbClr val="00B0F0"/>
                </a:solidFill>
                <a:latin typeface="Monotype Koufi" pitchFamily="2" charset="-78"/>
                <a:ea typeface="Monotype Koufi" pitchFamily="2" charset="-78"/>
                <a:cs typeface="Monotype Koufi" pitchFamily="2" charset="-78"/>
              </a:rPr>
              <a:t> </a:t>
            </a:r>
            <a:r>
              <a:rPr lang="ar-SA" sz="2800" dirty="0">
                <a:solidFill>
                  <a:srgbClr val="FF0000"/>
                </a:solidFill>
                <a:latin typeface="Calibri" panose="020F0502020204030204" pitchFamily="34" charset="0"/>
                <a:cs typeface="Calibri" panose="020F0502020204030204" pitchFamily="34" charset="0"/>
              </a:rPr>
              <a:t>أهم تهديدات أمن المعلومات</a:t>
            </a:r>
            <a:r>
              <a:rPr lang="ar-SY" sz="2800" dirty="0">
                <a:solidFill>
                  <a:srgbClr val="FF0000"/>
                </a:solidFill>
                <a:latin typeface="Calibri" panose="020F0502020204030204" pitchFamily="34" charset="0"/>
                <a:cs typeface="Calibri" panose="020F0502020204030204" pitchFamily="34" charset="0"/>
              </a:rPr>
              <a:t> </a:t>
            </a:r>
            <a:r>
              <a:rPr lang="ar-SY" sz="4000" dirty="0"/>
              <a:t/>
            </a:r>
            <a:br>
              <a:rPr lang="ar-SY" sz="4000" dirty="0"/>
            </a:br>
            <a:r>
              <a:rPr lang="ar-SY" sz="4000" dirty="0" smtClean="0">
                <a:solidFill>
                  <a:srgbClr val="00B0F0"/>
                </a:solidFill>
                <a:latin typeface="Monotype Koufi" pitchFamily="2" charset="-78"/>
                <a:ea typeface="Monotype Koufi" pitchFamily="2" charset="-78"/>
                <a:cs typeface="Monotype Koufi" pitchFamily="2" charset="-78"/>
              </a:rPr>
              <a:t> </a:t>
            </a:r>
            <a:endParaRPr lang="en-US" sz="4000" dirty="0"/>
          </a:p>
        </p:txBody>
      </p:sp>
      <p:sp>
        <p:nvSpPr>
          <p:cNvPr id="3" name="Content Placeholder 2"/>
          <p:cNvSpPr>
            <a:spLocks noGrp="1"/>
          </p:cNvSpPr>
          <p:nvPr>
            <p:ph idx="1"/>
          </p:nvPr>
        </p:nvSpPr>
        <p:spPr>
          <a:xfrm>
            <a:off x="838200" y="1500188"/>
            <a:ext cx="10515600" cy="4676775"/>
          </a:xfrm>
        </p:spPr>
        <p:txBody>
          <a:bodyPr>
            <a:normAutofit/>
          </a:bodyPr>
          <a:lstStyle/>
          <a:p>
            <a:pPr lvl="1">
              <a:lnSpc>
                <a:spcPts val="6500"/>
              </a:lnSpc>
            </a:pPr>
            <a:r>
              <a:rPr lang="ar-SA"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الهندسة الاجتماعية </a:t>
            </a:r>
            <a:r>
              <a:rPr lang="en-US"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Social Engineering</a:t>
            </a:r>
          </a:p>
          <a:p>
            <a:pPr lvl="1">
              <a:lnSpc>
                <a:spcPts val="6500"/>
              </a:lnSpc>
            </a:pPr>
            <a:r>
              <a:rPr lang="ar-SY"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إدارة التصحيح </a:t>
            </a:r>
            <a:r>
              <a:rPr lang="en-US"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Patch Management</a:t>
            </a:r>
            <a:r>
              <a:rPr lang="ar-SA"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a:t>
            </a:r>
            <a:endParaRPr lang="ar-SY"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lvl="1">
              <a:lnSpc>
                <a:spcPts val="6500"/>
              </a:lnSpc>
            </a:pPr>
            <a:r>
              <a:rPr lang="ar-SY"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البرمجيات الخبيثة </a:t>
            </a:r>
            <a:r>
              <a:rPr lang="en-US"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Malware</a:t>
            </a:r>
          </a:p>
          <a:p>
            <a:pPr lvl="1">
              <a:lnSpc>
                <a:spcPts val="6500"/>
              </a:lnSpc>
            </a:pPr>
            <a:r>
              <a:rPr lang="ar-SY"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الثغرات ونقاط الضعف </a:t>
            </a:r>
            <a:r>
              <a:rPr lang="en-US"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Vulnerabilities</a:t>
            </a:r>
            <a:endParaRPr lang="ar-SY"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lvl="1">
              <a:lnSpc>
                <a:spcPts val="6500"/>
              </a:lnSpc>
            </a:pPr>
            <a:r>
              <a:rPr lang="ar-SY"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إساءة الاستخدام </a:t>
            </a:r>
            <a:r>
              <a:rPr lang="en-US" sz="2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Misusing</a:t>
            </a:r>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9</a:t>
            </a:fld>
            <a:endParaRPr lang="en-US"/>
          </a:p>
        </p:txBody>
      </p:sp>
    </p:spTree>
    <p:extLst>
      <p:ext uri="{BB962C8B-B14F-4D97-AF65-F5344CB8AC3E}">
        <p14:creationId xmlns:p14="http://schemas.microsoft.com/office/powerpoint/2010/main" val="385351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8000"/>
            <a:lum/>
          </a:blip>
          <a:srcRect/>
          <a:stretch>
            <a:fillRect b="-23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1879"/>
            <a:ext cx="10515600" cy="1325563"/>
          </a:xfrm>
        </p:spPr>
        <p:txBody>
          <a:bodyPr/>
          <a:lstStyle/>
          <a:p>
            <a:pPr lvl="1" algn="r" rtl="1">
              <a:lnSpc>
                <a:spcPct val="90000"/>
              </a:lnSpc>
              <a:spcBef>
                <a:spcPct val="0"/>
              </a:spcBef>
            </a:pPr>
            <a:r>
              <a:rPr lang="ar-SA" sz="2800" b="1" kern="1200" dirty="0">
                <a:solidFill>
                  <a:srgbClr val="FFFF00"/>
                </a:solidFill>
                <a:effectLst>
                  <a:outerShdw blurRad="38100" dist="38100" dir="2700000" algn="tl">
                    <a:srgbClr val="000000">
                      <a:alpha val="43137"/>
                    </a:srgbClr>
                  </a:outerShdw>
                </a:effectLst>
                <a:latin typeface="Calibri" panose="020F0502020204030204" pitchFamily="34" charset="0"/>
                <a:ea typeface="+mj-ea"/>
                <a:cs typeface="Calibri" panose="020F0502020204030204" pitchFamily="34" charset="0"/>
              </a:rPr>
              <a:t>الهندسة</a:t>
            </a:r>
            <a:r>
              <a:rPr lang="ar-SA" sz="2800" dirty="0" smtClean="0">
                <a:solidFill>
                  <a:srgbClr val="FFFF00"/>
                </a:solidFill>
                <a:latin typeface="Calibri" panose="020F0502020204030204" pitchFamily="34" charset="0"/>
                <a:cs typeface="Calibri" panose="020F0502020204030204" pitchFamily="34" charset="0"/>
              </a:rPr>
              <a:t> </a:t>
            </a:r>
            <a:r>
              <a:rPr lang="ar-SA" sz="2800" b="1" kern="1200" dirty="0">
                <a:solidFill>
                  <a:srgbClr val="FFFF00"/>
                </a:solidFill>
                <a:effectLst>
                  <a:outerShdw blurRad="38100" dist="38100" dir="2700000" algn="tl">
                    <a:srgbClr val="000000">
                      <a:alpha val="43137"/>
                    </a:srgbClr>
                  </a:outerShdw>
                </a:effectLst>
                <a:latin typeface="Calibri" panose="020F0502020204030204" pitchFamily="34" charset="0"/>
                <a:ea typeface="+mj-ea"/>
                <a:cs typeface="Calibri" panose="020F0502020204030204" pitchFamily="34" charset="0"/>
              </a:rPr>
              <a:t>الاجتماعية</a:t>
            </a:r>
            <a:r>
              <a:rPr lang="ar-SA" sz="2800" dirty="0" smtClean="0">
                <a:solidFill>
                  <a:srgbClr val="FFFF00"/>
                </a:solidFill>
                <a:latin typeface="Calibri" panose="020F0502020204030204" pitchFamily="34" charset="0"/>
                <a:cs typeface="Calibri" panose="020F0502020204030204" pitchFamily="34" charset="0"/>
              </a:rPr>
              <a:t> </a:t>
            </a:r>
            <a:r>
              <a:rPr lang="en-US" sz="2800" b="1" kern="1200" dirty="0">
                <a:solidFill>
                  <a:srgbClr val="FFFF00"/>
                </a:solidFill>
                <a:effectLst>
                  <a:outerShdw blurRad="38100" dist="38100" dir="2700000" algn="tl">
                    <a:srgbClr val="000000">
                      <a:alpha val="43137"/>
                    </a:srgbClr>
                  </a:outerShdw>
                </a:effectLst>
                <a:latin typeface="Calibri" panose="020F0502020204030204" pitchFamily="34" charset="0"/>
                <a:ea typeface="+mj-ea"/>
                <a:cs typeface="Calibri" panose="020F0502020204030204" pitchFamily="34" charset="0"/>
              </a:rPr>
              <a:t>Social Engineering</a:t>
            </a:r>
            <a:r>
              <a:rPr lang="en-US" sz="3000" dirty="0" smtClean="0">
                <a:solidFill>
                  <a:srgbClr val="FFFF00"/>
                </a:solidFill>
              </a:rPr>
              <a:t/>
            </a:r>
            <a:br>
              <a:rPr lang="en-US" sz="3000" dirty="0" smtClean="0">
                <a:solidFill>
                  <a:srgbClr val="FFFF00"/>
                </a:solidFill>
              </a:rPr>
            </a:br>
            <a:endParaRPr lang="en-US" dirty="0">
              <a:solidFill>
                <a:srgbClr val="FFFF00"/>
              </a:solidFill>
            </a:endParaRPr>
          </a:p>
        </p:txBody>
      </p:sp>
      <p:sp>
        <p:nvSpPr>
          <p:cNvPr id="3" name="Content Placeholder 2"/>
          <p:cNvSpPr>
            <a:spLocks noGrp="1"/>
          </p:cNvSpPr>
          <p:nvPr>
            <p:ph idx="1"/>
          </p:nvPr>
        </p:nvSpPr>
        <p:spPr>
          <a:xfrm>
            <a:off x="838200" y="1271444"/>
            <a:ext cx="10515600" cy="4351338"/>
          </a:xfrm>
        </p:spPr>
        <p:txBody>
          <a:bodyPr>
            <a:normAutofit fontScale="85000" lnSpcReduction="10000"/>
          </a:bodyPr>
          <a:lstStyle/>
          <a:p>
            <a:pPr>
              <a:lnSpc>
                <a:spcPts val="4000"/>
              </a:lnSpc>
            </a:pPr>
            <a:r>
              <a:rPr lang="ar-SY" sz="2600" b="1" dirty="0">
                <a:latin typeface="Calibri" panose="020F0502020204030204" pitchFamily="34" charset="0"/>
                <a:cs typeface="Calibri" panose="020F0502020204030204" pitchFamily="34" charset="0"/>
              </a:rPr>
              <a:t>تُعرف بانها عملية  الكذب على الناس للحصول على المعلومات مجانا فهي  عملية فن اختراق العقول وھي عبارة عن مجموعة من التقنیات المستخدمة لجعل الناس یقومون بعمل ما أو یفضون بمعلومات سریة". وتعتمد على الخداع أو التضلیل لغرض جمع المعلومات، الاحتیال، أو الوصول إلى نظام الكمبیوتر.</a:t>
            </a:r>
          </a:p>
          <a:p>
            <a:pPr>
              <a:lnSpc>
                <a:spcPts val="4000"/>
              </a:lnSpc>
            </a:pPr>
            <a:r>
              <a:rPr lang="ar-SY" sz="2600" b="1" dirty="0">
                <a:latin typeface="Calibri" panose="020F0502020204030204" pitchFamily="34" charset="0"/>
                <a:cs typeface="Calibri" panose="020F0502020204030204" pitchFamily="34" charset="0"/>
              </a:rPr>
              <a:t>ويتمثل الهدف منها في كسب ثقة الأشخاص ليتخلوا عن حذرهم، ثم تشجيعهم على اتخاذ إجراءات غير آمنة مثل إفشاء المعلومات الشخصية أو الضغط على الروابط الإلكترونية أو فتح مرفقات قد تكون ضارة.</a:t>
            </a:r>
          </a:p>
          <a:p>
            <a:pPr>
              <a:lnSpc>
                <a:spcPts val="4000"/>
              </a:lnSpc>
            </a:pPr>
            <a:r>
              <a:rPr lang="ar-SY" sz="2600" b="1" dirty="0">
                <a:latin typeface="Calibri" panose="020F0502020204030204" pitchFamily="34" charset="0"/>
                <a:cs typeface="Calibri" panose="020F0502020204030204" pitchFamily="34" charset="0"/>
              </a:rPr>
              <a:t>تعتبر خطرة للغاية لانه يكفي ضحية واحدة تم خداعها ان توفر معلومات كافية لاختراق مؤسسة </a:t>
            </a:r>
            <a:r>
              <a:rPr lang="ar-SY" sz="2600" b="1" dirty="0" smtClean="0">
                <a:latin typeface="Calibri" panose="020F0502020204030204" pitchFamily="34" charset="0"/>
                <a:cs typeface="Calibri" panose="020F0502020204030204" pitchFamily="34" charset="0"/>
              </a:rPr>
              <a:t>بأسرها.</a:t>
            </a:r>
            <a:endParaRPr lang="ar-SY" sz="2600" b="1" dirty="0">
              <a:latin typeface="Calibri" panose="020F0502020204030204" pitchFamily="34" charset="0"/>
              <a:cs typeface="Calibri" panose="020F0502020204030204" pitchFamily="34" charset="0"/>
            </a:endParaRPr>
          </a:p>
          <a:p>
            <a:endParaRPr lang="en-US" dirty="0"/>
          </a:p>
        </p:txBody>
      </p:sp>
      <p:sp>
        <p:nvSpPr>
          <p:cNvPr id="4" name="Date Placeholder 3"/>
          <p:cNvSpPr>
            <a:spLocks noGrp="1"/>
          </p:cNvSpPr>
          <p:nvPr>
            <p:ph type="dt" sz="half" idx="10"/>
          </p:nvPr>
        </p:nvSpPr>
        <p:spPr/>
        <p:txBody>
          <a:bodyPr/>
          <a:lstStyle/>
          <a:p>
            <a:r>
              <a:rPr lang="ar-SY" dirty="0" smtClean="0">
                <a:solidFill>
                  <a:srgbClr val="FFFF00"/>
                </a:solidFill>
              </a:rPr>
              <a:t>01/08/2022</a:t>
            </a:r>
            <a:endParaRPr lang="en-US" dirty="0">
              <a:solidFill>
                <a:srgbClr val="FFFF00"/>
              </a:solidFill>
            </a:endParaRPr>
          </a:p>
        </p:txBody>
      </p:sp>
      <p:sp>
        <p:nvSpPr>
          <p:cNvPr id="5" name="Slide Number Placeholder 4"/>
          <p:cNvSpPr>
            <a:spLocks noGrp="1"/>
          </p:cNvSpPr>
          <p:nvPr>
            <p:ph type="sldNum" sz="quarter" idx="12"/>
          </p:nvPr>
        </p:nvSpPr>
        <p:spPr/>
        <p:txBody>
          <a:bodyPr/>
          <a:lstStyle/>
          <a:p>
            <a:fld id="{1C2A39C6-515D-4F52-9A2D-612D5FCA91E3}" type="slidenum">
              <a:rPr lang="en-US" smtClean="0">
                <a:solidFill>
                  <a:srgbClr val="FFFF00"/>
                </a:solidFill>
              </a:rPr>
              <a:t>10</a:t>
            </a:fld>
            <a:endParaRPr lang="en-US" dirty="0">
              <a:solidFill>
                <a:srgbClr val="FFFF00"/>
              </a:solidFill>
            </a:endParaRPr>
          </a:p>
        </p:txBody>
      </p:sp>
    </p:spTree>
    <p:extLst>
      <p:ext uri="{BB962C8B-B14F-4D97-AF65-F5344CB8AC3E}">
        <p14:creationId xmlns:p14="http://schemas.microsoft.com/office/powerpoint/2010/main" val="3711143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000"/>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11</a:t>
            </a:fld>
            <a:endParaRPr lang="en-US"/>
          </a:p>
        </p:txBody>
      </p:sp>
      <p:sp>
        <p:nvSpPr>
          <p:cNvPr id="7" name="TextBox 6"/>
          <p:cNvSpPr txBox="1"/>
          <p:nvPr/>
        </p:nvSpPr>
        <p:spPr>
          <a:xfrm>
            <a:off x="3089564" y="221673"/>
            <a:ext cx="9102436" cy="523220"/>
          </a:xfrm>
          <a:prstGeom prst="rect">
            <a:avLst/>
          </a:prstGeom>
          <a:noFill/>
        </p:spPr>
        <p:txBody>
          <a:bodyPr wrap="square" rtlCol="0">
            <a:spAutoFit/>
          </a:bodyPr>
          <a:lstStyle/>
          <a:p>
            <a:pPr algn="ctr"/>
            <a:r>
              <a:rPr lang="ar-SY" sz="2800" b="1" dirty="0">
                <a:solidFill>
                  <a:srgbClr val="0070C0"/>
                </a:solidFill>
                <a:effectLst>
                  <a:outerShdw blurRad="38100" dist="38100" dir="2700000" algn="tl">
                    <a:srgbClr val="000000">
                      <a:alpha val="43137"/>
                    </a:srgbClr>
                  </a:outerShdw>
                </a:effectLst>
                <a:latin typeface="Calibri" panose="020F0502020204030204" pitchFamily="34" charset="0"/>
                <a:ea typeface="+mj-ea"/>
                <a:cs typeface="Calibri" panose="020F0502020204030204" pitchFamily="34" charset="0"/>
              </a:rPr>
              <a:t>أنواع</a:t>
            </a:r>
            <a:r>
              <a:rPr lang="ar-SY" sz="2800" dirty="0" smtClean="0">
                <a:latin typeface="Calibri" panose="020F0502020204030204" pitchFamily="34" charset="0"/>
                <a:cs typeface="Calibri" panose="020F0502020204030204" pitchFamily="34" charset="0"/>
              </a:rPr>
              <a:t> </a:t>
            </a:r>
            <a:r>
              <a:rPr lang="ar-SY" sz="2800" b="1" dirty="0">
                <a:solidFill>
                  <a:srgbClr val="0070C0"/>
                </a:solidFill>
                <a:effectLst>
                  <a:outerShdw blurRad="38100" dist="38100" dir="2700000" algn="tl">
                    <a:srgbClr val="000000">
                      <a:alpha val="43137"/>
                    </a:srgbClr>
                  </a:outerShdw>
                </a:effectLst>
                <a:latin typeface="Calibri" panose="020F0502020204030204" pitchFamily="34" charset="0"/>
                <a:ea typeface="+mj-ea"/>
                <a:cs typeface="Calibri" panose="020F0502020204030204" pitchFamily="34" charset="0"/>
              </a:rPr>
              <a:t>الهندسة</a:t>
            </a:r>
            <a:r>
              <a:rPr lang="ar-SY" sz="2800" dirty="0" smtClean="0">
                <a:latin typeface="Calibri" panose="020F0502020204030204" pitchFamily="34" charset="0"/>
                <a:cs typeface="Calibri" panose="020F0502020204030204" pitchFamily="34" charset="0"/>
              </a:rPr>
              <a:t> </a:t>
            </a:r>
            <a:r>
              <a:rPr lang="ar-SY" sz="2800" b="1" dirty="0">
                <a:solidFill>
                  <a:srgbClr val="0070C0"/>
                </a:solidFill>
                <a:effectLst>
                  <a:outerShdw blurRad="38100" dist="38100" dir="2700000" algn="tl">
                    <a:srgbClr val="000000">
                      <a:alpha val="43137"/>
                    </a:srgbClr>
                  </a:outerShdw>
                </a:effectLst>
                <a:latin typeface="Calibri" panose="020F0502020204030204" pitchFamily="34" charset="0"/>
                <a:ea typeface="+mj-ea"/>
                <a:cs typeface="Calibri" panose="020F0502020204030204" pitchFamily="34" charset="0"/>
              </a:rPr>
              <a:t>الاجتماعيّة</a:t>
            </a:r>
            <a:r>
              <a:rPr lang="ar-SY" sz="2800" dirty="0" smtClean="0">
                <a:latin typeface="Calibri" panose="020F0502020204030204" pitchFamily="34" charset="0"/>
                <a:cs typeface="Calibri" panose="020F0502020204030204" pitchFamily="34" charset="0"/>
              </a:rPr>
              <a:t> </a:t>
            </a:r>
            <a:endParaRPr lang="en-US" sz="2800" dirty="0">
              <a:latin typeface="Calibri" panose="020F0502020204030204" pitchFamily="34" charset="0"/>
              <a:cs typeface="Calibri" panose="020F0502020204030204" pitchFamily="34" charset="0"/>
            </a:endParaRPr>
          </a:p>
        </p:txBody>
      </p:sp>
      <p:sp>
        <p:nvSpPr>
          <p:cNvPr id="8" name="TextBox 7"/>
          <p:cNvSpPr txBox="1"/>
          <p:nvPr/>
        </p:nvSpPr>
        <p:spPr>
          <a:xfrm>
            <a:off x="0" y="1995383"/>
            <a:ext cx="3858491" cy="1261884"/>
          </a:xfrm>
          <a:prstGeom prst="rect">
            <a:avLst/>
          </a:prstGeom>
          <a:noFill/>
        </p:spPr>
        <p:txBody>
          <a:bodyPr wrap="square" rtlCol="0">
            <a:spAutoFit/>
          </a:bodyPr>
          <a:lstStyle/>
          <a:p>
            <a:pPr algn="r" rtl="1"/>
            <a:r>
              <a:rPr lang="ar-SY" sz="3200" dirty="0" smtClean="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1- </a:t>
            </a:r>
            <a:r>
              <a:rPr lang="ar-SY" sz="26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التصيد </a:t>
            </a:r>
            <a:r>
              <a:rPr lang="ar-SY" sz="26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الاحتيالي </a:t>
            </a:r>
          </a:p>
          <a:p>
            <a:pPr algn="r" rtl="1"/>
            <a:r>
              <a:rPr lang="ar-SY" sz="26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2- </a:t>
            </a:r>
            <a:r>
              <a:rPr lang="ar-SA" sz="2600" dirty="0" smtClean="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الاصطياد </a:t>
            </a:r>
            <a:r>
              <a:rPr lang="ar-SA" sz="26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عبر </a:t>
            </a:r>
            <a:r>
              <a:rPr lang="en-US" sz="26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USB</a:t>
            </a:r>
          </a:p>
          <a:p>
            <a:endParaRPr lang="en-US" dirty="0"/>
          </a:p>
        </p:txBody>
      </p:sp>
    </p:spTree>
    <p:extLst>
      <p:ext uri="{BB962C8B-B14F-4D97-AF65-F5344CB8AC3E}">
        <p14:creationId xmlns:p14="http://schemas.microsoft.com/office/powerpoint/2010/main" val="12189846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5182" y="1162843"/>
            <a:ext cx="10515600" cy="1325563"/>
          </a:xfrm>
        </p:spPr>
        <p:txBody>
          <a:bodyPr>
            <a:normAutofit/>
          </a:bodyPr>
          <a:lstStyle/>
          <a:p>
            <a:r>
              <a:rPr lang="ar-SY" sz="2800" dirty="0">
                <a:latin typeface="Calibri" panose="020F0502020204030204" pitchFamily="34" charset="0"/>
                <a:cs typeface="Calibri" panose="020F0502020204030204" pitchFamily="34" charset="0"/>
              </a:rPr>
              <a:t>ممارسات التخفيف من هجمات الهندسة </a:t>
            </a:r>
            <a:r>
              <a:rPr lang="ar-SY" sz="2800" dirty="0" smtClean="0">
                <a:latin typeface="Calibri" panose="020F0502020204030204" pitchFamily="34" charset="0"/>
                <a:cs typeface="Calibri" panose="020F0502020204030204" pitchFamily="34" charset="0"/>
              </a:rPr>
              <a:t>الاجتماعية</a:t>
            </a:r>
            <a:endParaRPr lang="en-US" sz="28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38200" y="2370137"/>
            <a:ext cx="10515600" cy="4351338"/>
          </a:xfrm>
        </p:spPr>
        <p:txBody>
          <a:bodyPr/>
          <a:lstStyle/>
          <a:p>
            <a:pPr>
              <a:lnSpc>
                <a:spcPts val="4000"/>
              </a:lnSpc>
              <a:buClr>
                <a:srgbClr val="00B050"/>
              </a:buClr>
              <a:buFont typeface="Wingdings" panose="05000000000000000000" pitchFamily="2" charset="2"/>
              <a:buChar char="ü"/>
            </a:pPr>
            <a:r>
              <a:rPr lang="ar-SY" dirty="0" smtClean="0"/>
              <a:t> </a:t>
            </a:r>
            <a:r>
              <a:rPr lang="ar-SY" sz="2600" dirty="0" smtClean="0">
                <a:latin typeface="Calibri" panose="020F0502020204030204" pitchFamily="34" charset="0"/>
                <a:cs typeface="Calibri" panose="020F0502020204030204" pitchFamily="34" charset="0"/>
              </a:rPr>
              <a:t>نشر </a:t>
            </a:r>
            <a:r>
              <a:rPr lang="ar-SY" sz="2600" dirty="0">
                <a:latin typeface="Calibri" panose="020F0502020204030204" pitchFamily="34" charset="0"/>
                <a:cs typeface="Calibri" panose="020F0502020204030204" pitchFamily="34" charset="0"/>
              </a:rPr>
              <a:t>التوعية المناسبة ضمن الكادر.</a:t>
            </a:r>
            <a:endParaRPr lang="en-US" sz="2600" dirty="0">
              <a:latin typeface="Calibri" panose="020F0502020204030204" pitchFamily="34" charset="0"/>
              <a:cs typeface="Calibri" panose="020F0502020204030204" pitchFamily="34" charset="0"/>
            </a:endParaRPr>
          </a:p>
          <a:p>
            <a:pPr>
              <a:lnSpc>
                <a:spcPts val="4000"/>
              </a:lnSpc>
              <a:buClr>
                <a:srgbClr val="00B050"/>
              </a:buClr>
              <a:buFont typeface="Wingdings" panose="05000000000000000000" pitchFamily="2" charset="2"/>
              <a:buChar char="ü"/>
            </a:pPr>
            <a:r>
              <a:rPr lang="en-US" sz="2600" dirty="0" smtClean="0">
                <a:latin typeface="Calibri" panose="020F0502020204030204" pitchFamily="34" charset="0"/>
                <a:cs typeface="Calibri" panose="020F0502020204030204" pitchFamily="34" charset="0"/>
              </a:rPr>
              <a:t> </a:t>
            </a:r>
            <a:r>
              <a:rPr lang="ar-SY" sz="2600" dirty="0" smtClean="0">
                <a:latin typeface="Calibri" panose="020F0502020204030204" pitchFamily="34" charset="0"/>
                <a:cs typeface="Calibri" panose="020F0502020204030204" pitchFamily="34" charset="0"/>
              </a:rPr>
              <a:t>إعداد </a:t>
            </a:r>
            <a:r>
              <a:rPr lang="ar-SY" sz="2600" dirty="0">
                <a:latin typeface="Calibri" panose="020F0502020204030204" pitchFamily="34" charset="0"/>
                <a:cs typeface="Calibri" panose="020F0502020204030204" pitchFamily="34" charset="0"/>
              </a:rPr>
              <a:t>ما يلزم للحماية من البريد الواغل.</a:t>
            </a:r>
            <a:endParaRPr lang="en-US" sz="2600" dirty="0">
              <a:latin typeface="Calibri" panose="020F0502020204030204" pitchFamily="34" charset="0"/>
              <a:cs typeface="Calibri" panose="020F0502020204030204" pitchFamily="34" charset="0"/>
            </a:endParaRPr>
          </a:p>
          <a:p>
            <a:pPr>
              <a:lnSpc>
                <a:spcPts val="4000"/>
              </a:lnSpc>
              <a:buClr>
                <a:srgbClr val="00B050"/>
              </a:buClr>
              <a:buFont typeface="Wingdings" panose="05000000000000000000" pitchFamily="2" charset="2"/>
              <a:buChar char="ü"/>
            </a:pPr>
            <a:r>
              <a:rPr lang="en-US" sz="2600" dirty="0" smtClean="0">
                <a:latin typeface="Calibri" panose="020F0502020204030204" pitchFamily="34" charset="0"/>
                <a:cs typeface="Calibri" panose="020F0502020204030204" pitchFamily="34" charset="0"/>
              </a:rPr>
              <a:t> </a:t>
            </a:r>
            <a:r>
              <a:rPr lang="ar-SY" sz="2600" dirty="0" smtClean="0">
                <a:latin typeface="Calibri" panose="020F0502020204030204" pitchFamily="34" charset="0"/>
                <a:cs typeface="Calibri" panose="020F0502020204030204" pitchFamily="34" charset="0"/>
              </a:rPr>
              <a:t>إعداد </a:t>
            </a:r>
            <a:r>
              <a:rPr lang="ar-SY" sz="2600" dirty="0">
                <a:latin typeface="Calibri" panose="020F0502020204030204" pitchFamily="34" charset="0"/>
                <a:cs typeface="Calibri" panose="020F0502020204030204" pitchFamily="34" charset="0"/>
              </a:rPr>
              <a:t>ما يلزم للحماية من البرمجيات الخبيثة.</a:t>
            </a:r>
            <a:endParaRPr lang="en-US" sz="2600" dirty="0">
              <a:latin typeface="Calibri" panose="020F0502020204030204" pitchFamily="34" charset="0"/>
              <a:cs typeface="Calibri" panose="020F0502020204030204" pitchFamily="34" charset="0"/>
            </a:endParaRPr>
          </a:p>
          <a:p>
            <a:pPr>
              <a:lnSpc>
                <a:spcPts val="4000"/>
              </a:lnSpc>
              <a:buClr>
                <a:srgbClr val="00B050"/>
              </a:buClr>
              <a:buFont typeface="Wingdings" panose="05000000000000000000" pitchFamily="2" charset="2"/>
              <a:buChar char="ü"/>
            </a:pPr>
            <a:r>
              <a:rPr lang="en-US" sz="2600" dirty="0" smtClean="0">
                <a:latin typeface="Calibri" panose="020F0502020204030204" pitchFamily="34" charset="0"/>
                <a:cs typeface="Calibri" panose="020F0502020204030204" pitchFamily="34" charset="0"/>
              </a:rPr>
              <a:t> </a:t>
            </a:r>
            <a:r>
              <a:rPr lang="ar-SY" sz="2600" dirty="0" smtClean="0">
                <a:latin typeface="Calibri" panose="020F0502020204030204" pitchFamily="34" charset="0"/>
                <a:cs typeface="Calibri" panose="020F0502020204030204" pitchFamily="34" charset="0"/>
              </a:rPr>
              <a:t>إعداد </a:t>
            </a:r>
            <a:r>
              <a:rPr lang="ar-SY" sz="2600" dirty="0">
                <a:latin typeface="Calibri" panose="020F0502020204030204" pitchFamily="34" charset="0"/>
                <a:cs typeface="Calibri" panose="020F0502020204030204" pitchFamily="34" charset="0"/>
              </a:rPr>
              <a:t>سياسات أمنية مناسبة، وخاصةً السياسات المتعلّقة بحماية وتأمين الكوادر البشرية.</a:t>
            </a:r>
            <a:endParaRPr lang="en-US" sz="2600" dirty="0">
              <a:latin typeface="Calibri" panose="020F0502020204030204" pitchFamily="34" charset="0"/>
              <a:cs typeface="Calibri" panose="020F0502020204030204" pitchFamily="34" charset="0"/>
            </a:endParaRPr>
          </a:p>
          <a:p>
            <a:endParaRPr lang="en-US" dirty="0"/>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12</a:t>
            </a:fld>
            <a:endParaRPr lang="en-US"/>
          </a:p>
        </p:txBody>
      </p:sp>
    </p:spTree>
    <p:extLst>
      <p:ext uri="{BB962C8B-B14F-4D97-AF65-F5344CB8AC3E}">
        <p14:creationId xmlns:p14="http://schemas.microsoft.com/office/powerpoint/2010/main" val="18522685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382" y="822325"/>
            <a:ext cx="10515600" cy="1325563"/>
          </a:xfrm>
        </p:spPr>
        <p:txBody>
          <a:bodyPr/>
          <a:lstStyle/>
          <a:p>
            <a:r>
              <a:rPr lang="ar-SY" sz="2800" dirty="0">
                <a:latin typeface="Calibri" panose="020F0502020204030204" pitchFamily="34" charset="0"/>
                <a:cs typeface="Calibri" panose="020F0502020204030204" pitchFamily="34" charset="0"/>
              </a:rPr>
              <a:t>إدارة التصحيح </a:t>
            </a:r>
            <a:r>
              <a:rPr lang="en-US" sz="2800" dirty="0">
                <a:latin typeface="Calibri" panose="020F0502020204030204" pitchFamily="34" charset="0"/>
                <a:cs typeface="Calibri" panose="020F0502020204030204" pitchFamily="34" charset="0"/>
              </a:rPr>
              <a:t>Patch Management </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pPr>
              <a:lnSpc>
                <a:spcPts val="3360"/>
              </a:lnSpc>
              <a:buFontTx/>
              <a:buChar char="-"/>
            </a:pPr>
            <a:r>
              <a:rPr lang="ar-SY" dirty="0" smtClean="0">
                <a:latin typeface="Calibri" panose="020F0502020204030204" pitchFamily="34" charset="0"/>
                <a:cs typeface="Calibri" panose="020F0502020204030204" pitchFamily="34" charset="0"/>
              </a:rPr>
              <a:t>ال </a:t>
            </a:r>
            <a:r>
              <a:rPr lang="en-US" dirty="0">
                <a:latin typeface="Calibri" panose="020F0502020204030204" pitchFamily="34" charset="0"/>
                <a:cs typeface="Calibri" panose="020F0502020204030204" pitchFamily="34" charset="0"/>
              </a:rPr>
              <a:t>patch </a:t>
            </a:r>
            <a:r>
              <a:rPr lang="ar-SY" dirty="0">
                <a:latin typeface="Calibri" panose="020F0502020204030204" pitchFamily="34" charset="0"/>
                <a:cs typeface="Calibri" panose="020F0502020204030204" pitchFamily="34" charset="0"/>
              </a:rPr>
              <a:t> هو تنفيذ عدد من التعليمات البرمجية مصممة لإضافة ميزات جديدة في أحد التطبيقات </a:t>
            </a:r>
            <a:r>
              <a:rPr lang="ar-SY" dirty="0" smtClean="0">
                <a:latin typeface="Calibri" panose="020F0502020204030204" pitchFamily="34" charset="0"/>
                <a:cs typeface="Calibri" panose="020F0502020204030204" pitchFamily="34" charset="0"/>
              </a:rPr>
              <a:t>أو لإصلاح </a:t>
            </a:r>
            <a:r>
              <a:rPr lang="ar-SY" dirty="0">
                <a:latin typeface="Calibri" panose="020F0502020204030204" pitchFamily="34" charset="0"/>
                <a:cs typeface="Calibri" panose="020F0502020204030204" pitchFamily="34" charset="0"/>
              </a:rPr>
              <a:t>خطأ </a:t>
            </a:r>
            <a:r>
              <a:rPr lang="ar-SY" dirty="0" smtClean="0">
                <a:latin typeface="Calibri" panose="020F0502020204030204" pitchFamily="34" charset="0"/>
                <a:cs typeface="Calibri" panose="020F0502020204030204" pitchFamily="34" charset="0"/>
              </a:rPr>
              <a:t>(سواءً أخطاء (</a:t>
            </a:r>
            <a:r>
              <a:rPr lang="en-US" dirty="0" smtClean="0">
                <a:latin typeface="Calibri" panose="020F0502020204030204" pitchFamily="34" charset="0"/>
                <a:cs typeface="Calibri" panose="020F0502020204030204" pitchFamily="34" charset="0"/>
              </a:rPr>
              <a:t>bugs</a:t>
            </a:r>
            <a:r>
              <a:rPr lang="ar-SY" dirty="0" smtClean="0">
                <a:latin typeface="Calibri" panose="020F0502020204030204" pitchFamily="34" charset="0"/>
                <a:cs typeface="Calibri" panose="020F0502020204030204" pitchFamily="34" charset="0"/>
              </a:rPr>
              <a:t>) </a:t>
            </a:r>
            <a:r>
              <a:rPr lang="ar-SY" dirty="0">
                <a:latin typeface="Calibri" panose="020F0502020204030204" pitchFamily="34" charset="0"/>
                <a:cs typeface="Calibri" panose="020F0502020204030204" pitchFamily="34" charset="0"/>
              </a:rPr>
              <a:t>أو ثغرات أمنية </a:t>
            </a:r>
            <a:r>
              <a:rPr lang="en-US" dirty="0" smtClean="0">
                <a:latin typeface="Calibri" panose="020F0502020204030204" pitchFamily="34" charset="0"/>
                <a:cs typeface="Calibri" panose="020F0502020204030204" pitchFamily="34" charset="0"/>
              </a:rPr>
              <a:t>(Vulnerabilities)</a:t>
            </a:r>
            <a:r>
              <a:rPr lang="ar-SY" dirty="0" smtClean="0">
                <a:latin typeface="Calibri" panose="020F0502020204030204" pitchFamily="34" charset="0"/>
                <a:cs typeface="Calibri" panose="020F0502020204030204" pitchFamily="34" charset="0"/>
              </a:rPr>
              <a:t>). </a:t>
            </a:r>
            <a:endParaRPr lang="ar-SY" dirty="0">
              <a:latin typeface="Calibri" panose="020F0502020204030204" pitchFamily="34" charset="0"/>
              <a:cs typeface="Calibri" panose="020F0502020204030204" pitchFamily="34" charset="0"/>
            </a:endParaRPr>
          </a:p>
          <a:p>
            <a:pPr>
              <a:lnSpc>
                <a:spcPts val="3360"/>
              </a:lnSpc>
              <a:buFontTx/>
              <a:buChar char="-"/>
            </a:pPr>
            <a:r>
              <a:rPr lang="ar-SY" dirty="0" smtClean="0">
                <a:latin typeface="Calibri" panose="020F0502020204030204" pitchFamily="34" charset="0"/>
                <a:cs typeface="Calibri" panose="020F0502020204030204" pitchFamily="34" charset="0"/>
              </a:rPr>
              <a:t>تعتبر </a:t>
            </a:r>
            <a:r>
              <a:rPr lang="ar-SY" dirty="0">
                <a:latin typeface="Calibri" panose="020F0502020204030204" pitchFamily="34" charset="0"/>
                <a:cs typeface="Calibri" panose="020F0502020204030204" pitchFamily="34" charset="0"/>
              </a:rPr>
              <a:t>إدارة التصحيح </a:t>
            </a:r>
            <a:r>
              <a:rPr lang="en-US" dirty="0" err="1">
                <a:latin typeface="Calibri" panose="020F0502020204030204" pitchFamily="34" charset="0"/>
                <a:cs typeface="Calibri" panose="020F0502020204030204" pitchFamily="34" charset="0"/>
              </a:rPr>
              <a:t>من</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أهم</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مهام</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تكنولوجيا</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المعلومات</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في</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أي</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مؤسسة</a:t>
            </a:r>
            <a:r>
              <a:rPr lang="en-US" dirty="0">
                <a:latin typeface="Calibri" panose="020F0502020204030204" pitchFamily="34" charset="0"/>
                <a:cs typeface="Calibri" panose="020F0502020204030204" pitchFamily="34" charset="0"/>
              </a:rPr>
              <a:t> </a:t>
            </a:r>
            <a:r>
              <a:rPr lang="ar-SY" dirty="0" smtClean="0">
                <a:latin typeface="Calibri" panose="020F0502020204030204" pitchFamily="34" charset="0"/>
                <a:cs typeface="Calibri" panose="020F0502020204030204" pitchFamily="34" charset="0"/>
              </a:rPr>
              <a:t>لل</a:t>
            </a:r>
            <a:r>
              <a:rPr lang="ar-SA" dirty="0" smtClean="0">
                <a:latin typeface="Calibri" panose="020F0502020204030204" pitchFamily="34" charset="0"/>
                <a:cs typeface="Calibri" panose="020F0502020204030204" pitchFamily="34" charset="0"/>
              </a:rPr>
              <a:t>أ</a:t>
            </a:r>
            <a:r>
              <a:rPr lang="ar-SY" dirty="0" smtClean="0">
                <a:latin typeface="Calibri" panose="020F0502020204030204" pitchFamily="34" charset="0"/>
                <a:cs typeface="Calibri" panose="020F0502020204030204" pitchFamily="34" charset="0"/>
              </a:rPr>
              <a:t>سباب </a:t>
            </a:r>
            <a:r>
              <a:rPr lang="ar-SY" dirty="0">
                <a:latin typeface="Calibri" panose="020F0502020204030204" pitchFamily="34" charset="0"/>
                <a:cs typeface="Calibri" panose="020F0502020204030204" pitchFamily="34" charset="0"/>
              </a:rPr>
              <a:t>التالية:</a:t>
            </a:r>
            <a:endParaRPr lang="en-US" dirty="0">
              <a:latin typeface="Calibri" panose="020F0502020204030204" pitchFamily="34" charset="0"/>
              <a:cs typeface="Calibri" panose="020F0502020204030204" pitchFamily="34" charset="0"/>
            </a:endParaRPr>
          </a:p>
          <a:p>
            <a:pPr>
              <a:lnSpc>
                <a:spcPts val="3360"/>
              </a:lnSpc>
            </a:pPr>
            <a:r>
              <a:rPr lang="en-US" dirty="0" err="1">
                <a:latin typeface="Calibri" panose="020F0502020204030204" pitchFamily="34" charset="0"/>
                <a:cs typeface="Calibri" panose="020F0502020204030204" pitchFamily="34" charset="0"/>
              </a:rPr>
              <a:t>الأمان</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Security</a:t>
            </a:r>
            <a:r>
              <a:rPr lang="ar-SY" dirty="0" smtClean="0">
                <a:latin typeface="Calibri" panose="020F0502020204030204" pitchFamily="34" charset="0"/>
                <a:cs typeface="Calibri" panose="020F0502020204030204" pitchFamily="34" charset="0"/>
              </a:rPr>
              <a:t>: </a:t>
            </a:r>
            <a:r>
              <a:rPr lang="en-US" dirty="0" err="1" smtClean="0">
                <a:latin typeface="Calibri" panose="020F0502020204030204" pitchFamily="34" charset="0"/>
                <a:cs typeface="Calibri" panose="020F0502020204030204" pitchFamily="34" charset="0"/>
              </a:rPr>
              <a:t>تعمل</a:t>
            </a:r>
            <a:r>
              <a:rPr lang="en-US" dirty="0" smtClean="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إدارة</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التصحيح</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على</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إصلاح</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الثغرات</a:t>
            </a:r>
            <a:r>
              <a:rPr lang="en-US" dirty="0">
                <a:latin typeface="Calibri" panose="020F0502020204030204" pitchFamily="34" charset="0"/>
                <a:cs typeface="Calibri" panose="020F0502020204030204" pitchFamily="34" charset="0"/>
              </a:rPr>
              <a:t> الأمنية </a:t>
            </a:r>
            <a:r>
              <a:rPr lang="en-US" dirty="0" err="1">
                <a:latin typeface="Calibri" panose="020F0502020204030204" pitchFamily="34" charset="0"/>
                <a:cs typeface="Calibri" panose="020F0502020204030204" pitchFamily="34" charset="0"/>
              </a:rPr>
              <a:t>في</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برامجك</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وتطبيقاتك</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المعرضة</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للهجمات</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الإلكترونية</a:t>
            </a:r>
            <a:r>
              <a:rPr lang="en-US" dirty="0">
                <a:latin typeface="Calibri" panose="020F0502020204030204" pitchFamily="34" charset="0"/>
                <a:cs typeface="Calibri" panose="020F0502020204030204" pitchFamily="34" charset="0"/>
              </a:rPr>
              <a:t> ، </a:t>
            </a:r>
            <a:r>
              <a:rPr lang="en-US" dirty="0" err="1">
                <a:latin typeface="Calibri" panose="020F0502020204030204" pitchFamily="34" charset="0"/>
                <a:cs typeface="Calibri" panose="020F0502020204030204" pitchFamily="34" charset="0"/>
              </a:rPr>
              <a:t>مما</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يساعد</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مؤسستك</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على</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تقليل</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مخاطرها</a:t>
            </a:r>
            <a:r>
              <a:rPr lang="en-US" dirty="0">
                <a:latin typeface="Calibri" panose="020F0502020204030204" pitchFamily="34" charset="0"/>
                <a:cs typeface="Calibri" panose="020F0502020204030204" pitchFamily="34" charset="0"/>
              </a:rPr>
              <a:t> الأمنية</a:t>
            </a:r>
            <a:r>
              <a:rPr lang="en-US" dirty="0" smtClean="0">
                <a:latin typeface="Calibri" panose="020F0502020204030204" pitchFamily="34" charset="0"/>
                <a:cs typeface="Calibri" panose="020F0502020204030204" pitchFamily="34" charset="0"/>
              </a:rPr>
              <a:t>.</a:t>
            </a:r>
            <a:endParaRPr lang="ar-SY" dirty="0" smtClean="0">
              <a:latin typeface="Calibri" panose="020F0502020204030204" pitchFamily="34" charset="0"/>
              <a:cs typeface="Calibri" panose="020F0502020204030204" pitchFamily="34" charset="0"/>
            </a:endParaRPr>
          </a:p>
          <a:p>
            <a:pPr>
              <a:lnSpc>
                <a:spcPts val="3360"/>
              </a:lnSpc>
            </a:pPr>
            <a:r>
              <a:rPr lang="en-US" dirty="0" err="1">
                <a:latin typeface="Calibri" panose="020F0502020204030204" pitchFamily="34" charset="0"/>
                <a:cs typeface="Calibri" panose="020F0502020204030204" pitchFamily="34" charset="0"/>
              </a:rPr>
              <a:t>تحسينات</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الميزات</a:t>
            </a:r>
            <a:r>
              <a:rPr lang="en-US" dirty="0">
                <a:latin typeface="Calibri" panose="020F0502020204030204" pitchFamily="34" charset="0"/>
                <a:cs typeface="Calibri" panose="020F0502020204030204" pitchFamily="34" charset="0"/>
              </a:rPr>
              <a:t>  Feature </a:t>
            </a:r>
            <a:r>
              <a:rPr lang="en-US" dirty="0" smtClean="0">
                <a:latin typeface="Calibri" panose="020F0502020204030204" pitchFamily="34" charset="0"/>
                <a:cs typeface="Calibri" panose="020F0502020204030204" pitchFamily="34" charset="0"/>
              </a:rPr>
              <a:t>improvements</a:t>
            </a:r>
            <a:r>
              <a:rPr lang="ar-SY" dirty="0" smtClean="0">
                <a:latin typeface="Calibri" panose="020F0502020204030204" pitchFamily="34" charset="0"/>
                <a:cs typeface="Calibri" panose="020F0502020204030204" pitchFamily="34" charset="0"/>
              </a:rPr>
              <a:t>: </a:t>
            </a:r>
            <a:r>
              <a:rPr lang="en-US" dirty="0" err="1" smtClean="0">
                <a:latin typeface="Calibri" panose="020F0502020204030204" pitchFamily="34" charset="0"/>
                <a:cs typeface="Calibri" panose="020F0502020204030204" pitchFamily="34" charset="0"/>
              </a:rPr>
              <a:t>يمكن</a:t>
            </a:r>
            <a:r>
              <a:rPr lang="en-US" dirty="0" smtClean="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أن</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تتجاوز</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إدارة</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التصحيح</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إصلاحات</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أخطاء</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البرامج</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لتشمل</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أيضًا</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تحديثات</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الميزات</a:t>
            </a:r>
            <a:r>
              <a:rPr lang="en-US" dirty="0">
                <a:latin typeface="Calibri" panose="020F0502020204030204" pitchFamily="34" charset="0"/>
                <a:cs typeface="Calibri" panose="020F0502020204030204" pitchFamily="34" charset="0"/>
              </a:rPr>
              <a:t> / </a:t>
            </a:r>
            <a:r>
              <a:rPr lang="en-US" dirty="0" err="1">
                <a:latin typeface="Calibri" panose="020F0502020204030204" pitchFamily="34" charset="0"/>
                <a:cs typeface="Calibri" panose="020F0502020204030204" pitchFamily="34" charset="0"/>
              </a:rPr>
              <a:t>الوظائف</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يمكن</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أن</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تكون</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التصحيحات</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ضرورية</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لضمان</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حصولك</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على</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أحدث</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وأفضل</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ما</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يقدمه</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المنتج</a:t>
            </a:r>
            <a:r>
              <a:rPr lang="en-US" dirty="0">
                <a:latin typeface="Calibri" panose="020F0502020204030204" pitchFamily="34" charset="0"/>
                <a:cs typeface="Calibri" panose="020F0502020204030204" pitchFamily="34" charset="0"/>
              </a:rPr>
              <a:t>.</a:t>
            </a:r>
          </a:p>
          <a:p>
            <a:endParaRPr lang="en-US" dirty="0"/>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13</a:t>
            </a:fld>
            <a:endParaRPr lang="en-US"/>
          </a:p>
        </p:txBody>
      </p:sp>
    </p:spTree>
    <p:extLst>
      <p:ext uri="{BB962C8B-B14F-4D97-AF65-F5344CB8AC3E}">
        <p14:creationId xmlns:p14="http://schemas.microsoft.com/office/powerpoint/2010/main" val="40068732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Y" sz="2800" dirty="0">
                <a:latin typeface="Calibri" panose="020F0502020204030204" pitchFamily="34" charset="0"/>
                <a:cs typeface="Calibri" panose="020F0502020204030204" pitchFamily="34" charset="0"/>
              </a:rPr>
              <a:t>إدارة التصحيح </a:t>
            </a:r>
            <a:r>
              <a:rPr lang="en-US" sz="2800" dirty="0">
                <a:latin typeface="Calibri" panose="020F0502020204030204" pitchFamily="34" charset="0"/>
                <a:cs typeface="Calibri" panose="020F0502020204030204" pitchFamily="34" charset="0"/>
              </a:rPr>
              <a:t>Patch Management </a:t>
            </a:r>
            <a:r>
              <a:rPr lang="en-US" dirty="0"/>
              <a:t/>
            </a:r>
            <a:br>
              <a:rPr lang="en-US" dirty="0"/>
            </a:br>
            <a:endParaRPr lang="en-US" dirty="0"/>
          </a:p>
        </p:txBody>
      </p:sp>
      <p:sp>
        <p:nvSpPr>
          <p:cNvPr id="3" name="Content Placeholder 2"/>
          <p:cNvSpPr>
            <a:spLocks noGrp="1"/>
          </p:cNvSpPr>
          <p:nvPr>
            <p:ph idx="1"/>
          </p:nvPr>
        </p:nvSpPr>
        <p:spPr/>
        <p:txBody>
          <a:bodyPr/>
          <a:lstStyle/>
          <a:p>
            <a:pPr marL="0" indent="0">
              <a:lnSpc>
                <a:spcPts val="3300"/>
              </a:lnSpc>
              <a:buNone/>
            </a:pPr>
            <a:r>
              <a:rPr lang="ar-SY" sz="3000" dirty="0"/>
              <a:t>- </a:t>
            </a:r>
            <a:r>
              <a:rPr lang="ar-SY" sz="2600" dirty="0">
                <a:latin typeface="Calibri" panose="020F0502020204030204" pitchFamily="34" charset="0"/>
                <a:cs typeface="Calibri" panose="020F0502020204030204" pitchFamily="34" charset="0"/>
              </a:rPr>
              <a:t>تعرّف بأنّها عملية إدارة شبكة من أجهزة الكمبيوتر عن طريق إجراء نشر التصحيح بانتظام للحفاظ على أجهزة الكمبيوتر محدثة. </a:t>
            </a:r>
          </a:p>
          <a:p>
            <a:pPr marL="0" indent="0">
              <a:lnSpc>
                <a:spcPts val="3300"/>
              </a:lnSpc>
              <a:buNone/>
            </a:pPr>
            <a:r>
              <a:rPr lang="ar-SY" sz="2600" dirty="0">
                <a:latin typeface="Calibri" panose="020F0502020204030204" pitchFamily="34" charset="0"/>
                <a:cs typeface="Calibri" panose="020F0502020204030204" pitchFamily="34" charset="0"/>
              </a:rPr>
              <a:t>هناك قول مأثور ، "إذا كنت ستفعل ذلك أكثر من مرة ، قم بأتمتة ذلك." يتم تبسيط العملية بأكملها من خلال مخدم إدارة التصحيح المركزي. يعتبر كنقطة تحكم مركزية بجميع الأجهزة الموجودة على الشبكة.</a:t>
            </a:r>
          </a:p>
          <a:p>
            <a:pPr marL="0" indent="0">
              <a:lnSpc>
                <a:spcPts val="3300"/>
              </a:lnSpc>
              <a:buNone/>
            </a:pPr>
            <a:r>
              <a:rPr lang="ar-SY"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يوجد</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أدوات</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مجانية</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توفر</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نظاما</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آليا</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لإدارة</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التصحيح</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يحرر</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مسؤولي</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تكنولوجيا</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المعلومات</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في</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المؤسسة</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من</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الأعمال</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الروتينية</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المتمثلة</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في</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تصحيح</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أجهزة</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الكمبيوتر</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يدويًا</a:t>
            </a:r>
            <a:r>
              <a:rPr lang="en-US" sz="2600" dirty="0">
                <a:latin typeface="Calibri" panose="020F0502020204030204" pitchFamily="34" charset="0"/>
                <a:cs typeface="Calibri" panose="020F0502020204030204" pitchFamily="34" charset="0"/>
              </a:rPr>
              <a:t> ، </a:t>
            </a:r>
            <a:r>
              <a:rPr lang="en-US" sz="2600" dirty="0" err="1">
                <a:latin typeface="Calibri" panose="020F0502020204030204" pitchFamily="34" charset="0"/>
                <a:cs typeface="Calibri" panose="020F0502020204030204" pitchFamily="34" charset="0"/>
              </a:rPr>
              <a:t>حتى</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يتمكنوا</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من</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التركيز</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على</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المهام</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الهامة</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الأخرى</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وأيضا</a:t>
            </a:r>
            <a:r>
              <a:rPr lang="en-US" sz="2600" dirty="0">
                <a:latin typeface="Calibri" panose="020F0502020204030204" pitchFamily="34" charset="0"/>
                <a:cs typeface="Calibri" panose="020F0502020204030204" pitchFamily="34" charset="0"/>
              </a:rPr>
              <a:t> </a:t>
            </a:r>
            <a:r>
              <a:rPr lang="ar-SY" sz="2600" dirty="0">
                <a:latin typeface="Calibri" panose="020F0502020204030204" pitchFamily="34" charset="0"/>
                <a:cs typeface="Calibri" panose="020F0502020204030204" pitchFamily="34" charset="0"/>
              </a:rPr>
              <a:t>تحسين الإنتاجية وتوفير التكاليف المرتبطة بسوء إدارة التصحيح.</a:t>
            </a:r>
            <a:endParaRPr lang="en-US" sz="2600" dirty="0">
              <a:latin typeface="Calibri" panose="020F0502020204030204" pitchFamily="34" charset="0"/>
              <a:cs typeface="Calibri" panose="020F0502020204030204" pitchFamily="34" charset="0"/>
            </a:endParaRPr>
          </a:p>
          <a:p>
            <a:endParaRPr lang="en-US" dirty="0"/>
          </a:p>
        </p:txBody>
      </p:sp>
      <p:sp>
        <p:nvSpPr>
          <p:cNvPr id="4" name="Date Placeholder 3"/>
          <p:cNvSpPr>
            <a:spLocks noGrp="1"/>
          </p:cNvSpPr>
          <p:nvPr>
            <p:ph type="dt" sz="half" idx="10"/>
          </p:nvPr>
        </p:nvSpPr>
        <p:spPr/>
        <p:txBody>
          <a:bodyPr/>
          <a:lstStyle/>
          <a:p>
            <a:r>
              <a:rPr lang="ar-SY" dirty="0" smtClean="0"/>
              <a:t>01/08/2022</a:t>
            </a:r>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14</a:t>
            </a:fld>
            <a:endParaRPr lang="en-US"/>
          </a:p>
        </p:txBody>
      </p:sp>
    </p:spTree>
    <p:extLst>
      <p:ext uri="{BB962C8B-B14F-4D97-AF65-F5344CB8AC3E}">
        <p14:creationId xmlns:p14="http://schemas.microsoft.com/office/powerpoint/2010/main" val="40068732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sz="2800" dirty="0">
                <a:latin typeface="Calibri" panose="020F0502020204030204" pitchFamily="34" charset="0"/>
                <a:cs typeface="Calibri" panose="020F0502020204030204" pitchFamily="34" charset="0"/>
              </a:rPr>
              <a:t>البرمجيات الخبيثة </a:t>
            </a:r>
            <a:r>
              <a:rPr lang="en-US" sz="2800" dirty="0">
                <a:latin typeface="Calibri" panose="020F0502020204030204" pitchFamily="34" charset="0"/>
                <a:cs typeface="Calibri" panose="020F0502020204030204" pitchFamily="34" charset="0"/>
              </a:rPr>
              <a:t>Malware</a:t>
            </a:r>
            <a:r>
              <a:rPr lang="ar-SY" sz="4000" dirty="0" smtClean="0">
                <a:solidFill>
                  <a:schemeClr val="accent2"/>
                </a:solidFill>
                <a:latin typeface="Monotype Koufi" pitchFamily="2" charset="-78"/>
                <a:ea typeface="Monotype Koufi" pitchFamily="2" charset="-78"/>
                <a:cs typeface="Monotype Koufi" pitchFamily="2" charset="-78"/>
              </a:rPr>
              <a:t> </a:t>
            </a:r>
            <a:endParaRPr lang="en-US" sz="4000" dirty="0">
              <a:solidFill>
                <a:schemeClr val="accent2"/>
              </a:solidFill>
            </a:endParaRPr>
          </a:p>
        </p:txBody>
      </p:sp>
      <p:sp>
        <p:nvSpPr>
          <p:cNvPr id="3" name="Content Placeholder 2"/>
          <p:cNvSpPr>
            <a:spLocks noGrp="1"/>
          </p:cNvSpPr>
          <p:nvPr>
            <p:ph idx="1"/>
          </p:nvPr>
        </p:nvSpPr>
        <p:spPr>
          <a:xfrm>
            <a:off x="838200" y="1500188"/>
            <a:ext cx="10515600" cy="4992687"/>
          </a:xfrm>
        </p:spPr>
        <p:txBody>
          <a:bodyPr>
            <a:noAutofit/>
          </a:bodyPr>
          <a:lstStyle/>
          <a:p>
            <a:pPr>
              <a:lnSpc>
                <a:spcPct val="150000"/>
              </a:lnSpc>
            </a:pPr>
            <a:r>
              <a:rPr lang="ar-SY" sz="2600" dirty="0">
                <a:latin typeface="Calibri" panose="020F0502020204030204" pitchFamily="34" charset="0"/>
                <a:cs typeface="Calibri" panose="020F0502020204030204" pitchFamily="34" charset="0"/>
              </a:rPr>
              <a:t>برامج تقوم بتثبيت نفسها بدون إذن المستخدم.</a:t>
            </a:r>
          </a:p>
          <a:p>
            <a:pPr>
              <a:lnSpc>
                <a:spcPct val="150000"/>
              </a:lnSpc>
            </a:pPr>
            <a:r>
              <a:rPr lang="ar-SY" sz="2600" dirty="0">
                <a:latin typeface="Calibri" panose="020F0502020204030204" pitchFamily="34" charset="0"/>
                <a:cs typeface="Calibri" panose="020F0502020204030204" pitchFamily="34" charset="0"/>
              </a:rPr>
              <a:t>تعمل ضمن خلفية نظام التشغيل.</a:t>
            </a:r>
          </a:p>
          <a:p>
            <a:pPr>
              <a:lnSpc>
                <a:spcPct val="150000"/>
              </a:lnSpc>
            </a:pPr>
            <a:r>
              <a:rPr lang="ar-SY" sz="2600" dirty="0">
                <a:latin typeface="Calibri" panose="020F0502020204030204" pitchFamily="34" charset="0"/>
                <a:cs typeface="Calibri" panose="020F0502020204030204" pitchFamily="34" charset="0"/>
              </a:rPr>
              <a:t>تقوم بتنفيذ مهام خبيثة مثل سرقة البيانات الشخصية ،التجسس على الأنشطة، استخدام البريد الالكتروني، تحميل برمجيات خبيثة أخرى، فتح قنوات اتصال خلفية ونسخ نفسها ضمن الحواسب المصابة والشبكات المتصلة بها وغير ذلك.</a:t>
            </a:r>
            <a:endParaRPr lang="en-US" sz="2600" dirty="0">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fld id="{8C9306FA-6835-43D7-B230-49221F851AB5}" type="datetime1">
              <a:rPr lang="en-US" smtClean="0"/>
              <a:t>12/3/2025</a:t>
            </a:fld>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15</a:t>
            </a:fld>
            <a:endParaRPr lang="en-US"/>
          </a:p>
        </p:txBody>
      </p:sp>
    </p:spTree>
    <p:extLst>
      <p:ext uri="{BB962C8B-B14F-4D97-AF65-F5344CB8AC3E}">
        <p14:creationId xmlns:p14="http://schemas.microsoft.com/office/powerpoint/2010/main" val="3603820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27176"/>
            <a:ext cx="10515600" cy="4992687"/>
          </a:xfrm>
        </p:spPr>
        <p:txBody>
          <a:bodyPr>
            <a:normAutofit fontScale="92500" lnSpcReduction="20000"/>
          </a:bodyPr>
          <a:lstStyle/>
          <a:p>
            <a:pPr>
              <a:lnSpc>
                <a:spcPct val="150000"/>
              </a:lnSpc>
            </a:pPr>
            <a:r>
              <a:rPr lang="ar-SY" sz="2600" dirty="0">
                <a:latin typeface="Calibri" panose="020F0502020204030204" pitchFamily="34" charset="0"/>
                <a:cs typeface="Calibri" panose="020F0502020204030204" pitchFamily="34" charset="0"/>
              </a:rPr>
              <a:t>الفيروسات </a:t>
            </a:r>
            <a:r>
              <a:rPr lang="en-US" sz="2600" dirty="0">
                <a:latin typeface="Calibri" panose="020F0502020204030204" pitchFamily="34" charset="0"/>
                <a:cs typeface="Calibri" panose="020F0502020204030204" pitchFamily="34" charset="0"/>
              </a:rPr>
              <a:t>Viruses					</a:t>
            </a:r>
          </a:p>
          <a:p>
            <a:pPr>
              <a:lnSpc>
                <a:spcPct val="150000"/>
              </a:lnSpc>
            </a:pPr>
            <a:r>
              <a:rPr lang="ar-SY" sz="2600" dirty="0">
                <a:latin typeface="Calibri" panose="020F0502020204030204" pitchFamily="34" charset="0"/>
                <a:cs typeface="Calibri" panose="020F0502020204030204" pitchFamily="34" charset="0"/>
              </a:rPr>
              <a:t>الديدان </a:t>
            </a:r>
            <a:r>
              <a:rPr lang="en-US" sz="2600" dirty="0">
                <a:latin typeface="Calibri" panose="020F0502020204030204" pitchFamily="34" charset="0"/>
                <a:cs typeface="Calibri" panose="020F0502020204030204" pitchFamily="34" charset="0"/>
              </a:rPr>
              <a:t>Worms</a:t>
            </a:r>
          </a:p>
          <a:p>
            <a:pPr>
              <a:lnSpc>
                <a:spcPct val="150000"/>
              </a:lnSpc>
            </a:pPr>
            <a:r>
              <a:rPr lang="ar-SY" sz="2600" dirty="0">
                <a:latin typeface="Calibri" panose="020F0502020204030204" pitchFamily="34" charset="0"/>
                <a:cs typeface="Calibri" panose="020F0502020204030204" pitchFamily="34" charset="0"/>
              </a:rPr>
              <a:t>أحصنة طروادة </a:t>
            </a:r>
            <a:r>
              <a:rPr lang="en-US" sz="2600" dirty="0">
                <a:latin typeface="Calibri" panose="020F0502020204030204" pitchFamily="34" charset="0"/>
                <a:cs typeface="Calibri" panose="020F0502020204030204" pitchFamily="34" charset="0"/>
              </a:rPr>
              <a:t>Trojans</a:t>
            </a:r>
          </a:p>
          <a:p>
            <a:pPr>
              <a:lnSpc>
                <a:spcPct val="150000"/>
              </a:lnSpc>
            </a:pPr>
            <a:r>
              <a:rPr lang="ar-SY" sz="2600" dirty="0">
                <a:latin typeface="Calibri" panose="020F0502020204030204" pitchFamily="34" charset="0"/>
                <a:cs typeface="Calibri" panose="020F0502020204030204" pitchFamily="34" charset="0"/>
              </a:rPr>
              <a:t>برمجيات الفدية </a:t>
            </a:r>
            <a:r>
              <a:rPr lang="en-US" sz="2600" dirty="0" err="1" smtClean="0">
                <a:latin typeface="Calibri" panose="020F0502020204030204" pitchFamily="34" charset="0"/>
                <a:cs typeface="Calibri" panose="020F0502020204030204" pitchFamily="34" charset="0"/>
              </a:rPr>
              <a:t>Ransomwares</a:t>
            </a:r>
            <a:endParaRPr lang="ar-SY" sz="2600" dirty="0" smtClean="0">
              <a:latin typeface="Calibri" panose="020F0502020204030204" pitchFamily="34" charset="0"/>
              <a:cs typeface="Calibri" panose="020F0502020204030204" pitchFamily="34" charset="0"/>
            </a:endParaRPr>
          </a:p>
          <a:p>
            <a:pPr>
              <a:lnSpc>
                <a:spcPct val="150000"/>
              </a:lnSpc>
            </a:pPr>
            <a:r>
              <a:rPr lang="ar-SY" sz="2600" dirty="0">
                <a:latin typeface="Calibri" panose="020F0502020204030204" pitchFamily="34" charset="0"/>
                <a:cs typeface="Calibri" panose="020F0502020204030204" pitchFamily="34" charset="0"/>
              </a:rPr>
              <a:t>مسجلات المفاتيح </a:t>
            </a:r>
            <a:r>
              <a:rPr lang="en-US" sz="2600" dirty="0" err="1">
                <a:latin typeface="Calibri" panose="020F0502020204030204" pitchFamily="34" charset="0"/>
                <a:cs typeface="Calibri" panose="020F0502020204030204" pitchFamily="34" charset="0"/>
              </a:rPr>
              <a:t>Keyloggers</a:t>
            </a:r>
            <a:endParaRPr lang="en-US" sz="2600" dirty="0">
              <a:latin typeface="Calibri" panose="020F0502020204030204" pitchFamily="34" charset="0"/>
              <a:cs typeface="Calibri" panose="020F0502020204030204" pitchFamily="34" charset="0"/>
            </a:endParaRPr>
          </a:p>
          <a:p>
            <a:pPr>
              <a:lnSpc>
                <a:spcPct val="150000"/>
              </a:lnSpc>
            </a:pPr>
            <a:r>
              <a:rPr lang="ar-SY" sz="2600" dirty="0">
                <a:latin typeface="Calibri" panose="020F0502020204030204" pitchFamily="34" charset="0"/>
                <a:cs typeface="Calibri" panose="020F0502020204030204" pitchFamily="34" charset="0"/>
              </a:rPr>
              <a:t>الجذور الخفية </a:t>
            </a:r>
            <a:r>
              <a:rPr lang="en-US" sz="2600" dirty="0">
                <a:latin typeface="Calibri" panose="020F0502020204030204" pitchFamily="34" charset="0"/>
                <a:cs typeface="Calibri" panose="020F0502020204030204" pitchFamily="34" charset="0"/>
              </a:rPr>
              <a:t>Rootkits</a:t>
            </a:r>
          </a:p>
          <a:p>
            <a:pPr>
              <a:lnSpc>
                <a:spcPct val="150000"/>
              </a:lnSpc>
            </a:pPr>
            <a:r>
              <a:rPr lang="ar-SY" sz="2600" dirty="0">
                <a:latin typeface="Calibri" panose="020F0502020204030204" pitchFamily="34" charset="0"/>
                <a:cs typeface="Calibri" panose="020F0502020204030204" pitchFamily="34" charset="0"/>
              </a:rPr>
              <a:t>برمجيات التجسس </a:t>
            </a:r>
            <a:r>
              <a:rPr lang="en-US" sz="2600" dirty="0">
                <a:latin typeface="Calibri" panose="020F0502020204030204" pitchFamily="34" charset="0"/>
                <a:cs typeface="Calibri" panose="020F0502020204030204" pitchFamily="34" charset="0"/>
              </a:rPr>
              <a:t>Spyware</a:t>
            </a:r>
          </a:p>
          <a:p>
            <a:pPr>
              <a:lnSpc>
                <a:spcPct val="150000"/>
              </a:lnSpc>
            </a:pPr>
            <a:r>
              <a:rPr lang="ar-SY" sz="2600" dirty="0">
                <a:latin typeface="Calibri" panose="020F0502020204030204" pitchFamily="34" charset="0"/>
                <a:cs typeface="Calibri" panose="020F0502020204030204" pitchFamily="34" charset="0"/>
              </a:rPr>
              <a:t>برمجيات الإعلانات </a:t>
            </a:r>
            <a:r>
              <a:rPr lang="en-US" sz="2600" dirty="0">
                <a:latin typeface="Calibri" panose="020F0502020204030204" pitchFamily="34" charset="0"/>
                <a:cs typeface="Calibri" panose="020F0502020204030204" pitchFamily="34" charset="0"/>
              </a:rPr>
              <a:t>Adware</a:t>
            </a:r>
          </a:p>
          <a:p>
            <a:pPr marL="0" indent="0">
              <a:lnSpc>
                <a:spcPct val="150000"/>
              </a:lnSpc>
              <a:buNone/>
            </a:pPr>
            <a:endParaRPr lang="en-US" sz="2600" dirty="0">
              <a:latin typeface="Calibri" panose="020F0502020204030204" pitchFamily="34" charset="0"/>
              <a:cs typeface="Calibri" panose="020F0502020204030204" pitchFamily="34" charset="0"/>
            </a:endParaRPr>
          </a:p>
          <a:p>
            <a:pPr>
              <a:lnSpc>
                <a:spcPct val="150000"/>
              </a:lnSpc>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2" name="Title 1"/>
          <p:cNvSpPr>
            <a:spLocks noGrp="1"/>
          </p:cNvSpPr>
          <p:nvPr>
            <p:ph type="title"/>
          </p:nvPr>
        </p:nvSpPr>
        <p:spPr/>
        <p:txBody>
          <a:bodyPr>
            <a:normAutofit/>
          </a:bodyPr>
          <a:lstStyle/>
          <a:p>
            <a:pPr algn="ctr"/>
            <a:r>
              <a:rPr lang="ar-SY" sz="2800" dirty="0">
                <a:latin typeface="Calibri" panose="020F0502020204030204" pitchFamily="34" charset="0"/>
                <a:cs typeface="Calibri" panose="020F0502020204030204" pitchFamily="34" charset="0"/>
              </a:rPr>
              <a:t>أهم أنواع البرمجيات الخبيثة</a:t>
            </a:r>
            <a:endParaRPr lang="en-US" sz="2800" dirty="0">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fld id="{8C9306FA-6835-43D7-B230-49221F851AB5}" type="datetime1">
              <a:rPr lang="en-US" smtClean="0"/>
              <a:t>12/3/2025</a:t>
            </a:fld>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16</a:t>
            </a:fld>
            <a:endParaRPr lang="en-US"/>
          </a:p>
        </p:txBody>
      </p:sp>
    </p:spTree>
    <p:extLst>
      <p:ext uri="{BB962C8B-B14F-4D97-AF65-F5344CB8AC3E}">
        <p14:creationId xmlns:p14="http://schemas.microsoft.com/office/powerpoint/2010/main" val="388337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34369"/>
            <a:ext cx="10515600" cy="4992687"/>
          </a:xfrm>
        </p:spPr>
        <p:txBody>
          <a:bodyPr>
            <a:normAutofit/>
          </a:bodyPr>
          <a:lstStyle/>
          <a:p>
            <a:pPr>
              <a:lnSpc>
                <a:spcPct val="130000"/>
              </a:lnSpc>
            </a:pPr>
            <a:r>
              <a:rPr lang="ar-SY" sz="2400" dirty="0">
                <a:latin typeface="Calibri" panose="020F0502020204030204" pitchFamily="34" charset="0"/>
                <a:cs typeface="Calibri" panose="020F0502020204030204" pitchFamily="34" charset="0"/>
              </a:rPr>
              <a:t>تصفح بعض مواقع الانترنت.</a:t>
            </a:r>
          </a:p>
          <a:p>
            <a:pPr>
              <a:lnSpc>
                <a:spcPct val="130000"/>
              </a:lnSpc>
            </a:pPr>
            <a:r>
              <a:rPr lang="ar-SY" sz="2400" dirty="0">
                <a:latin typeface="Calibri" panose="020F0502020204030204" pitchFamily="34" charset="0"/>
                <a:cs typeface="Calibri" panose="020F0502020204030204" pitchFamily="34" charset="0"/>
              </a:rPr>
              <a:t>روابط ومرفقات البريد الالكتروني.</a:t>
            </a:r>
          </a:p>
          <a:p>
            <a:pPr>
              <a:lnSpc>
                <a:spcPct val="130000"/>
              </a:lnSpc>
            </a:pPr>
            <a:r>
              <a:rPr lang="ar-SY" sz="2400" dirty="0">
                <a:latin typeface="Calibri" panose="020F0502020204030204" pitchFamily="34" charset="0"/>
                <a:cs typeface="Calibri" panose="020F0502020204030204" pitchFamily="34" charset="0"/>
              </a:rPr>
              <a:t>وسائط التخزين القابلة للإزالة كالذواكر </a:t>
            </a:r>
            <a:r>
              <a:rPr lang="ar-SY" sz="2400" dirty="0" err="1">
                <a:latin typeface="Calibri" panose="020F0502020204030204" pitchFamily="34" charset="0"/>
                <a:cs typeface="Calibri" panose="020F0502020204030204" pitchFamily="34" charset="0"/>
              </a:rPr>
              <a:t>الومضية</a:t>
            </a:r>
            <a:r>
              <a:rPr lang="ar-SY" sz="2400" dirty="0">
                <a:latin typeface="Calibri" panose="020F0502020204030204" pitchFamily="34" charset="0"/>
                <a:cs typeface="Calibri" panose="020F0502020204030204" pitchFamily="34" charset="0"/>
              </a:rPr>
              <a:t> والأقراص المدمجة.</a:t>
            </a:r>
          </a:p>
          <a:p>
            <a:pPr>
              <a:lnSpc>
                <a:spcPct val="130000"/>
              </a:lnSpc>
            </a:pPr>
            <a:r>
              <a:rPr lang="ar-SY" sz="2400" dirty="0">
                <a:latin typeface="Calibri" panose="020F0502020204030204" pitchFamily="34" charset="0"/>
                <a:cs typeface="Calibri" panose="020F0502020204030204" pitchFamily="34" charset="0"/>
              </a:rPr>
              <a:t>الشبكات المحلية.</a:t>
            </a:r>
          </a:p>
          <a:p>
            <a:pPr>
              <a:lnSpc>
                <a:spcPct val="150000"/>
              </a:lnSpc>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2" name="Title 1"/>
          <p:cNvSpPr>
            <a:spLocks noGrp="1"/>
          </p:cNvSpPr>
          <p:nvPr>
            <p:ph type="title"/>
          </p:nvPr>
        </p:nvSpPr>
        <p:spPr>
          <a:xfrm>
            <a:off x="2209800" y="608806"/>
            <a:ext cx="10515600" cy="1325563"/>
          </a:xfrm>
        </p:spPr>
        <p:txBody>
          <a:bodyPr>
            <a:normAutofit/>
          </a:bodyPr>
          <a:lstStyle/>
          <a:p>
            <a:pPr algn="ctr"/>
            <a:r>
              <a:rPr lang="ar-SY" sz="2800" dirty="0">
                <a:latin typeface="Calibri" panose="020F0502020204030204" pitchFamily="34" charset="0"/>
                <a:cs typeface="Calibri" panose="020F0502020204030204" pitchFamily="34" charset="0"/>
              </a:rPr>
              <a:t>أهم أساليب الإصابة بالبرمجيات الخبيثة</a:t>
            </a:r>
            <a:endParaRPr lang="en-US" sz="2800" dirty="0">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fld id="{8C9306FA-6835-43D7-B230-49221F851AB5}" type="datetime1">
              <a:rPr lang="en-US" smtClean="0"/>
              <a:t>12/3/2025</a:t>
            </a:fld>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17</a:t>
            </a:fld>
            <a:endParaRPr lang="en-US"/>
          </a:p>
        </p:txBody>
      </p:sp>
    </p:spTree>
    <p:extLst>
      <p:ext uri="{BB962C8B-B14F-4D97-AF65-F5344CB8AC3E}">
        <p14:creationId xmlns:p14="http://schemas.microsoft.com/office/powerpoint/2010/main" val="1309618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00188"/>
            <a:ext cx="10515600" cy="4992687"/>
          </a:xfrm>
        </p:spPr>
        <p:txBody>
          <a:bodyPr>
            <a:normAutofit/>
          </a:bodyPr>
          <a:lstStyle/>
          <a:p>
            <a:pPr>
              <a:lnSpc>
                <a:spcPct val="140000"/>
              </a:lnSpc>
            </a:pPr>
            <a:r>
              <a:rPr lang="ar-SY" sz="2400" dirty="0">
                <a:latin typeface="Calibri" panose="020F0502020204030204" pitchFamily="34" charset="0"/>
                <a:cs typeface="Calibri" panose="020F0502020204030204" pitchFamily="34" charset="0"/>
              </a:rPr>
              <a:t>بطء غير اعتيادي وعدم استجابة وتوقف مفاجئ عن العمل.</a:t>
            </a:r>
          </a:p>
          <a:p>
            <a:pPr>
              <a:lnSpc>
                <a:spcPct val="140000"/>
              </a:lnSpc>
            </a:pPr>
            <a:r>
              <a:rPr lang="ar-SY" sz="2400" dirty="0">
                <a:latin typeface="Calibri" panose="020F0502020204030204" pitchFamily="34" charset="0"/>
                <a:cs typeface="Calibri" panose="020F0502020204030204" pitchFamily="34" charset="0"/>
              </a:rPr>
              <a:t>زيادة واضحة في معدل استخدام الانترنت وظهور إعلانات بشكل مفاجئ.</a:t>
            </a:r>
          </a:p>
          <a:p>
            <a:pPr>
              <a:lnSpc>
                <a:spcPct val="140000"/>
              </a:lnSpc>
            </a:pPr>
            <a:r>
              <a:rPr lang="ar-SY" sz="2400" dirty="0">
                <a:latin typeface="Calibri" panose="020F0502020204030204" pitchFamily="34" charset="0"/>
                <a:cs typeface="Calibri" panose="020F0502020204030204" pitchFamily="34" charset="0"/>
              </a:rPr>
              <a:t>زيادة في استخدام موارد النظام وفقدان مساحة تخزينية في الأقراص المحلية.</a:t>
            </a:r>
          </a:p>
          <a:p>
            <a:pPr>
              <a:lnSpc>
                <a:spcPct val="140000"/>
              </a:lnSpc>
            </a:pPr>
            <a:r>
              <a:rPr lang="ar-SY" sz="2400" dirty="0">
                <a:latin typeface="Calibri" panose="020F0502020204030204" pitchFamily="34" charset="0"/>
                <a:cs typeface="Calibri" panose="020F0502020204030204" pitchFamily="34" charset="0"/>
              </a:rPr>
              <a:t>تغيير الصفحة الرئيسية في المتصفحات وإعادة توجيه لصفحات معيّنة.</a:t>
            </a:r>
          </a:p>
          <a:p>
            <a:pPr>
              <a:lnSpc>
                <a:spcPct val="140000"/>
              </a:lnSpc>
            </a:pPr>
            <a:r>
              <a:rPr lang="ar-SY" sz="2400" dirty="0">
                <a:latin typeface="Calibri" panose="020F0502020204030204" pitchFamily="34" charset="0"/>
                <a:cs typeface="Calibri" panose="020F0502020204030204" pitchFamily="34" charset="0"/>
              </a:rPr>
              <a:t>توقف عمل تطبيقات الحماية المحليّة أو عدم القدرة على تحديثها.</a:t>
            </a:r>
          </a:p>
          <a:p>
            <a:pPr>
              <a:lnSpc>
                <a:spcPct val="140000"/>
              </a:lnSpc>
            </a:pPr>
            <a:r>
              <a:rPr lang="ar-SY" sz="2400" dirty="0">
                <a:latin typeface="Calibri" panose="020F0502020204030204" pitchFamily="34" charset="0"/>
                <a:cs typeface="Calibri" panose="020F0502020204030204" pitchFamily="34" charset="0"/>
              </a:rPr>
              <a:t>اختفاء ملفات وظهور ملفات واختصارات جديدة بشكل مفاجئ .</a:t>
            </a: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2" name="Title 1"/>
          <p:cNvSpPr>
            <a:spLocks noGrp="1"/>
          </p:cNvSpPr>
          <p:nvPr>
            <p:ph type="title"/>
          </p:nvPr>
        </p:nvSpPr>
        <p:spPr>
          <a:xfrm>
            <a:off x="2209800" y="365125"/>
            <a:ext cx="10515600" cy="1325563"/>
          </a:xfrm>
        </p:spPr>
        <p:txBody>
          <a:bodyPr>
            <a:normAutofit/>
          </a:bodyPr>
          <a:lstStyle/>
          <a:p>
            <a:pPr algn="ctr"/>
            <a:r>
              <a:rPr lang="ar-SY" sz="2800" dirty="0">
                <a:latin typeface="Calibri" panose="020F0502020204030204" pitchFamily="34" charset="0"/>
                <a:cs typeface="Calibri" panose="020F0502020204030204" pitchFamily="34" charset="0"/>
              </a:rPr>
              <a:t>أهم أعراض الإصابة بالبرمجيات الخبيثة</a:t>
            </a:r>
            <a:endParaRPr lang="en-US" sz="2800" dirty="0">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fld id="{8C9306FA-6835-43D7-B230-49221F851AB5}" type="datetime1">
              <a:rPr lang="en-US" smtClean="0"/>
              <a:t>12/3/2025</a:t>
            </a:fld>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18</a:t>
            </a:fld>
            <a:endParaRPr lang="en-US"/>
          </a:p>
        </p:txBody>
      </p:sp>
    </p:spTree>
    <p:extLst>
      <p:ext uri="{BB962C8B-B14F-4D97-AF65-F5344CB8AC3E}">
        <p14:creationId xmlns:p14="http://schemas.microsoft.com/office/powerpoint/2010/main" val="3635053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00188"/>
            <a:ext cx="10515600" cy="4992687"/>
          </a:xfrm>
        </p:spPr>
        <p:txBody>
          <a:bodyPr>
            <a:normAutofit/>
          </a:bodyPr>
          <a:lstStyle/>
          <a:p>
            <a:pPr>
              <a:lnSpc>
                <a:spcPct val="150000"/>
              </a:lnSpc>
            </a:pPr>
            <a:r>
              <a:rPr lang="ar-SY" sz="2400" dirty="0">
                <a:latin typeface="Calibri" panose="020F0502020204030204" pitchFamily="34" charset="0"/>
                <a:cs typeface="Calibri" panose="020F0502020204030204" pitchFamily="34" charset="0"/>
              </a:rPr>
              <a:t>تنصيب تطبيق مكافحة برمجيات خبيثة فعّال وتحديثه باستمرار.</a:t>
            </a:r>
          </a:p>
          <a:p>
            <a:pPr>
              <a:lnSpc>
                <a:spcPct val="150000"/>
              </a:lnSpc>
            </a:pPr>
            <a:r>
              <a:rPr lang="ar-SY" sz="2400" dirty="0">
                <a:latin typeface="Calibri" panose="020F0502020204030204" pitchFamily="34" charset="0"/>
                <a:cs typeface="Calibri" panose="020F0502020204030204" pitchFamily="34" charset="0"/>
              </a:rPr>
              <a:t>عدم تحميل أية برامج أو ملفات إلّا من المواقع الموثوقة فقط.</a:t>
            </a:r>
          </a:p>
          <a:p>
            <a:pPr>
              <a:lnSpc>
                <a:spcPct val="150000"/>
              </a:lnSpc>
            </a:pPr>
            <a:r>
              <a:rPr lang="ar-SY" sz="2400" dirty="0">
                <a:latin typeface="Calibri" panose="020F0502020204030204" pitchFamily="34" charset="0"/>
                <a:cs typeface="Calibri" panose="020F0502020204030204" pitchFamily="34" charset="0"/>
              </a:rPr>
              <a:t>اتباع توصيات التعامل الآمن مع البريد الالكتروني.</a:t>
            </a:r>
          </a:p>
          <a:p>
            <a:pPr>
              <a:lnSpc>
                <a:spcPct val="150000"/>
              </a:lnSpc>
            </a:pPr>
            <a:r>
              <a:rPr lang="ar-SY" sz="2400" dirty="0">
                <a:latin typeface="Calibri" panose="020F0502020204030204" pitchFamily="34" charset="0"/>
                <a:cs typeface="Calibri" panose="020F0502020204030204" pitchFamily="34" charset="0"/>
              </a:rPr>
              <a:t>توخّي الحذر لدى استعمال وسائط التخزين الخارجية.</a:t>
            </a:r>
          </a:p>
          <a:p>
            <a:pPr>
              <a:lnSpc>
                <a:spcPct val="150000"/>
              </a:lnSpc>
            </a:pPr>
            <a:r>
              <a:rPr lang="ar-SY" sz="2400" dirty="0">
                <a:latin typeface="Calibri" panose="020F0502020204030204" pitchFamily="34" charset="0"/>
                <a:cs typeface="Calibri" panose="020F0502020204030204" pitchFamily="34" charset="0"/>
              </a:rPr>
              <a:t>الالتزام بالصلاحيات المحددة للمستخدم أثناء العمل ضمن الشبكات المحلية.</a:t>
            </a:r>
          </a:p>
          <a:p>
            <a:pPr>
              <a:lnSpc>
                <a:spcPct val="150000"/>
              </a:lnSpc>
            </a:pPr>
            <a:r>
              <a:rPr lang="ar-SY" sz="2400" dirty="0">
                <a:latin typeface="Calibri" panose="020F0502020204030204" pitchFamily="34" charset="0"/>
                <a:cs typeface="Calibri" panose="020F0502020204030204" pitchFamily="34" charset="0"/>
              </a:rPr>
              <a:t>الالتزام ببنود السياسات الأمنية المتعلقة بالمستخدم.</a:t>
            </a: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2" name="Title 1"/>
          <p:cNvSpPr>
            <a:spLocks noGrp="1"/>
          </p:cNvSpPr>
          <p:nvPr>
            <p:ph type="title"/>
          </p:nvPr>
        </p:nvSpPr>
        <p:spPr>
          <a:xfrm>
            <a:off x="1988127" y="434398"/>
            <a:ext cx="10515600" cy="1325563"/>
          </a:xfrm>
        </p:spPr>
        <p:txBody>
          <a:bodyPr>
            <a:normAutofit/>
          </a:bodyPr>
          <a:lstStyle/>
          <a:p>
            <a:pPr algn="ctr"/>
            <a:r>
              <a:rPr lang="ar-SY" sz="2800" dirty="0">
                <a:latin typeface="Calibri" panose="020F0502020204030204" pitchFamily="34" charset="0"/>
                <a:cs typeface="Calibri" panose="020F0502020204030204" pitchFamily="34" charset="0"/>
              </a:rPr>
              <a:t>أهم ممارسات الحماية من البرمجيات الخبيثة</a:t>
            </a:r>
            <a:endParaRPr lang="en-US" sz="2800" dirty="0">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fld id="{8C9306FA-6835-43D7-B230-49221F851AB5}" type="datetime1">
              <a:rPr lang="en-US" smtClean="0"/>
              <a:t>12/3/2025</a:t>
            </a:fld>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19</a:t>
            </a:fld>
            <a:endParaRPr lang="en-US"/>
          </a:p>
        </p:txBody>
      </p:sp>
    </p:spTree>
    <p:extLst>
      <p:ext uri="{BB962C8B-B14F-4D97-AF65-F5344CB8AC3E}">
        <p14:creationId xmlns:p14="http://schemas.microsoft.com/office/powerpoint/2010/main" val="954859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Y" sz="2800" dirty="0">
                <a:latin typeface="Calibri" panose="020F0502020204030204" pitchFamily="34" charset="0"/>
                <a:cs typeface="Calibri" panose="020F0502020204030204" pitchFamily="34" charset="0"/>
              </a:rPr>
              <a:t>الثغرات ونقاط الضعف </a:t>
            </a:r>
            <a:r>
              <a:rPr lang="en-US" sz="2800" dirty="0">
                <a:latin typeface="Calibri" panose="020F0502020204030204" pitchFamily="34" charset="0"/>
                <a:cs typeface="Calibri" panose="020F0502020204030204" pitchFamily="34" charset="0"/>
              </a:rPr>
              <a:t>Vulnerabilities</a:t>
            </a:r>
          </a:p>
        </p:txBody>
      </p:sp>
      <p:sp>
        <p:nvSpPr>
          <p:cNvPr id="3" name="Content Placeholder 2"/>
          <p:cNvSpPr>
            <a:spLocks noGrp="1"/>
          </p:cNvSpPr>
          <p:nvPr>
            <p:ph idx="1"/>
          </p:nvPr>
        </p:nvSpPr>
        <p:spPr/>
        <p:txBody>
          <a:bodyPr/>
          <a:lstStyle/>
          <a:p>
            <a:pPr marL="0" indent="0">
              <a:buNone/>
            </a:pPr>
            <a:r>
              <a:rPr lang="ar-SY" sz="2400" dirty="0" smtClean="0">
                <a:latin typeface="Calibri" panose="020F0502020204030204" pitchFamily="34" charset="0"/>
                <a:cs typeface="Calibri" panose="020F0502020204030204" pitchFamily="34" charset="0"/>
              </a:rPr>
              <a:t>وهي عبارة عن عيوب أمنية أو أخطاء برمجية أو نقلط ضعف في إعدادات أنظمة التشغيل والبرمجيات والتجهيزات، يؤدي استغلالها من قبل المهاجمين إلى أضرار تختلف حسب طبيعة الهجمة وإمكانية الاستغلال.</a:t>
            </a:r>
            <a:endParaRPr lang="en-US" sz="2400" dirty="0" smtClean="0">
              <a:latin typeface="Calibri" panose="020F0502020204030204" pitchFamily="34" charset="0"/>
              <a:cs typeface="Calibri" panose="020F0502020204030204" pitchFamily="34" charset="0"/>
            </a:endParaRPr>
          </a:p>
          <a:p>
            <a:r>
              <a:rPr lang="ar-SY" sz="2400" dirty="0" smtClean="0">
                <a:latin typeface="Calibri" panose="020F0502020204030204" pitchFamily="34" charset="0"/>
                <a:cs typeface="Calibri" panose="020F0502020204030204" pitchFamily="34" charset="0"/>
              </a:rPr>
              <a:t>تأتي الثغرات الامنية من :</a:t>
            </a:r>
            <a:endParaRPr lang="en-US" sz="2400" dirty="0" smtClean="0">
              <a:latin typeface="Calibri" panose="020F0502020204030204" pitchFamily="34" charset="0"/>
              <a:cs typeface="Calibri" panose="020F0502020204030204" pitchFamily="34" charset="0"/>
            </a:endParaRPr>
          </a:p>
          <a:p>
            <a:pPr lvl="0"/>
            <a:r>
              <a:rPr lang="ar-SY" sz="2400" dirty="0" smtClean="0">
                <a:latin typeface="Calibri" panose="020F0502020204030204" pitchFamily="34" charset="0"/>
                <a:cs typeface="Calibri" panose="020F0502020204030204" pitchFamily="34" charset="0"/>
              </a:rPr>
              <a:t>ثغرات أمنية في البرمجيات وأ</a:t>
            </a:r>
            <a:r>
              <a:rPr lang="ar-SY" sz="2400" dirty="0">
                <a:latin typeface="Calibri" panose="020F0502020204030204" pitchFamily="34" charset="0"/>
                <a:cs typeface="Calibri" panose="020F0502020204030204" pitchFamily="34" charset="0"/>
              </a:rPr>
              <a:t>نظمة</a:t>
            </a:r>
            <a:r>
              <a:rPr lang="ar-SY" sz="2400" dirty="0" smtClean="0">
                <a:latin typeface="Calibri" panose="020F0502020204030204" pitchFamily="34" charset="0"/>
                <a:cs typeface="Calibri" panose="020F0502020204030204" pitchFamily="34" charset="0"/>
              </a:rPr>
              <a:t> التشغيل </a:t>
            </a:r>
            <a:r>
              <a:rPr lang="en-US" sz="2400" dirty="0" smtClean="0">
                <a:latin typeface="Calibri" panose="020F0502020204030204" pitchFamily="34" charset="0"/>
                <a:cs typeface="Calibri" panose="020F0502020204030204" pitchFamily="34" charset="0"/>
              </a:rPr>
              <a:t>flaw in software</a:t>
            </a:r>
          </a:p>
          <a:p>
            <a:r>
              <a:rPr lang="en-US" sz="2400" dirty="0" smtClean="0">
                <a:latin typeface="Calibri" panose="020F0502020204030204" pitchFamily="34" charset="0"/>
                <a:cs typeface="Calibri" panose="020F0502020204030204" pitchFamily="34" charset="0"/>
              </a:rPr>
              <a:t>Misconfiguration </a:t>
            </a:r>
          </a:p>
          <a:p>
            <a:r>
              <a:rPr lang="ar-SY" sz="2400" dirty="0" smtClean="0">
                <a:latin typeface="Calibri" panose="020F0502020204030204" pitchFamily="34" charset="0"/>
                <a:cs typeface="Calibri" panose="020F0502020204030204" pitchFamily="34" charset="0"/>
              </a:rPr>
              <a:t>كلمات مرور ضعيفة </a:t>
            </a:r>
            <a:r>
              <a:rPr lang="en-US" sz="2400" dirty="0" smtClean="0">
                <a:latin typeface="Calibri" panose="020F0502020204030204" pitchFamily="34" charset="0"/>
                <a:cs typeface="Calibri" panose="020F0502020204030204" pitchFamily="34" charset="0"/>
              </a:rPr>
              <a:t>weak passwords</a:t>
            </a:r>
          </a:p>
          <a:p>
            <a:pPr lvl="0"/>
            <a:r>
              <a:rPr lang="ar-SY" sz="2400" dirty="0" smtClean="0">
                <a:latin typeface="Calibri" panose="020F0502020204030204" pitchFamily="34" charset="0"/>
                <a:cs typeface="Calibri" panose="020F0502020204030204" pitchFamily="34" charset="0"/>
              </a:rPr>
              <a:t>الخطأ البشري</a:t>
            </a:r>
            <a:r>
              <a:rPr lang="en-US" sz="2400" dirty="0" smtClean="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human error </a:t>
            </a:r>
          </a:p>
          <a:p>
            <a:endParaRPr lang="en-US" dirty="0"/>
          </a:p>
        </p:txBody>
      </p:sp>
      <p:sp>
        <p:nvSpPr>
          <p:cNvPr id="4" name="Date Placeholder 3"/>
          <p:cNvSpPr>
            <a:spLocks noGrp="1"/>
          </p:cNvSpPr>
          <p:nvPr>
            <p:ph type="dt" sz="half" idx="10"/>
          </p:nvPr>
        </p:nvSpPr>
        <p:spPr/>
        <p:txBody>
          <a:bodyPr/>
          <a:lstStyle/>
          <a:p>
            <a:fld id="{4D0A37B4-2021-4677-B30A-6C0EDF3D7ABE}" type="datetime1">
              <a:rPr lang="en-US" smtClean="0"/>
              <a:t>12/3/2025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20</a:t>
            </a:fld>
            <a:endParaRPr lang="en-US"/>
          </a:p>
        </p:txBody>
      </p:sp>
    </p:spTree>
    <p:extLst>
      <p:ext uri="{BB962C8B-B14F-4D97-AF65-F5344CB8AC3E}">
        <p14:creationId xmlns:p14="http://schemas.microsoft.com/office/powerpoint/2010/main" val="25742246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sz="2800" dirty="0">
                <a:latin typeface="Calibri" panose="020F0502020204030204" pitchFamily="34" charset="0"/>
                <a:cs typeface="Calibri" panose="020F0502020204030204" pitchFamily="34" charset="0"/>
              </a:rPr>
              <a:t>إساءة الاستخدام</a:t>
            </a:r>
            <a:endParaRPr lang="en-US" sz="28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38200" y="1575582"/>
            <a:ext cx="11157044" cy="4623606"/>
          </a:xfrm>
        </p:spPr>
        <p:txBody>
          <a:bodyPr>
            <a:normAutofit/>
          </a:bodyPr>
          <a:lstStyle/>
          <a:p>
            <a:r>
              <a:rPr lang="ar-SY" sz="2400" dirty="0">
                <a:latin typeface="Calibri" panose="020F0502020204030204" pitchFamily="34" charset="0"/>
                <a:cs typeface="Calibri" panose="020F0502020204030204" pitchFamily="34" charset="0"/>
              </a:rPr>
              <a:t>وتعني استخدام الأصول المعلوماتية كالحواسب والشبكات وغيرها لغايات لا تتعلق بالعمل بالإضافة إلى احتمال أن ينتج عنها تأثيرات سلبية مهما كان مستواها على أمن المعلومات ضمن المؤسسات، حيث:</a:t>
            </a:r>
          </a:p>
          <a:p>
            <a:r>
              <a:rPr lang="ar-SY" sz="2400" dirty="0">
                <a:latin typeface="Calibri" panose="020F0502020204030204" pitchFamily="34" charset="0"/>
                <a:cs typeface="Calibri" panose="020F0502020204030204" pitchFamily="34" charset="0"/>
              </a:rPr>
              <a:t>يجب نشر التوعية المناسبة للكادر.</a:t>
            </a:r>
          </a:p>
          <a:p>
            <a:r>
              <a:rPr lang="ar-SY" sz="2400" dirty="0">
                <a:latin typeface="Calibri" panose="020F0502020204030204" pitchFamily="34" charset="0"/>
                <a:cs typeface="Calibri" panose="020F0502020204030204" pitchFamily="34" charset="0"/>
              </a:rPr>
              <a:t>القناعة بأن أمن المعلومات في أي مؤسسة يبدأ وينتهي عند المستخدم.</a:t>
            </a:r>
          </a:p>
          <a:p>
            <a:r>
              <a:rPr lang="ar-SY" sz="2400" dirty="0">
                <a:latin typeface="Calibri" panose="020F0502020204030204" pitchFamily="34" charset="0"/>
                <a:cs typeface="Calibri" panose="020F0502020204030204" pitchFamily="34" charset="0"/>
              </a:rPr>
              <a:t>الالتزام بالصلاحيات المحددة لكلّ مستخدم والحرص على عدم تجاوزها.</a:t>
            </a:r>
          </a:p>
          <a:p>
            <a:r>
              <a:rPr lang="ar-SY" sz="2400" dirty="0">
                <a:latin typeface="Calibri" panose="020F0502020204030204" pitchFamily="34" charset="0"/>
                <a:cs typeface="Calibri" panose="020F0502020204030204" pitchFamily="34" charset="0"/>
              </a:rPr>
              <a:t>الالتزام بالسياسات والقوانين والتوجيهات ذات الصلة.</a:t>
            </a:r>
          </a:p>
        </p:txBody>
      </p:sp>
      <p:sp>
        <p:nvSpPr>
          <p:cNvPr id="4" name="Date Placeholder 3"/>
          <p:cNvSpPr>
            <a:spLocks noGrp="1"/>
          </p:cNvSpPr>
          <p:nvPr>
            <p:ph type="dt" sz="half" idx="10"/>
          </p:nvPr>
        </p:nvSpPr>
        <p:spPr/>
        <p:txBody>
          <a:bodyPr/>
          <a:lstStyle/>
          <a:p>
            <a:fld id="{C45F7152-C6E7-4825-92D1-43D5603AEE0A}" type="datetime1">
              <a:rPr lang="en-US" smtClean="0"/>
              <a:t>12/3/2025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21</a:t>
            </a:fld>
            <a:endParaRPr lang="en-US"/>
          </a:p>
        </p:txBody>
      </p:sp>
    </p:spTree>
    <p:extLst>
      <p:ext uri="{BB962C8B-B14F-4D97-AF65-F5344CB8AC3E}">
        <p14:creationId xmlns:p14="http://schemas.microsoft.com/office/powerpoint/2010/main" val="264072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00188"/>
            <a:ext cx="10515600" cy="4992687"/>
          </a:xfrm>
        </p:spPr>
        <p:txBody>
          <a:bodyPr>
            <a:normAutofit/>
          </a:bodyPr>
          <a:lstStyle/>
          <a:p>
            <a:pPr marL="0" indent="0">
              <a:lnSpc>
                <a:spcPts val="3000"/>
              </a:lnSpc>
              <a:buNone/>
            </a:pPr>
            <a:r>
              <a:rPr lang="ar-SY" sz="2400" dirty="0">
                <a:latin typeface="Calibri" panose="020F0502020204030204" pitchFamily="34" charset="0"/>
                <a:cs typeface="Calibri" panose="020F0502020204030204" pitchFamily="34" charset="0"/>
              </a:rPr>
              <a:t>يُ</a:t>
            </a:r>
            <a:r>
              <a:rPr lang="en-US" sz="2400" dirty="0" err="1">
                <a:latin typeface="Calibri" panose="020F0502020204030204" pitchFamily="34" charset="0"/>
                <a:cs typeface="Calibri" panose="020F0502020204030204" pitchFamily="34" charset="0"/>
              </a:rPr>
              <a:t>عتبر</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البريد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الإلكتروني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أداة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اتصال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أساسية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في</a:t>
            </a:r>
            <a:r>
              <a:rPr lang="en-US" sz="2400" dirty="0">
                <a:latin typeface="Calibri" panose="020F0502020204030204" pitchFamily="34" charset="0"/>
                <a:cs typeface="Calibri" panose="020F0502020204030204" pitchFamily="34" charset="0"/>
              </a:rPr>
              <a:t> معظم </a:t>
            </a:r>
            <a:r>
              <a:rPr lang="en-US" sz="2400" dirty="0" err="1">
                <a:latin typeface="Calibri" panose="020F0502020204030204" pitchFamily="34" charset="0"/>
                <a:cs typeface="Calibri" panose="020F0502020204030204" pitchFamily="34" charset="0"/>
              </a:rPr>
              <a:t>مجالات</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الأعمال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لسرعته</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وفعاليته</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العالية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فهو</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يُستخدم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لنقل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الرسائل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النصية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ونقل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المستندات</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وجداول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البيانات</a:t>
            </a:r>
            <a:r>
              <a:rPr lang="en-US" sz="2400" dirty="0">
                <a:latin typeface="Calibri" panose="020F0502020204030204" pitchFamily="34" charset="0"/>
                <a:cs typeface="Calibri" panose="020F0502020204030204" pitchFamily="34" charset="0"/>
              </a:rPr>
              <a:t>.</a:t>
            </a:r>
            <a:endParaRPr lang="ar-SY" sz="2400" dirty="0">
              <a:latin typeface="Calibri" panose="020F0502020204030204" pitchFamily="34" charset="0"/>
              <a:cs typeface="Calibri" panose="020F0502020204030204" pitchFamily="34" charset="0"/>
            </a:endParaRPr>
          </a:p>
          <a:p>
            <a:pPr marL="0" indent="0">
              <a:lnSpc>
                <a:spcPts val="3000"/>
              </a:lnSpc>
              <a:buNone/>
            </a:pPr>
            <a:r>
              <a:rPr lang="en-US" sz="2400" dirty="0" err="1">
                <a:latin typeface="Calibri" panose="020F0502020204030204" pitchFamily="34" charset="0"/>
                <a:cs typeface="Calibri" panose="020F0502020204030204" pitchFamily="34" charset="0"/>
              </a:rPr>
              <a:t>عند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استخدام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خدمة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البريد</a:t>
            </a:r>
            <a:r>
              <a:rPr lang="ar-SY"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الإلكتروني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وتمّ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اتخاذ</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كلّ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الإجراءات</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لمنع</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البريد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العشوائي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والبرامج</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الضارة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ولكن</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إذا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تقم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بتعليم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المستخدمين</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لديك</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وقام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أحدهم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بالنقر</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فوق</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ارتباط</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في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رسالة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بريد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عشوائي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فقد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تصبح</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شبكتك</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عرضةً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للخطر</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فيما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يلي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أهمّ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التوصيات</a:t>
            </a:r>
            <a:r>
              <a:rPr lang="en-US" sz="2400" dirty="0">
                <a:latin typeface="Calibri" panose="020F0502020204030204" pitchFamily="34" charset="0"/>
                <a:cs typeface="Calibri" panose="020F0502020204030204" pitchFamily="34" charset="0"/>
              </a:rPr>
              <a:t>:</a:t>
            </a:r>
          </a:p>
          <a:p>
            <a:pPr>
              <a:lnSpc>
                <a:spcPts val="3000"/>
              </a:lnSpc>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التأكد من وضع كلمة مرور قوية وعدم الإفصاح عنها وتغييرها بشكل دوري.</a:t>
            </a:r>
          </a:p>
          <a:p>
            <a:pPr>
              <a:lnSpc>
                <a:spcPts val="3000"/>
              </a:lnSpc>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استخدم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كلمة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مرور</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مختلفة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لكلّ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حساب</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من</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حساباتك</a:t>
            </a:r>
            <a:r>
              <a:rPr lang="ar-SY" sz="2400" dirty="0">
                <a:latin typeface="Calibri" panose="020F0502020204030204" pitchFamily="34" charset="0"/>
                <a:cs typeface="Calibri" panose="020F0502020204030204" pitchFamily="34" charset="0"/>
              </a:rPr>
              <a:t>.</a:t>
            </a:r>
          </a:p>
          <a:p>
            <a:pPr lvl="0">
              <a:lnSpc>
                <a:spcPts val="3000"/>
              </a:lnSpc>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كن</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حذرًا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بشأن</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رسائل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البريد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الإلكتروني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التي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ترشدك</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إلى</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تمكين</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وحدات</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الماكرو</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قبل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تنزيل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مرفقات</a:t>
            </a:r>
            <a:r>
              <a:rPr lang="en-US" sz="2400" dirty="0">
                <a:latin typeface="Calibri" panose="020F0502020204030204" pitchFamily="34" charset="0"/>
                <a:cs typeface="Calibri" panose="020F0502020204030204" pitchFamily="34" charset="0"/>
              </a:rPr>
              <a:t> Word </a:t>
            </a:r>
            <a:r>
              <a:rPr lang="en-US" sz="2400" dirty="0" err="1">
                <a:latin typeface="Calibri" panose="020F0502020204030204" pitchFamily="34" charset="0"/>
                <a:cs typeface="Calibri" panose="020F0502020204030204" pitchFamily="34" charset="0"/>
              </a:rPr>
              <a:t>أو</a:t>
            </a:r>
            <a:r>
              <a:rPr lang="en-US" sz="2400" dirty="0">
                <a:latin typeface="Calibri" panose="020F0502020204030204" pitchFamily="34" charset="0"/>
                <a:cs typeface="Calibri" panose="020F0502020204030204" pitchFamily="34" charset="0"/>
              </a:rPr>
              <a:t> Excel</a:t>
            </a:r>
            <a:r>
              <a:rPr lang="ar-SY" sz="2400" dirty="0">
                <a:latin typeface="Calibri" panose="020F0502020204030204" pitchFamily="34" charset="0"/>
                <a:cs typeface="Calibri" panose="020F0502020204030204" pitchFamily="34" charset="0"/>
              </a:rPr>
              <a:t> .</a:t>
            </a:r>
          </a:p>
          <a:p>
            <a:pPr lvl="0">
              <a:lnSpc>
                <a:spcPts val="3000"/>
              </a:lnSpc>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حرك</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مؤشر</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الماوس</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فوق</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الروابط</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قبل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النقر</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عليها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لمعرفة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إذا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كان</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عنوان</a:t>
            </a:r>
            <a:r>
              <a:rPr lang="en-US" sz="2400" dirty="0">
                <a:latin typeface="Calibri" panose="020F0502020204030204" pitchFamily="34" charset="0"/>
                <a:cs typeface="Calibri" panose="020F0502020204030204" pitchFamily="34" charset="0"/>
              </a:rPr>
              <a:t> URL </a:t>
            </a:r>
            <a:r>
              <a:rPr lang="en-US" sz="2400" dirty="0" err="1">
                <a:latin typeface="Calibri" panose="020F0502020204030204" pitchFamily="34" charset="0"/>
                <a:cs typeface="Calibri" panose="020F0502020204030204" pitchFamily="34" charset="0"/>
              </a:rPr>
              <a:t>يبدو</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صحيحًا</a:t>
            </a:r>
            <a:r>
              <a:rPr lang="ar-SY" sz="2400" dirty="0">
                <a:latin typeface="Calibri" panose="020F0502020204030204" pitchFamily="34" charset="0"/>
                <a:cs typeface="Calibri" panose="020F0502020204030204" pitchFamily="34" charset="0"/>
              </a:rPr>
              <a:t>.</a:t>
            </a: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2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2" name="Title 1"/>
          <p:cNvSpPr>
            <a:spLocks noGrp="1"/>
          </p:cNvSpPr>
          <p:nvPr>
            <p:ph type="title"/>
          </p:nvPr>
        </p:nvSpPr>
        <p:spPr>
          <a:xfrm>
            <a:off x="2209800" y="608807"/>
            <a:ext cx="10515600" cy="662782"/>
          </a:xfrm>
        </p:spPr>
        <p:txBody>
          <a:bodyPr>
            <a:normAutofit fontScale="90000"/>
          </a:bodyPr>
          <a:lstStyle/>
          <a:p>
            <a:pPr algn="ctr"/>
            <a:r>
              <a:rPr lang="ar-SY" sz="3100" dirty="0">
                <a:latin typeface="Calibri" panose="020F0502020204030204" pitchFamily="34" charset="0"/>
                <a:cs typeface="Calibri" panose="020F0502020204030204" pitchFamily="34" charset="0"/>
              </a:rPr>
              <a:t>أهم توصيات </a:t>
            </a:r>
            <a:r>
              <a:rPr lang="en-US" sz="3100" dirty="0" err="1">
                <a:latin typeface="Calibri" panose="020F0502020204030204" pitchFamily="34" charset="0"/>
                <a:cs typeface="Calibri" panose="020F0502020204030204" pitchFamily="34" charset="0"/>
              </a:rPr>
              <a:t>الاستخدام</a:t>
            </a:r>
            <a:r>
              <a:rPr lang="en-US" sz="3100" dirty="0">
                <a:latin typeface="Calibri" panose="020F0502020204030204" pitchFamily="34" charset="0"/>
                <a:cs typeface="Calibri" panose="020F0502020204030204" pitchFamily="34" charset="0"/>
              </a:rPr>
              <a:t> </a:t>
            </a:r>
            <a:r>
              <a:rPr lang="en-US" sz="3100" dirty="0" err="1">
                <a:latin typeface="Calibri" panose="020F0502020204030204" pitchFamily="34" charset="0"/>
                <a:cs typeface="Calibri" panose="020F0502020204030204" pitchFamily="34" charset="0"/>
              </a:rPr>
              <a:t>الآمن</a:t>
            </a:r>
            <a:r>
              <a:rPr lang="en-US" sz="3100" dirty="0">
                <a:latin typeface="Calibri" panose="020F0502020204030204" pitchFamily="34" charset="0"/>
                <a:cs typeface="Calibri" panose="020F0502020204030204" pitchFamily="34" charset="0"/>
              </a:rPr>
              <a:t> </a:t>
            </a:r>
            <a:r>
              <a:rPr lang="en-US" sz="3100" dirty="0" err="1">
                <a:latin typeface="Calibri" panose="020F0502020204030204" pitchFamily="34" charset="0"/>
                <a:cs typeface="Calibri" panose="020F0502020204030204" pitchFamily="34" charset="0"/>
              </a:rPr>
              <a:t>للبريد</a:t>
            </a:r>
            <a:r>
              <a:rPr lang="en-US" sz="3100" dirty="0">
                <a:latin typeface="Calibri" panose="020F0502020204030204" pitchFamily="34" charset="0"/>
                <a:cs typeface="Calibri" panose="020F0502020204030204" pitchFamily="34" charset="0"/>
              </a:rPr>
              <a:t> </a:t>
            </a:r>
            <a:r>
              <a:rPr lang="en-US" sz="3100" dirty="0" err="1">
                <a:latin typeface="Calibri" panose="020F0502020204030204" pitchFamily="34" charset="0"/>
                <a:cs typeface="Calibri" panose="020F0502020204030204" pitchFamily="34" charset="0"/>
              </a:rPr>
              <a:t>الإلكتروني</a:t>
            </a:r>
            <a:r>
              <a:rPr lang="en-US" sz="4000" dirty="0">
                <a:effectLst/>
              </a:rPr>
              <a:t/>
            </a:r>
            <a:br>
              <a:rPr lang="en-US" sz="4000" dirty="0">
                <a:effectLst/>
              </a:rPr>
            </a:br>
            <a:r>
              <a:rPr lang="ar-SY" sz="4000" dirty="0" smtClean="0">
                <a:solidFill>
                  <a:srgbClr val="00B0F0"/>
                </a:solidFill>
                <a:latin typeface="Monotype Koufi" pitchFamily="2" charset="-78"/>
                <a:ea typeface="Monotype Koufi" pitchFamily="2" charset="-78"/>
                <a:cs typeface="Monotype Koufi" pitchFamily="2" charset="-78"/>
              </a:rPr>
              <a:t> </a:t>
            </a:r>
            <a:endParaRPr lang="en-US" sz="4000" dirty="0"/>
          </a:p>
        </p:txBody>
      </p:sp>
      <p:sp>
        <p:nvSpPr>
          <p:cNvPr id="4" name="Date Placeholder 3"/>
          <p:cNvSpPr>
            <a:spLocks noGrp="1"/>
          </p:cNvSpPr>
          <p:nvPr>
            <p:ph type="dt" sz="half" idx="10"/>
          </p:nvPr>
        </p:nvSpPr>
        <p:spPr/>
        <p:txBody>
          <a:bodyPr/>
          <a:lstStyle/>
          <a:p>
            <a:fld id="{8C9306FA-6835-43D7-B230-49221F851AB5}" type="datetime1">
              <a:rPr lang="en-US" smtClean="0"/>
              <a:t>12/3/2025</a:t>
            </a:fld>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22</a:t>
            </a:fld>
            <a:endParaRPr lang="en-US"/>
          </a:p>
        </p:txBody>
      </p:sp>
    </p:spTree>
    <p:extLst>
      <p:ext uri="{BB962C8B-B14F-4D97-AF65-F5344CB8AC3E}">
        <p14:creationId xmlns:p14="http://schemas.microsoft.com/office/powerpoint/2010/main" val="122054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ar-SY" sz="2800" dirty="0">
                <a:latin typeface="Calibri" panose="020F0502020204030204" pitchFamily="34" charset="0"/>
                <a:cs typeface="Calibri" panose="020F0502020204030204" pitchFamily="34" charset="0"/>
              </a:rPr>
              <a:t>أهم توصيات </a:t>
            </a:r>
            <a:r>
              <a:rPr lang="en-US" sz="2800" dirty="0" err="1">
                <a:latin typeface="Calibri" panose="020F0502020204030204" pitchFamily="34" charset="0"/>
                <a:cs typeface="Calibri" panose="020F0502020204030204" pitchFamily="34" charset="0"/>
              </a:rPr>
              <a:t>الاستخدام</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الآمن</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للبريد</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الإلكتروني</a:t>
            </a:r>
            <a:endParaRPr lang="en-US" sz="28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lstStyle/>
          <a:p>
            <a:pPr lvl="0">
              <a:lnSpc>
                <a:spcPts val="3000"/>
              </a:lnSpc>
              <a:buClr>
                <a:srgbClr val="00B050"/>
              </a:buClr>
              <a:buFont typeface="Wingdings" panose="05000000000000000000" pitchFamily="2" charset="2"/>
              <a:buChar char="ü"/>
            </a:pPr>
            <a:r>
              <a:rPr lang="en-US" sz="2400" dirty="0" err="1">
                <a:latin typeface="Calibri" panose="020F0502020204030204" pitchFamily="34" charset="0"/>
                <a:cs typeface="Calibri" panose="020F0502020204030204" pitchFamily="34" charset="0"/>
              </a:rPr>
              <a:t>لا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تنقر</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على</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رابط</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إلغاء</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الاشتراك</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في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رسالة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بريد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إلكتروني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عشوائية</a:t>
            </a:r>
            <a:r>
              <a:rPr lang="en-US" sz="2400" dirty="0">
                <a:latin typeface="Calibri" panose="020F0502020204030204" pitchFamily="34" charset="0"/>
                <a:cs typeface="Calibri" panose="020F0502020204030204" pitchFamily="34" charset="0"/>
              </a:rPr>
              <a:t>. </a:t>
            </a:r>
          </a:p>
          <a:p>
            <a:pPr lvl="0">
              <a:lnSpc>
                <a:spcPts val="3000"/>
              </a:lnSpc>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استخدام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المصادقة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ثنائية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العامل</a:t>
            </a:r>
            <a:r>
              <a:rPr lang="en-US" sz="2400" dirty="0">
                <a:latin typeface="Calibri" panose="020F0502020204030204" pitchFamily="34" charset="0"/>
                <a:cs typeface="Calibri" panose="020F0502020204030204" pitchFamily="34" charset="0"/>
              </a:rPr>
              <a:t> </a:t>
            </a:r>
            <a:r>
              <a:rPr lang="en-US" sz="2400" dirty="0" smtClean="0">
                <a:latin typeface="Calibri" panose="020F0502020204030204" pitchFamily="34" charset="0"/>
                <a:cs typeface="Calibri" panose="020F0502020204030204" pitchFamily="34" charset="0"/>
              </a:rPr>
              <a:t>(two-factor authentication 2FA)</a:t>
            </a:r>
            <a:endParaRPr lang="en-US" sz="2400" dirty="0">
              <a:latin typeface="Calibri" panose="020F0502020204030204" pitchFamily="34" charset="0"/>
              <a:cs typeface="Calibri" panose="020F0502020204030204" pitchFamily="34" charset="0"/>
            </a:endParaRPr>
          </a:p>
          <a:p>
            <a:pPr lvl="0">
              <a:lnSpc>
                <a:spcPts val="3000"/>
              </a:lnSpc>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لاتستخدم شبكات </a:t>
            </a:r>
            <a:r>
              <a:rPr lang="en-US" sz="2400" dirty="0">
                <a:latin typeface="Calibri" panose="020F0502020204030204" pitchFamily="34" charset="0"/>
                <a:cs typeface="Calibri" panose="020F0502020204030204" pitchFamily="34" charset="0"/>
              </a:rPr>
              <a:t>WIFI </a:t>
            </a:r>
            <a:r>
              <a:rPr lang="ar-SY" sz="2400" dirty="0">
                <a:latin typeface="Calibri" panose="020F0502020204030204" pitchFamily="34" charset="0"/>
                <a:cs typeface="Calibri" panose="020F0502020204030204" pitchFamily="34" charset="0"/>
              </a:rPr>
              <a:t> العامة.</a:t>
            </a:r>
            <a:endParaRPr lang="en-US" sz="2400" dirty="0">
              <a:latin typeface="Calibri" panose="020F0502020204030204" pitchFamily="34" charset="0"/>
              <a:cs typeface="Calibri" panose="020F0502020204030204" pitchFamily="34" charset="0"/>
            </a:endParaRPr>
          </a:p>
          <a:p>
            <a:pPr lvl="0">
              <a:lnSpc>
                <a:spcPts val="3000"/>
              </a:lnSpc>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تأكّد من تسجيل الخروج </a:t>
            </a:r>
            <a:r>
              <a:rPr lang="en-US" sz="2400" dirty="0" smtClean="0">
                <a:latin typeface="Calibri" panose="020F0502020204030204" pitchFamily="34" charset="0"/>
                <a:cs typeface="Calibri" panose="020F0502020204030204" pitchFamily="34" charset="0"/>
              </a:rPr>
              <a:t> sign </a:t>
            </a:r>
            <a:r>
              <a:rPr lang="en-US" sz="2400" dirty="0">
                <a:latin typeface="Calibri" panose="020F0502020204030204" pitchFamily="34" charset="0"/>
                <a:cs typeface="Calibri" panose="020F0502020204030204" pitchFamily="34" charset="0"/>
              </a:rPr>
              <a:t>out </a:t>
            </a:r>
            <a:r>
              <a:rPr lang="ar-SY" sz="2400" dirty="0">
                <a:latin typeface="Calibri" panose="020F0502020204030204" pitchFamily="34" charset="0"/>
                <a:cs typeface="Calibri" panose="020F0502020204030204" pitchFamily="34" charset="0"/>
              </a:rPr>
              <a:t>من موقع أو برنامج تصفح البريد الإلكتروني عند الانتهاء من قراءة الرسائل.</a:t>
            </a:r>
          </a:p>
          <a:p>
            <a:pPr lvl="0">
              <a:lnSpc>
                <a:spcPts val="3000"/>
              </a:lnSpc>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تجنّب فتح المرفقات.</a:t>
            </a:r>
          </a:p>
          <a:p>
            <a:pPr>
              <a:lnSpc>
                <a:spcPts val="3000"/>
              </a:lnSpc>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الغاء تفعيل خاصية تحميل الملفات المرفقة مع الرسالة في برنامج تصفح البريد الإلكتروني .</a:t>
            </a:r>
            <a:endParaRPr lang="en-US" sz="2400" dirty="0">
              <a:latin typeface="Calibri" panose="020F0502020204030204" pitchFamily="34" charset="0"/>
              <a:cs typeface="Calibri" panose="020F0502020204030204" pitchFamily="34" charset="0"/>
            </a:endParaRPr>
          </a:p>
          <a:p>
            <a:pPr lvl="0">
              <a:buClr>
                <a:srgbClr val="00B050"/>
              </a:buClr>
              <a:buFont typeface="Wingdings" panose="05000000000000000000" pitchFamily="2" charset="2"/>
              <a:buChar char="ü"/>
            </a:pPr>
            <a:endParaRPr lang="en-US" dirty="0"/>
          </a:p>
          <a:p>
            <a:pPr marL="0" indent="0">
              <a:buNone/>
            </a:pPr>
            <a:endParaRPr lang="en-US" dirty="0"/>
          </a:p>
        </p:txBody>
      </p:sp>
      <p:sp>
        <p:nvSpPr>
          <p:cNvPr id="4" name="Date Placeholder 3"/>
          <p:cNvSpPr>
            <a:spLocks noGrp="1"/>
          </p:cNvSpPr>
          <p:nvPr>
            <p:ph type="dt" sz="half" idx="10"/>
          </p:nvPr>
        </p:nvSpPr>
        <p:spPr/>
        <p:txBody>
          <a:bodyPr/>
          <a:lstStyle/>
          <a:p>
            <a:fld id="{4D0A37B4-2021-4677-B30A-6C0EDF3D7ABE}" type="datetime1">
              <a:rPr lang="en-US" smtClean="0"/>
              <a:t>12/3/2025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23</a:t>
            </a:fld>
            <a:endParaRPr lang="en-US"/>
          </a:p>
        </p:txBody>
      </p:sp>
    </p:spTree>
    <p:extLst>
      <p:ext uri="{BB962C8B-B14F-4D97-AF65-F5344CB8AC3E}">
        <p14:creationId xmlns:p14="http://schemas.microsoft.com/office/powerpoint/2010/main" val="953293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ar-SY" sz="2800" dirty="0">
                <a:latin typeface="Calibri" panose="020F0502020204030204" pitchFamily="34" charset="0"/>
                <a:cs typeface="Calibri" panose="020F0502020204030204" pitchFamily="34" charset="0"/>
              </a:rPr>
              <a:t>أهم توصيات </a:t>
            </a:r>
            <a:r>
              <a:rPr lang="en-US" sz="2800" dirty="0" err="1">
                <a:latin typeface="Calibri" panose="020F0502020204030204" pitchFamily="34" charset="0"/>
                <a:cs typeface="Calibri" panose="020F0502020204030204" pitchFamily="34" charset="0"/>
              </a:rPr>
              <a:t>الاستخدام</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الآمن</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للبريد</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الإلكتروني</a:t>
            </a:r>
            <a:endParaRPr lang="en-US" sz="28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lstStyle/>
          <a:p>
            <a:pPr>
              <a:buClr>
                <a:srgbClr val="00B050"/>
              </a:buClr>
              <a:buFont typeface="Wingdings" panose="05000000000000000000" pitchFamily="2" charset="2"/>
              <a:buChar char="ü"/>
            </a:pPr>
            <a:r>
              <a:rPr lang="ar-SY" dirty="0" smtClean="0"/>
              <a:t> </a:t>
            </a:r>
            <a:r>
              <a:rPr lang="en-US" sz="2400" dirty="0" err="1">
                <a:latin typeface="Calibri" panose="020F0502020204030204" pitchFamily="34" charset="0"/>
                <a:cs typeface="Calibri" panose="020F0502020204030204" pitchFamily="34" charset="0"/>
              </a:rPr>
              <a:t>لا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تنشر</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عنوان</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بريدك</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الإلكتروني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في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مواقع</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أو</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منتديات</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عامة</a:t>
            </a:r>
            <a:r>
              <a:rPr lang="en-US" sz="2400" dirty="0">
                <a:latin typeface="Calibri" panose="020F0502020204030204" pitchFamily="34" charset="0"/>
                <a:cs typeface="Calibri" panose="020F0502020204030204" pitchFamily="34" charset="0"/>
              </a:rPr>
              <a:t>.</a:t>
            </a:r>
            <a:endParaRPr lang="ar-SY" sz="2400" dirty="0">
              <a:latin typeface="Calibri" panose="020F0502020204030204" pitchFamily="34" charset="0"/>
              <a:cs typeface="Calibri" panose="020F0502020204030204" pitchFamily="34" charset="0"/>
            </a:endParaRPr>
          </a:p>
          <a:p>
            <a:pPr lvl="0">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عند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تسجيل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بريد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إلكتروني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جديد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لدى</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إحدى</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الشركات</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العالميّة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التي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تقدّم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خدمة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البريد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الإلكتروني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كال</a:t>
            </a:r>
            <a:r>
              <a:rPr lang="en-US" sz="2400" dirty="0">
                <a:latin typeface="Calibri" panose="020F0502020204030204" pitchFamily="34" charset="0"/>
                <a:cs typeface="Calibri" panose="020F0502020204030204" pitchFamily="34" charset="0"/>
              </a:rPr>
              <a:t> yahoo, Hotmail, Gmail</a:t>
            </a:r>
            <a:r>
              <a:rPr lang="ar-SY" sz="2400" dirty="0">
                <a:latin typeface="Calibri" panose="020F0502020204030204" pitchFamily="34" charset="0"/>
                <a:cs typeface="Calibri" panose="020F0502020204030204" pitchFamily="34" charset="0"/>
              </a:rPr>
              <a:t> وغيرها، يفضل استخدام معلومات وهميّة بحيث لايتوقعها المخترق.</a:t>
            </a:r>
          </a:p>
          <a:p>
            <a:pPr lvl="0">
              <a:buClr>
                <a:srgbClr val="00B050"/>
              </a:buClr>
              <a:buFont typeface="Wingdings" panose="05000000000000000000" pitchFamily="2" charset="2"/>
              <a:buChar char="ü"/>
            </a:pPr>
            <a:r>
              <a:rPr lang="en-US" sz="2400" dirty="0" err="1">
                <a:latin typeface="Calibri" panose="020F0502020204030204" pitchFamily="34" charset="0"/>
                <a:cs typeface="Calibri" panose="020F0502020204030204" pitchFamily="34" charset="0"/>
              </a:rPr>
              <a:t>تجنب</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التحديثات</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الوهميّة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المرسلة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عبر</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البريد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الإلكتروني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والتي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يزعم</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مرسلوها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أنّها</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مرسلة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من</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الشركة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الأم</a:t>
            </a:r>
            <a:r>
              <a:rPr lang="en-US" sz="2400" dirty="0">
                <a:latin typeface="Calibri" panose="020F0502020204030204" pitchFamily="34" charset="0"/>
                <a:cs typeface="Calibri" panose="020F0502020204030204" pitchFamily="34" charset="0"/>
              </a:rPr>
              <a:t>.  </a:t>
            </a:r>
          </a:p>
          <a:p>
            <a:pPr lvl="0">
              <a:buClr>
                <a:srgbClr val="00B050"/>
              </a:buClr>
              <a:buFont typeface="Wingdings" panose="05000000000000000000" pitchFamily="2" charset="2"/>
              <a:buChar char="ü"/>
            </a:pPr>
            <a:r>
              <a:rPr lang="en-US" sz="2400" dirty="0" err="1">
                <a:latin typeface="Calibri" panose="020F0502020204030204" pitchFamily="34" charset="0"/>
                <a:cs typeface="Calibri" panose="020F0502020204030204" pitchFamily="34" charset="0"/>
              </a:rPr>
              <a:t>تجنّب</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الرد</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على</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الرسائل</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الإلكترونية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التي</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تطلب</a:t>
            </a:r>
            <a:r>
              <a:rPr lang="en-US" sz="2400" dirty="0">
                <a:latin typeface="Calibri" panose="020F0502020204030204" pitchFamily="34" charset="0"/>
                <a:cs typeface="Calibri" panose="020F0502020204030204" pitchFamily="34" charset="0"/>
              </a:rPr>
              <a:t> معلومات </a:t>
            </a:r>
            <a:r>
              <a:rPr lang="en-US" sz="2400" dirty="0" err="1">
                <a:latin typeface="Calibri" panose="020F0502020204030204" pitchFamily="34" charset="0"/>
                <a:cs typeface="Calibri" panose="020F0502020204030204" pitchFamily="34" charset="0"/>
              </a:rPr>
              <a:t>شخصيّة</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لأغراض</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مختلفة</a:t>
            </a:r>
            <a:r>
              <a:rPr lang="ar-SY" sz="2400" dirty="0">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p>
            <a:pPr lvl="0">
              <a:buClr>
                <a:srgbClr val="00B050"/>
              </a:buClr>
              <a:buFont typeface="Wingdings" panose="05000000000000000000" pitchFamily="2" charset="2"/>
              <a:buChar char="ü"/>
            </a:pPr>
            <a:r>
              <a:rPr lang="ar-SY" sz="2400" dirty="0">
                <a:latin typeface="Calibri" panose="020F0502020204030204" pitchFamily="34" charset="0"/>
                <a:cs typeface="Calibri" panose="020F0502020204030204" pitchFamily="34" charset="0"/>
              </a:rPr>
              <a:t> الالتزام بالسياسات الأمنيّة المتعلقة بالبريد الإلكتروني.</a:t>
            </a:r>
            <a:endParaRPr lang="en-US" sz="2400" dirty="0">
              <a:latin typeface="Calibri" panose="020F0502020204030204" pitchFamily="34" charset="0"/>
              <a:cs typeface="Calibri" panose="020F0502020204030204" pitchFamily="34" charset="0"/>
            </a:endParaRPr>
          </a:p>
          <a:p>
            <a:endParaRPr lang="en-US" dirty="0"/>
          </a:p>
        </p:txBody>
      </p:sp>
      <p:sp>
        <p:nvSpPr>
          <p:cNvPr id="4" name="Date Placeholder 3"/>
          <p:cNvSpPr>
            <a:spLocks noGrp="1"/>
          </p:cNvSpPr>
          <p:nvPr>
            <p:ph type="dt" sz="half" idx="10"/>
          </p:nvPr>
        </p:nvSpPr>
        <p:spPr/>
        <p:txBody>
          <a:bodyPr/>
          <a:lstStyle/>
          <a:p>
            <a:fld id="{4D0A37B4-2021-4677-B30A-6C0EDF3D7ABE}" type="datetime1">
              <a:rPr lang="en-US" smtClean="0"/>
              <a:t>12/3/2025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24</a:t>
            </a:fld>
            <a:endParaRPr lang="en-US"/>
          </a:p>
        </p:txBody>
      </p:sp>
    </p:spTree>
    <p:extLst>
      <p:ext uri="{BB962C8B-B14F-4D97-AF65-F5344CB8AC3E}">
        <p14:creationId xmlns:p14="http://schemas.microsoft.com/office/powerpoint/2010/main" val="3395232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2609" y="1378226"/>
            <a:ext cx="10827026" cy="5114649"/>
          </a:xfrm>
        </p:spPr>
        <p:txBody>
          <a:bodyPr>
            <a:normAutofit/>
          </a:bodyPr>
          <a:lstStyle/>
          <a:p>
            <a:pPr>
              <a:lnSpc>
                <a:spcPct val="100000"/>
              </a:lnSpc>
              <a:buClr>
                <a:srgbClr val="00B050"/>
              </a:buClr>
              <a:buFont typeface="Wingdings" panose="05000000000000000000" pitchFamily="2" charset="2"/>
              <a:buChar char="ü"/>
            </a:pPr>
            <a:r>
              <a:rPr lang="ar-SY" sz="2600" dirty="0">
                <a:latin typeface="Calibri" panose="020F0502020204030204" pitchFamily="34" charset="0"/>
                <a:cs typeface="Calibri" panose="020F0502020204030204" pitchFamily="34" charset="0"/>
              </a:rPr>
              <a:t>تساعد كلمات المرور القوية في منع الأشخاص غير المصرح لهم من الوصول إلى أنظمة التشغيل والملفات والبرامج والموارد الأخرى:</a:t>
            </a:r>
          </a:p>
          <a:p>
            <a:pPr>
              <a:lnSpc>
                <a:spcPct val="100000"/>
              </a:lnSpc>
              <a:buClr>
                <a:srgbClr val="00B050"/>
              </a:buClr>
              <a:buFont typeface="Wingdings" panose="05000000000000000000" pitchFamily="2" charset="2"/>
              <a:buChar char="ü"/>
            </a:pPr>
            <a:r>
              <a:rPr lang="ar-SY" sz="2600" dirty="0">
                <a:latin typeface="Calibri" panose="020F0502020204030204" pitchFamily="34" charset="0"/>
                <a:cs typeface="Calibri" panose="020F0502020204030204" pitchFamily="34" charset="0"/>
              </a:rPr>
              <a:t> أن يبلغ طولها ثمانية محارف على الأقل.</a:t>
            </a:r>
          </a:p>
          <a:p>
            <a:pPr>
              <a:lnSpc>
                <a:spcPct val="100000"/>
              </a:lnSpc>
              <a:buClr>
                <a:srgbClr val="00B050"/>
              </a:buClr>
              <a:buFont typeface="Wingdings" panose="05000000000000000000" pitchFamily="2" charset="2"/>
              <a:buChar char="ü"/>
            </a:pPr>
            <a:r>
              <a:rPr lang="ar-SY" sz="2600" dirty="0">
                <a:latin typeface="Calibri" panose="020F0502020204030204" pitchFamily="34" charset="0"/>
                <a:cs typeface="Calibri" panose="020F0502020204030204" pitchFamily="34" charset="0"/>
              </a:rPr>
              <a:t> أن تحوي أحرفاً كبيرة وأحرفاً صغيرة وأرقام ومحارفاً خاصة مثلا: (</a:t>
            </a:r>
            <a:r>
              <a:rPr lang="en-US" sz="2600" dirty="0">
                <a:latin typeface="Calibri" panose="020F0502020204030204" pitchFamily="34" charset="0"/>
                <a:cs typeface="Calibri" panose="020F0502020204030204" pitchFamily="34" charset="0"/>
              </a:rPr>
              <a:t>A-Z , a-z , 0-9, !@#$%^&amp;*{}[]......”|?).</a:t>
            </a:r>
          </a:p>
          <a:p>
            <a:pPr>
              <a:lnSpc>
                <a:spcPct val="100000"/>
              </a:lnSpc>
              <a:buClr>
                <a:srgbClr val="00B050"/>
              </a:buClr>
              <a:buFont typeface="Wingdings" panose="05000000000000000000" pitchFamily="2" charset="2"/>
              <a:buChar char="ü"/>
            </a:pPr>
            <a:r>
              <a:rPr lang="ar-SY" sz="2600" dirty="0">
                <a:latin typeface="Calibri" panose="020F0502020204030204" pitchFamily="34" charset="0"/>
                <a:cs typeface="Calibri" panose="020F0502020204030204" pitchFamily="34" charset="0"/>
              </a:rPr>
              <a:t> ألا تحوي اسم المستخدم أو الاسم الحقيقي أو اسم المؤسسة.</a:t>
            </a:r>
          </a:p>
          <a:p>
            <a:pPr>
              <a:lnSpc>
                <a:spcPct val="100000"/>
              </a:lnSpc>
              <a:buClr>
                <a:srgbClr val="00B050"/>
              </a:buClr>
              <a:buFont typeface="Wingdings" panose="05000000000000000000" pitchFamily="2" charset="2"/>
              <a:buChar char="ü"/>
            </a:pPr>
            <a:r>
              <a:rPr lang="ar-SY" sz="2600" dirty="0">
                <a:latin typeface="Calibri" panose="020F0502020204030204" pitchFamily="34" charset="0"/>
                <a:cs typeface="Calibri" panose="020F0502020204030204" pitchFamily="34" charset="0"/>
              </a:rPr>
              <a:t> ألا تحتوي على كلمة كاملة.</a:t>
            </a:r>
          </a:p>
          <a:p>
            <a:pPr>
              <a:lnSpc>
                <a:spcPct val="100000"/>
              </a:lnSpc>
              <a:buClr>
                <a:srgbClr val="00B050"/>
              </a:buClr>
              <a:buFont typeface="Wingdings" panose="05000000000000000000" pitchFamily="2" charset="2"/>
              <a:buChar char="ü"/>
            </a:pPr>
            <a:r>
              <a:rPr lang="ar-SY" sz="2600" dirty="0">
                <a:latin typeface="Calibri" panose="020F0502020204030204" pitchFamily="34" charset="0"/>
                <a:cs typeface="Calibri" panose="020F0502020204030204" pitchFamily="34" charset="0"/>
              </a:rPr>
              <a:t> ابتعد عن تاريخ عيد الميلاد، مناسبة شخصية أو أي شيء شخصي آخر.</a:t>
            </a:r>
          </a:p>
          <a:p>
            <a:pPr marL="0" indent="0">
              <a:lnSpc>
                <a:spcPct val="150000"/>
              </a:lnSpc>
              <a:buNone/>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ar-SY"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50000"/>
              </a:lnSpc>
            </a:pPr>
            <a:endParaRPr lang="en-US" sz="30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2" name="Title 1"/>
          <p:cNvSpPr>
            <a:spLocks noGrp="1"/>
          </p:cNvSpPr>
          <p:nvPr>
            <p:ph type="title"/>
          </p:nvPr>
        </p:nvSpPr>
        <p:spPr>
          <a:xfrm>
            <a:off x="2209800" y="351270"/>
            <a:ext cx="10515600" cy="1325563"/>
          </a:xfrm>
        </p:spPr>
        <p:txBody>
          <a:bodyPr>
            <a:normAutofit/>
          </a:bodyPr>
          <a:lstStyle/>
          <a:p>
            <a:pPr algn="ctr"/>
            <a:r>
              <a:rPr lang="ar-SY" sz="2800" dirty="0">
                <a:latin typeface="Calibri" panose="020F0502020204030204" pitchFamily="34" charset="0"/>
                <a:cs typeface="Calibri" panose="020F0502020204030204" pitchFamily="34" charset="0"/>
              </a:rPr>
              <a:t>أهم معايير كلمات المرور القويّة</a:t>
            </a:r>
            <a:endParaRPr lang="en-US" sz="2800" dirty="0">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fld id="{8C9306FA-6835-43D7-B230-49221F851AB5}" type="datetime1">
              <a:rPr lang="en-US" smtClean="0"/>
              <a:t>12/3/2025</a:t>
            </a:fld>
            <a:endParaRPr lang="en-US" dirty="0"/>
          </a:p>
        </p:txBody>
      </p:sp>
      <p:sp>
        <p:nvSpPr>
          <p:cNvPr id="5" name="Slide Number Placeholder 4"/>
          <p:cNvSpPr>
            <a:spLocks noGrp="1"/>
          </p:cNvSpPr>
          <p:nvPr>
            <p:ph type="sldNum" sz="quarter" idx="12"/>
          </p:nvPr>
        </p:nvSpPr>
        <p:spPr/>
        <p:txBody>
          <a:bodyPr/>
          <a:lstStyle/>
          <a:p>
            <a:fld id="{1C2A39C6-515D-4F52-9A2D-612D5FCA91E3}" type="slidenum">
              <a:rPr lang="en-US" smtClean="0"/>
              <a:t>25</a:t>
            </a:fld>
            <a:endParaRPr lang="en-US"/>
          </a:p>
        </p:txBody>
      </p:sp>
    </p:spTree>
    <p:extLst>
      <p:ext uri="{BB962C8B-B14F-4D97-AF65-F5344CB8AC3E}">
        <p14:creationId xmlns:p14="http://schemas.microsoft.com/office/powerpoint/2010/main" val="180583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sz="2800" dirty="0">
                <a:latin typeface="Calibri" panose="020F0502020204030204" pitchFamily="34" charset="0"/>
                <a:cs typeface="Calibri" panose="020F0502020204030204" pitchFamily="34" charset="0"/>
              </a:rPr>
              <a:t>الإجراءات المتبَعة</a:t>
            </a:r>
            <a:endParaRPr lang="en-US" sz="28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38200" y="1575582"/>
            <a:ext cx="11157044" cy="4623606"/>
          </a:xfrm>
        </p:spPr>
        <p:txBody>
          <a:bodyPr>
            <a:normAutofit/>
          </a:bodyPr>
          <a:lstStyle/>
          <a:p>
            <a:pPr marL="0" indent="0">
              <a:lnSpc>
                <a:spcPct val="100000"/>
              </a:lnSpc>
              <a:buNone/>
            </a:pPr>
            <a:r>
              <a:rPr lang="ar-SY" sz="2400" dirty="0">
                <a:latin typeface="Calibri" panose="020F0502020204030204" pitchFamily="34" charset="0"/>
                <a:cs typeface="Calibri" panose="020F0502020204030204" pitchFamily="34" charset="0"/>
              </a:rPr>
              <a:t>في حال الشك بوجود أي من الأخطار السابقة، على المستخدم التصرف بالسرعة الممكنة وتنفيذ ما يلي:</a:t>
            </a:r>
          </a:p>
          <a:p>
            <a:pPr>
              <a:lnSpc>
                <a:spcPct val="100000"/>
              </a:lnSpc>
            </a:pPr>
            <a:r>
              <a:rPr lang="ar-SY" sz="2400" dirty="0">
                <a:latin typeface="Calibri" panose="020F0502020204030204" pitchFamily="34" charset="0"/>
                <a:cs typeface="Calibri" panose="020F0502020204030204" pitchFamily="34" charset="0"/>
              </a:rPr>
              <a:t>قطع اتصال الحاسب عن الشبكة الداخلية وشبكة الانترنت إذا أمكن.</a:t>
            </a:r>
          </a:p>
          <a:p>
            <a:pPr>
              <a:lnSpc>
                <a:spcPct val="100000"/>
              </a:lnSpc>
            </a:pPr>
            <a:r>
              <a:rPr lang="ar-SY" sz="2400" dirty="0">
                <a:latin typeface="Calibri" panose="020F0502020204030204" pitchFamily="34" charset="0"/>
                <a:cs typeface="Calibri" panose="020F0502020204030204" pitchFamily="34" charset="0"/>
              </a:rPr>
              <a:t>إبلاغ فريق أمن المعلومات أو الدعم التقني أومن في حكمهم.</a:t>
            </a:r>
          </a:p>
          <a:p>
            <a:pPr>
              <a:lnSpc>
                <a:spcPct val="100000"/>
              </a:lnSpc>
            </a:pPr>
            <a:r>
              <a:rPr lang="ar-SY" sz="2400" dirty="0">
                <a:latin typeface="Calibri" panose="020F0502020204030204" pitchFamily="34" charset="0"/>
                <a:cs typeface="Calibri" panose="020F0502020204030204" pitchFamily="34" charset="0"/>
              </a:rPr>
              <a:t>عدم القيام بأي محاولة قد تؤدي إلى محو أي من تفاصيل الحالة.</a:t>
            </a:r>
          </a:p>
          <a:p>
            <a:pPr>
              <a:lnSpc>
                <a:spcPct val="100000"/>
              </a:lnSpc>
            </a:pPr>
            <a:r>
              <a:rPr lang="ar-SY" sz="2400" dirty="0">
                <a:latin typeface="Calibri" panose="020F0502020204030204" pitchFamily="34" charset="0"/>
                <a:cs typeface="Calibri" panose="020F0502020204030204" pitchFamily="34" charset="0"/>
              </a:rPr>
              <a:t>توثيق أية تفاصيل تتعلق بالحالة.</a:t>
            </a:r>
          </a:p>
          <a:p>
            <a:pPr>
              <a:lnSpc>
                <a:spcPct val="100000"/>
              </a:lnSpc>
            </a:pPr>
            <a:endParaRPr lang="ar-SY"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a:p>
            <a:pPr>
              <a:lnSpc>
                <a:spcPct val="100000"/>
              </a:lnSpc>
            </a:pPr>
            <a:endParaRPr lang="en-US" sz="3600" dirty="0">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endParaRPr>
          </a:p>
        </p:txBody>
      </p:sp>
      <p:sp>
        <p:nvSpPr>
          <p:cNvPr id="4" name="Date Placeholder 3"/>
          <p:cNvSpPr>
            <a:spLocks noGrp="1"/>
          </p:cNvSpPr>
          <p:nvPr>
            <p:ph type="dt" sz="half" idx="10"/>
          </p:nvPr>
        </p:nvSpPr>
        <p:spPr/>
        <p:txBody>
          <a:bodyPr/>
          <a:lstStyle/>
          <a:p>
            <a:fld id="{C45F7152-C6E7-4825-92D1-43D5603AEE0A}" type="datetime1">
              <a:rPr lang="en-US" smtClean="0"/>
              <a:t>12/3/2025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26</a:t>
            </a:fld>
            <a:endParaRPr lang="en-US"/>
          </a:p>
        </p:txBody>
      </p:sp>
    </p:spTree>
    <p:extLst>
      <p:ext uri="{BB962C8B-B14F-4D97-AF65-F5344CB8AC3E}">
        <p14:creationId xmlns:p14="http://schemas.microsoft.com/office/powerpoint/2010/main" val="357873369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sz="2800" dirty="0">
                <a:latin typeface="Calibri" panose="020F0502020204030204" pitchFamily="34" charset="0"/>
                <a:cs typeface="Calibri" panose="020F0502020204030204" pitchFamily="34" charset="0"/>
              </a:rPr>
              <a:t>أهم التوصيات</a:t>
            </a:r>
            <a:endParaRPr lang="en-US" sz="28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normAutofit/>
          </a:bodyPr>
          <a:lstStyle/>
          <a:p>
            <a:pPr>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ضرورة </a:t>
            </a:r>
            <a:r>
              <a:rPr lang="ar-SY" sz="2400" b="1" dirty="0">
                <a:latin typeface="Calibri" panose="020F0502020204030204" pitchFamily="34" charset="0"/>
                <a:cs typeface="Calibri" panose="020F0502020204030204" pitchFamily="34" charset="0"/>
              </a:rPr>
              <a:t>وجود مسؤول أمن معلومات في المؤسسة.</a:t>
            </a:r>
          </a:p>
          <a:p>
            <a:pPr>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وجود </a:t>
            </a:r>
            <a:r>
              <a:rPr lang="ar-SY" sz="2400" b="1" dirty="0">
                <a:latin typeface="Calibri" panose="020F0502020204030204" pitchFamily="34" charset="0"/>
                <a:cs typeface="Calibri" panose="020F0502020204030204" pitchFamily="34" charset="0"/>
              </a:rPr>
              <a:t>سياسات أمن المعلومات والاشراف ومراقبة حسن تنفيذها.</a:t>
            </a:r>
          </a:p>
          <a:p>
            <a:pPr>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وعي </a:t>
            </a:r>
            <a:r>
              <a:rPr lang="ar-SY" sz="2400" b="1" dirty="0">
                <a:latin typeface="Calibri" panose="020F0502020204030204" pitchFamily="34" charset="0"/>
                <a:cs typeface="Calibri" panose="020F0502020204030204" pitchFamily="34" charset="0"/>
              </a:rPr>
              <a:t>الموظفين. </a:t>
            </a:r>
          </a:p>
          <a:p>
            <a:pPr>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الالتزام </a:t>
            </a:r>
            <a:r>
              <a:rPr lang="ar-SY" sz="2400" b="1" dirty="0">
                <a:latin typeface="Calibri" panose="020F0502020204030204" pitchFamily="34" charset="0"/>
                <a:cs typeface="Calibri" panose="020F0502020204030204" pitchFamily="34" charset="0"/>
              </a:rPr>
              <a:t>بالصلاحيات المحددة لكلّ مستخدم والحرص على عدم تجاوزها.</a:t>
            </a:r>
          </a:p>
          <a:p>
            <a:pPr>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عدم </a:t>
            </a:r>
            <a:r>
              <a:rPr lang="ar-SY" sz="2400" b="1" dirty="0">
                <a:latin typeface="Calibri" panose="020F0502020204030204" pitchFamily="34" charset="0"/>
                <a:cs typeface="Calibri" panose="020F0502020204030204" pitchFamily="34" charset="0"/>
              </a:rPr>
              <a:t>إرسال التجهيزات خارج المنشأة بغرض صيانتها.</a:t>
            </a:r>
            <a:endParaRPr lang="en-US" sz="2400" b="1" dirty="0">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fld id="{4D0A37B4-2021-4677-B30A-6C0EDF3D7ABE}" type="datetime1">
              <a:rPr lang="en-US" smtClean="0"/>
              <a:t>12/3/2025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27</a:t>
            </a:fld>
            <a:endParaRPr lang="en-US"/>
          </a:p>
        </p:txBody>
      </p:sp>
    </p:spTree>
    <p:extLst>
      <p:ext uri="{BB962C8B-B14F-4D97-AF65-F5344CB8AC3E}">
        <p14:creationId xmlns:p14="http://schemas.microsoft.com/office/powerpoint/2010/main" val="19973095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8963" y="351271"/>
            <a:ext cx="10515600" cy="1325563"/>
          </a:xfrm>
        </p:spPr>
        <p:txBody>
          <a:bodyPr>
            <a:normAutofit/>
          </a:bodyPr>
          <a:lstStyle/>
          <a:p>
            <a:pPr algn="ctr"/>
            <a:r>
              <a:rPr lang="ar-SY" sz="2800" dirty="0">
                <a:latin typeface="Calibri" panose="020F0502020204030204" pitchFamily="34" charset="0"/>
                <a:cs typeface="Calibri" panose="020F0502020204030204" pitchFamily="34" charset="0"/>
              </a:rPr>
              <a:t>أهم توصيات الاستخدام الآمن للهواتف</a:t>
            </a:r>
            <a:endParaRPr lang="en-US" sz="28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38200" y="1575581"/>
            <a:ext cx="11157044" cy="4917293"/>
          </a:xfrm>
        </p:spPr>
        <p:txBody>
          <a:bodyPr>
            <a:normAutofit/>
          </a:bodyPr>
          <a:lstStyle/>
          <a:p>
            <a:pPr>
              <a:lnSpc>
                <a:spcPct val="100000"/>
              </a:lnSpc>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تحديث </a:t>
            </a:r>
            <a:r>
              <a:rPr lang="ar-SY" sz="2400" b="1" dirty="0">
                <a:latin typeface="Calibri" panose="020F0502020204030204" pitchFamily="34" charset="0"/>
                <a:cs typeface="Calibri" panose="020F0502020204030204" pitchFamily="34" charset="0"/>
              </a:rPr>
              <a:t>أنظمة التشغيل وتنصيب تطبيق لمكافحة البرمجيات الخبيثة.</a:t>
            </a:r>
          </a:p>
          <a:p>
            <a:pPr>
              <a:lnSpc>
                <a:spcPct val="100000"/>
              </a:lnSpc>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الحرص </a:t>
            </a:r>
            <a:r>
              <a:rPr lang="ar-SY" sz="2400" b="1" dirty="0">
                <a:latin typeface="Calibri" panose="020F0502020204030204" pitchFamily="34" charset="0"/>
                <a:cs typeface="Calibri" panose="020F0502020204030204" pitchFamily="34" charset="0"/>
              </a:rPr>
              <a:t>على تثبيت التطبيقات من المصادر الموثوقة فقط.</a:t>
            </a:r>
          </a:p>
          <a:p>
            <a:pPr>
              <a:lnSpc>
                <a:spcPct val="100000"/>
              </a:lnSpc>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التأكد </a:t>
            </a:r>
            <a:r>
              <a:rPr lang="ar-SY" sz="2400" b="1" dirty="0">
                <a:latin typeface="Calibri" panose="020F0502020204030204" pitchFamily="34" charset="0"/>
                <a:cs typeface="Calibri" panose="020F0502020204030204" pitchFamily="34" charset="0"/>
              </a:rPr>
              <a:t>من إيقاف تشغيل الإشارات اللاسلكية عند عدم استخدامها.</a:t>
            </a:r>
          </a:p>
          <a:p>
            <a:pPr>
              <a:lnSpc>
                <a:spcPct val="100000"/>
              </a:lnSpc>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عدم </a:t>
            </a:r>
            <a:r>
              <a:rPr lang="ar-SY" sz="2400" b="1" dirty="0">
                <a:latin typeface="Calibri" panose="020F0502020204030204" pitchFamily="34" charset="0"/>
                <a:cs typeface="Calibri" panose="020F0502020204030204" pitchFamily="34" charset="0"/>
              </a:rPr>
              <a:t>استقبال أية ملفات إلا من هواتف أو مصادر موثوقة.</a:t>
            </a:r>
          </a:p>
          <a:p>
            <a:pPr>
              <a:lnSpc>
                <a:spcPct val="100000"/>
              </a:lnSpc>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عدم </a:t>
            </a:r>
            <a:r>
              <a:rPr lang="ar-SY" sz="2400" b="1" dirty="0">
                <a:latin typeface="Calibri" panose="020F0502020204030204" pitchFamily="34" charset="0"/>
                <a:cs typeface="Calibri" panose="020F0502020204030204" pitchFamily="34" charset="0"/>
              </a:rPr>
              <a:t>الاتصال بالشبكات اللاسلكية العمومية إلا في حال الضرورة.</a:t>
            </a:r>
          </a:p>
          <a:p>
            <a:pPr>
              <a:lnSpc>
                <a:spcPct val="100000"/>
              </a:lnSpc>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اتباع </a:t>
            </a:r>
            <a:r>
              <a:rPr lang="ar-SY" sz="2400" b="1" dirty="0">
                <a:latin typeface="Calibri" panose="020F0502020204030204" pitchFamily="34" charset="0"/>
                <a:cs typeface="Calibri" panose="020F0502020204030204" pitchFamily="34" charset="0"/>
              </a:rPr>
              <a:t>التوصيات ذات الصلة لدى استخدام البريد الالكتروني.</a:t>
            </a:r>
          </a:p>
          <a:p>
            <a:pPr>
              <a:lnSpc>
                <a:spcPct val="100000"/>
              </a:lnSpc>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إجراء </a:t>
            </a:r>
            <a:r>
              <a:rPr lang="ar-SY" sz="2400" b="1" dirty="0">
                <a:latin typeface="Calibri" panose="020F0502020204030204" pitchFamily="34" charset="0"/>
                <a:cs typeface="Calibri" panose="020F0502020204030204" pitchFamily="34" charset="0"/>
              </a:rPr>
              <a:t>عمليات مسح للبحث عن البرمجيات الخبيثة.</a:t>
            </a:r>
          </a:p>
          <a:p>
            <a:pPr>
              <a:lnSpc>
                <a:spcPct val="100000"/>
              </a:lnSpc>
              <a:buClr>
                <a:srgbClr val="00B050"/>
              </a:buClr>
              <a:buFont typeface="Wingdings" panose="05000000000000000000" pitchFamily="2" charset="2"/>
              <a:buChar char="ü"/>
            </a:pPr>
            <a:r>
              <a:rPr lang="ar-SY" sz="2400" b="1" dirty="0" smtClean="0">
                <a:latin typeface="Calibri" panose="020F0502020204030204" pitchFamily="34" charset="0"/>
                <a:cs typeface="Calibri" panose="020F0502020204030204" pitchFamily="34" charset="0"/>
              </a:rPr>
              <a:t> حذف </a:t>
            </a:r>
            <a:r>
              <a:rPr lang="ar-SY" sz="2400" b="1" dirty="0">
                <a:latin typeface="Calibri" panose="020F0502020204030204" pitchFamily="34" charset="0"/>
                <a:cs typeface="Calibri" panose="020F0502020204030204" pitchFamily="34" charset="0"/>
              </a:rPr>
              <a:t>الملفات المؤقتة بشكل دوري.</a:t>
            </a:r>
          </a:p>
        </p:txBody>
      </p:sp>
      <p:sp>
        <p:nvSpPr>
          <p:cNvPr id="4" name="Date Placeholder 3"/>
          <p:cNvSpPr>
            <a:spLocks noGrp="1"/>
          </p:cNvSpPr>
          <p:nvPr>
            <p:ph type="dt" sz="half" idx="10"/>
          </p:nvPr>
        </p:nvSpPr>
        <p:spPr/>
        <p:txBody>
          <a:bodyPr/>
          <a:lstStyle/>
          <a:p>
            <a:fld id="{C45F7152-C6E7-4825-92D1-43D5603AEE0A}" type="datetime1">
              <a:rPr lang="en-US" smtClean="0"/>
              <a:t>12/3/2025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28</a:t>
            </a:fld>
            <a:endParaRPr lang="en-US"/>
          </a:p>
        </p:txBody>
      </p:sp>
    </p:spTree>
    <p:extLst>
      <p:ext uri="{BB962C8B-B14F-4D97-AF65-F5344CB8AC3E}">
        <p14:creationId xmlns:p14="http://schemas.microsoft.com/office/powerpoint/2010/main" val="321419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8000"/>
            <a:lum/>
          </a:blip>
          <a:srcRect/>
          <a:stretch>
            <a:fillRect t="-17000" b="-17000"/>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D0A37B4-2021-4677-B30A-6C0EDF3D7ABE}" type="datetime1">
              <a:rPr lang="en-US" smtClean="0"/>
              <a:t>12/3/2025</a:t>
            </a:fld>
            <a:endParaRPr lang="en-US"/>
          </a:p>
        </p:txBody>
      </p:sp>
      <p:sp>
        <p:nvSpPr>
          <p:cNvPr id="5" name="Slide Number Placeholder 4"/>
          <p:cNvSpPr>
            <a:spLocks noGrp="1"/>
          </p:cNvSpPr>
          <p:nvPr>
            <p:ph type="sldNum" sz="quarter" idx="12"/>
          </p:nvPr>
        </p:nvSpPr>
        <p:spPr/>
        <p:txBody>
          <a:bodyPr/>
          <a:lstStyle/>
          <a:p>
            <a:fld id="{1C2A39C6-515D-4F52-9A2D-612D5FCA91E3}" type="slidenum">
              <a:rPr lang="en-US" smtClean="0"/>
              <a:t>29</a:t>
            </a:fld>
            <a:endParaRPr lang="en-US"/>
          </a:p>
        </p:txBody>
      </p:sp>
    </p:spTree>
    <p:extLst>
      <p:ext uri="{BB962C8B-B14F-4D97-AF65-F5344CB8AC3E}">
        <p14:creationId xmlns:p14="http://schemas.microsoft.com/office/powerpoint/2010/main" val="42760595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28950</TotalTime>
  <Words>1900</Words>
  <Application>Microsoft Office PowerPoint</Application>
  <PresentationFormat>Widescreen</PresentationFormat>
  <Paragraphs>305</Paragraphs>
  <Slides>29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Bahij TheSansArabic Bold</vt:lpstr>
      <vt:lpstr>Calibri</vt:lpstr>
      <vt:lpstr>Monotype Koufi</vt:lpstr>
      <vt:lpstr>Simplified Arabic</vt:lpstr>
      <vt:lpstr>Times New Roman</vt:lpstr>
      <vt:lpstr>Wingdings</vt:lpstr>
      <vt:lpstr>Office Theme</vt:lpstr>
      <vt:lpstr>توعية في مجال أمن المعلومات Information Security Awareness </vt:lpstr>
      <vt:lpstr>المَحاور الرئيسية</vt:lpstr>
      <vt:lpstr>أهمية أمن المعلومات</vt:lpstr>
      <vt:lpstr>أمن المعلومات information security </vt:lpstr>
      <vt:lpstr>مصطلحات مهمّة في مجال أمن المعلومات</vt:lpstr>
      <vt:lpstr>مصطلحات مهمّة في مجال أمن المعلومات</vt:lpstr>
      <vt:lpstr>مصطلحات مهمّة في مجال أمن المعلومات</vt:lpstr>
      <vt:lpstr>مصطلحات مهمّة في مجال أمن المعلومات</vt:lpstr>
      <vt:lpstr> أهم تهديدات أمن المعلومات   </vt:lpstr>
      <vt:lpstr>الهندسة الاجتماعية Social Engineering </vt:lpstr>
      <vt:lpstr>PowerPoint Presentation</vt:lpstr>
      <vt:lpstr>ممارسات التخفيف من هجمات الهندسة الاجتماعية</vt:lpstr>
      <vt:lpstr>إدارة التصحيح Patch Management  </vt:lpstr>
      <vt:lpstr>إدارة التصحيح Patch Management  </vt:lpstr>
      <vt:lpstr>البرمجيات الخبيثة Malware </vt:lpstr>
      <vt:lpstr>أهم أنواع البرمجيات الخبيثة</vt:lpstr>
      <vt:lpstr>أهم أساليب الإصابة بالبرمجيات الخبيثة</vt:lpstr>
      <vt:lpstr>أهم أعراض الإصابة بالبرمجيات الخبيثة</vt:lpstr>
      <vt:lpstr>أهم ممارسات الحماية من البرمجيات الخبيثة</vt:lpstr>
      <vt:lpstr>الثغرات ونقاط الضعف Vulnerabilities</vt:lpstr>
      <vt:lpstr>إساءة الاستخدام</vt:lpstr>
      <vt:lpstr>أهم توصيات الاستخدام الآمن للبريد الإلكتروني  </vt:lpstr>
      <vt:lpstr>أهم توصيات الاستخدام الآمن للبريد الإلكتروني</vt:lpstr>
      <vt:lpstr>أهم توصيات الاستخدام الآمن للبريد الإلكتروني</vt:lpstr>
      <vt:lpstr>أهم معايير كلمات المرور القويّة</vt:lpstr>
      <vt:lpstr>الإجراءات المتبَعة</vt:lpstr>
      <vt:lpstr>أهم التوصيات</vt:lpstr>
      <vt:lpstr>أهم توصيات الاستخدام الآمن للهواتف</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ДҔϴ ҤҩԠӠӘң</dc:creator>
  <cp:lastModifiedBy>ASUS</cp:lastModifiedBy>
  <cp:revision>350</cp:revision>
  <dcterms:created xsi:type="dcterms:W3CDTF">2020-07-24T13:02:32Z</dcterms:created>
  <dcterms:modified xsi:type="dcterms:W3CDTF">2025-12-03T10:54:44Z</dcterms:modified>
</cp:coreProperties>
</file>